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Выручка</c:v>
                </c:pt>
              </c:strCache>
            </c:strRef>
          </c:tx>
          <c:spPr>
            <a:solidFill>
              <a:srgbClr val="2867B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СПб</c:v>
                  </c:pt>
                  <c:pt idx="1">
                    <c:v>Москва</c:v>
                  </c:pt>
                  <c:pt idx="2">
                    <c:v>Краснодар</c:v>
                  </c:pt>
                  <c:pt idx="3">
                    <c:v>Екатеринбург</c:v>
                  </c:pt>
                </c:lvl>
              </c:multiLvlStrCache>
            </c:multiLvlStrRef>
          </c:cat>
          <c:val>
            <c:numRef>
              <c:f>Sheet1!$B$2:$B$5</c:f>
              <c:numCache>
                <c:formatCode>General</c:formatCode>
                <c:ptCount val="4"/>
                <c:pt idx="0">
                  <c:v>5.21</c:v>
                </c:pt>
                <c:pt idx="1">
                  <c:v>5.08</c:v>
                </c:pt>
                <c:pt idx="2">
                  <c:v>4.35</c:v>
                </c:pt>
                <c:pt idx="3">
                  <c:v>4.11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Выручка</c:v>
                </c:pt>
              </c:strCache>
            </c:strRef>
          </c:tx>
          <c:spPr>
            <a:solidFill>
              <a:srgbClr val="2E8B57"/>
            </a:solidFill>
            <a:ln w="25400" cap="flat">
              <a:solidFill>
                <a:srgbClr val="2E8B5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E8B57"/>
              </a:solidFill>
              <a:ln w="9525" cap="flat">
                <a:solidFill>
                  <a:srgbClr val="2E8B57"/>
                </a:solidFill>
                <a:prstDash val="solid"/>
                <a:round/>
              </a:ln>
              <a:effectLst/>
            </c:spPr>
          </c:marker>
          <c:cat>
            <c:multiLvlStrRef>
              <c:f>Sheet1!$A$2:$A$7</c:f>
              <c:multiLvlStrCache>
                <c:ptCount val="6"/>
                <c:lvl>
                  <c:pt idx="0">
                    <c:v>Янв</c:v>
                  </c:pt>
                  <c:pt idx="1">
                    <c:v>Фев</c:v>
                  </c:pt>
                  <c:pt idx="2">
                    <c:v>Мар</c:v>
                  </c:pt>
                  <c:pt idx="3">
                    <c:v>Апр</c:v>
                  </c:pt>
                  <c:pt idx="4">
                    <c:v>Май</c:v>
                  </c:pt>
                  <c:pt idx="5">
                    <c:v>Июн</c:v>
                  </c:pt>
                </c:lvl>
              </c:multiLvlStrCache>
            </c:multiLvlStrRef>
          </c:cat>
          <c:val>
            <c:numRef>
              <c:f>Sheet1!$B$2:$B$7</c:f>
              <c:numCache>
                <c:formatCode>General</c:formatCode>
                <c:ptCount val="6"/>
                <c:pt idx="0">
                  <c:v>4.35</c:v>
                </c:pt>
                <c:pt idx="1">
                  <c:v>3.4</c:v>
                </c:pt>
                <c:pt idx="2">
                  <c:v>4.91</c:v>
                </c:pt>
                <c:pt idx="3">
                  <c:v>3.51</c:v>
                </c:pt>
                <c:pt idx="4">
                  <c:v>4.93</c:v>
                </c:pt>
                <c:pt idx="5">
                  <c:v>4.04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 Обработка данных в R
Сегодня мы рассматриваем R не как абстрактный язык программирования, а как рабочий инструмент аналитика данных. Наша цель — пройти законченный путь от исходного CSV-файла до проверяемого результата: очищенных данных, агрегированных таблиц, визуализаций и короткого аналитического вывода. Для начинающих важно сразу увидеть производственный смысл: код нужен не ради кода, а ради повторяемости расчётов. Если завтра появится новый CSV с такой же структурой, мы сможем снова выполнить скрипт и получить обновлённые результаты без ручного пересчёта. На вебинаре мы будем работать в RStudio Project, чтобы все пути к файлам были относительными и не зависели от конкретного компьютера. Итогом занятия станет не только набор команд, а понятная последовательность действий, которую можно использовать как шаблон для следующего анализа.
[Sources]
- R Project: https://www.r-project.org/
- RStudio Projects: https://docs.posit.co/ide/user/ide/guide/code/projects.html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2. Рабочая ситуация
Представим стандартную рабочую ситуацию. Компания выгрузила транзакции по продажам за несколько месяцев. Руководитель не просит просто открыть таблицу. Ему нужны ответы на конкретные вопросы: где компания зарабатывает больше всего, какие категории формируют основной объём, как ведёт себя выручка во времени и какой канал продаж показывает лучший результат. Для аналитика это означает, что перед началом кода нужно понять гранулярность данных: одна строка — это отдельная транзакция или позиция заказа. Затем нужно проверить качество данных, исключить дубликаты и отменённые операции, рассчитать выручку и только после этого строить выводы. На этом занятии мы будем постоянно связывать каждую команду R с одним из этих рабочих вопросов.
[Sources]
- RStudio User Guide: https://docs.posit.co/ide/user/ide/get-started/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3. Почему R
R особенно полезен там, где аналитик работает не с одной разовой таблицей, а с повторяющимся процессом. В электронной таблице можно быстро посчитать результат, но часто сложно восстановить, какие фильтры применялись, какие строки были удалены и по какой формуле рассчитан показатель. Скрипт решает эту проблему: он сохраняет последовательность действий. Если расчёт оказался неверным, мы исправляем одну строку кода и повторяем весь процесс. Это повышает воспроизводимость и снижает риск ручных ошибок. R также исторически силён в статистике и визуализации, поэтому его часто используют для исследовательского анализа, моделирования и подготовки аналитических материалов. На первом занятии нам не нужно изучать весь язык. Нам нужно освоить минимальный набор операций, который закрывает базовую обработку табличных данных.
[Sources]
- R Project: https://www.r-project.org/
- CRAN: https://cran.r-project.org/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4. R и RStudio
Важно не смешивать R и RStudio. R — это язык и вычислительная среда, которая выполняет команды. RStudio — это интегрированная среда разработки, которая делает работу удобнее: в ней есть редактор кода, консоль, список объектов, файловый браузер, графики и справка. Если установлен только R, код всё равно можно выполнять, но начинающим гораздо проще работать через RStudio. В рамках вебинара мы открываем не отдельный скрипт, а файл проекта. Это нужно, чтобы RStudio понимала корневую папку работы. Тогда путь к данным можно писать как `data/retail_sales.csv`, и этот путь будет работать у преподавателя и у слушателя после распаковки комплекта.
[Sources]
- RStudio Get Started: https://docs.posit.co/ide/user/ide/get-started/
- RStudio Projects: https://docs.posit.co/ide/user/ide/guide/code/projects.html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5. Четыре панели RStudio
В RStudio удобно показать слушателям четыре рабочие зоны. В панели Source мы пишем и сохраняем скрипт. Консоль показывает выполнение команд и сообщения об ошибках. Environment помогает увидеть, какие объекты уже созданы: таблицы, векторы, промежуточные результаты. В нижней правой зоне находятся файлы, графики, пакеты и справка. Для начинающих это снижает хаос: если нужно исправить код, идём в Source; если нужно понять ошибку, читаем Console; если нужно проверить, создана ли таблица, смотрим Environment; если нужно найти файл или график, используем Files и Plots. На практике мы не будем работать только в консоли, потому что консоль не является полноценным журналом анализа. Содержательный код должен оставаться в скрипте.
[Sources]
- RStudio Get Started: https://docs.posit.co/ide/user/ide/get-started/
- RStudio Pane Layout: https://docs.posit.co/ide/user/ide/guide/ui/ui-panes.html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6. R Project
R Project нужен для управляемой работы с файлами. Когда проект открыт правильно, RStudio связывает с ним рабочую директорию, историю, открытые документы и контекст выполнения. Это особенно важно на занятии: если слушатель запускает скрипт из произвольной папки, R не найдёт CSV. Если он открывает `.Rproj`, относительные пути начинают работать предсказуемо. Мы не будем предлагать слушателям постоянно использовать `setwd()` как основной способ решения проблем. Это может помочь временно, но ухудшает переносимость. Вместо этого мы используем структуру проекта: исходный файл в папке `data`, код в `scripts`, результаты в `outputs`. Такая организация похожа на минимальный аналитический репозиторий.
[Sources]
- RStudio Projects: https://docs.posit.co/ide/user/ide/guide/code/projects.html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7. Скрипт вместо истории команд
Начинающие часто пытаются работать только через консоль: ввели команду, получили результат, перешли к следующей. Проблема в том, что через час уже трудно восстановить точную последовательность действий. Для учебного и рабочего анализа это риск. Скрипт — это документ, который фиксирует расчёт. Его можно открыть, прочитать, запустить сверху вниз и проверить. Если результат не совпадает с контрольным значением, мы ищем ошибку в конкретной строке. Если нужно повторить анализ на новых данных, мы меняем входной файл и выполняем тот же код. Поэтому на вебинаре все команды, которые имеют аналитический смысл, будут находиться в `student_practice.R`. Консоль мы используем как место выполнения и диагностики, но не как основной носитель результата.
[Sources]
- RStudio Source Pane: https://docs.posit.co/ide/user/ide/guide/ui/ui-panes.html
- RStudio Console: https://docs.posit.co/ide/user/ide/guide/code/console.html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8. Объекты и присваивание
Базовая идея R проста: мы создаём объекты и выполняем над ними операции. Например, можно сохранить цену, количество и скидку, а затем рассчитать выручку. Символ `&lt;-` читается как «присвоить». Он помещает результат справа в объект слева. Если мы написали `revenue &lt;- price * quantity`, то объект `revenue` становится доступен в рабочей среде. Имена объектов лучше делать содержательными: `sales_clean` понятнее, чем `x`. Комментарии начинаются с символа `#`; они не выполняются, но помогают объяснить код. На занятии мы будем создавать объекты для исходной таблицы, очищенной таблицы, агрегированных результатов и графиков. Это делает анализ пошаговым и проверяемым.
[Sources]
- R Language Definition: https://cran.r-project.org/doc/manuals/r-release/R-lang.html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9. Типы данных
Один из первых источников ошибок — неверный тип данных. Если цена прочиталась как текст, сумма не посчитается корректно. Если дата осталась строкой, её сложнее использовать для динамики по месяцам. Если в столбце есть пропуски, часть функций может вернуть `NA`, если явно не указать правило обработки пропусков. Поэтому после загрузки файла нельзя сразу строить графики. Сначала нужно посмотреть типы столбцов и убедиться, что числа, даты и текстовые категории распознаны правильно. В R мы будем использовать функции просмотра структуры таблицы, а затем при необходимости явно преобразовывать дату и очищать текстовые поля. Для начинающего аналитика это важный профессиональный рефлекс: сначала структура и качество, потом расчёты и выводы.
[Sources]
- R data.frame documentation: https://search.r-project.org/R/refmans/base/html/data.frame.html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10. Векторы
Вектор — базовая структура R. Это набор значений одного типа. Например, можно создать вектор цен и сразу посчитать среднее, максимум или сумму. Для начинающих это важный момент: в R многие операции выполняются сразу над набором значений, а не только над одним числом. Если мы пишем `prices &gt; 1000`, R проверяет каждое значение и возвращает набор логических результатов. Такая логика лежит в основе фильтрации таблиц: условие применяется ко многим строкам. На занятии мы не будем глубоко уходить в теорию структур данных, но покажем принцип через короткие примеры. Затем этот принцип станет понятнее в `filter()`, `mutate()` и расчётах по столбцам.
[Sources]
- R Language Definition: https://cran.r-project.org/doc/manuals/r-release/R-lang.html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11. Табличный объект
Для аналитика ключевой объект — таблица. В классическом R это data frame, то есть набор переменных одинаковой длины, организованных как строки и столбцы. В tidyverse часто используется tibble — более удобный вариант табличного объекта. Методически важно объяснить слушателям гранулярность. В нашем кейсе одна строка соответствует транзакции продажи. Это означает, что группировка по региону собирает много строк в одну региональную строку результата. Если гранулярность перепутать, можно неверно посчитать заказы, количество или выручку. Поэтому перед расчётами мы смотрим первые строки, список столбцов, типы и размер таблицы. Таблица не является просто картинкой на экране: это структура данных, от которой зависит корректность анализа.
[Sources]
- R data.frame documentation: https://search.r-project.org/R/refmans/base/html/data.frame.html
- Tibble: https://tibble.tidyverse.org/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12. Пакеты
Базовый R уже содержит много возможностей, но для удобной обработки данных мы используем пакеты. Сначала пакет устанавливается на компьютер или в среду. Для этого применяется `install.packages()`. Затем в каждой новой сессии пакет подключается командой `library()`. Это две разные операции, и начинающие часто их путают. В нашем занятии основной набор — `tidyverse`. В него входят инструменты для чтения данных, преобразования таблиц, работы с текстом и построения графиков. Если слушатель видит ошибку вида «could not find function», первым делом проверяем, подключён ли нужный пакет. Для вебинара в комплект добавлен скрипт установки зависимостей, чтобы не заставлять слушателей вручную искать каждый пакет.
[Sources]
- Tidyverse: https://tidyverse.tidyverse.org/
- R Packages in RStudio: https://docs.posit.co/ide/user/ide/guide/environments/r/packages.html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13. Исходный CSV
Практическая часть начинается с исходного CSV. Мы используем синтетические учебные данные, чтобы не работать с персональными или коммерческими сведениями. В файле есть десять столбцов: идентификатор заказа, дата, регион, канал, категория, товар, количество, цена, скидка и статус. Важно не считать, что CSV автоматически готов к анализу. В него специально включены контролируемые проблемы: дубликаты, пропуски, лишние пробелы в текстовых категориях и отменённые заказы. Эти ошибки не должны перегрузить занятие, но они позволяют показать профессиональный порядок действий: сначала загрузить, затем проверить структуру и качество, после этого выполнить очистку и только потом рассчитывать показатели. Это безопасная учебная имитация реальной выгрузки.
[Sources]
- readr: https://readr.tidyverse.org/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14. Первичная проверка
После загрузки данных нельзя сразу отвечать на бизнес-вопрос. Нужно выполнить первичную проверку. Сначала смотрим размер таблицы: он должен совпадать с ожидаемым значением. Затем открываем первые строки и убеждаемся, что столбцы прочитались отдельно, а не одним большим текстовым полем. Далее смотрим типы данных: дата должна быть датой или преобразовываться в дату, цены и количества должны быть числовыми, текстовые категории должны выглядеть однородно. После этого считаем пропуски и дубликаты. На занятии мы будем использовать контрольные значения, чтобы слушатель мог понять, что идёт по правильному маршруту. Эта проверка формирует дисциплину качества данных и предотвращает ошибочные выводы.
[Sources]
- readr: https://readr.tidyverse.org/
- dplyr: https://dplyr.tidyverse.org/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15. Конвейер обработки
Конвейер — удобный способ записывать обработку данных. В современной версии R можно использовать оператор `|&gt;`. Он передаёт результат предыдущего выражения в следующее действие. Методически важно не представить конвейер как магию. Его нужно читать сверху вниз: берём таблицу, очищаем поля, удаляем дубликаты, фильтруем строки, создаём новую переменную и получаем результат. Если ошибка возникает внутри длинного конвейера, не нужно пытаться исправлять всё сразу. Разбиваем его на части, сохраняем промежуточный объект и проверяем, сколько строк осталось и какие столбцы появились. Такой подход особенно полезен для начинающих, потому что снижает когнитивную нагрузку и помогает связывать код с результатом.
[Sources]
- dplyr: https://dplyr.tidyverse.org/
- R Language Definition: https://cran.r-project.org/doc/manuals/r-release/R-lang.html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16. Очистка данных
Очистка данных должна быть не ручной правкой файла, а явным шагом кода. Если мы открыли CSV и исправили значения вручную, другой человек не увидит, что именно было изменено. В скрипте логика очистки сохраняется. В нашем кейсе мы удаляем полные дубликаты, нормализуем текстовые поля, исключаем отменённые заказы и оставляем только строки с положительной выручкой. После каждого крупного действия нужно проверять, сколько строк осталось. Это предотвращает две типовые ошибки: случайно удалить почти все данные или оставить в анализе строки, которые должны быть исключены. Для занятия важно проговорить, что очистка должна соответствовать бизнес-правилам, а не только техническому удобству.
[Sources]
- dplyr: https://dplyr.tidyverse.org/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17. Расчёт выручки
Выручка в нашем кейсе не хранится как готовый столбец. Мы рассчитываем её из количества, цены и скидки. Это хорошая учебная ситуация: слушатель видит, что показатель часто создаётся из исходных полей. Формула должна быть понятной и проверяемой. Если скидка хранится как доля, например 0.1, то множитель после скидки равен `1 - discount_pct`. В R такой столбец удобно создать через `mutate()`. После расчёта нельзя просто двигаться дальше. Нужно проверить, нет ли отрицательной или нулевой выручки там, где её быть не должно, и сверить итоговую сумму с контрольным значением. Так слушатель учится не только писать формулу, но и проверять её результат.
[Sources]
- dplyr mutate: https://dplyr.tidyverse.org/reference/mutate.html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18. Группировка
Группировка — один из центральных навыков аналитика. Нужно объяснить её простым образом: сначала строки разделяются на группы, затем внутри каждой группы считаются показатели, после чего результат собирается в компактную таблицу. Например, если мы группируем по региону, каждая региональная группа получает свою сумму выручки, количество единиц и число уникальных заказов. `group_by()` сам по себе ничего не считает, он только задаёт группировку. Расчёт выполняет `summarise()`. После расчёта итоговую таблицу нужно отсортировать, иначе порядок строк может быть неудобным для анализа. В нашем кейсе сортировка по убыванию выручки сразу показывает регион-лидер. Это превращает техническую команду в аналитический ответ.
[Sources]
- dplyr group_by: https://dplyr.tidyverse.org/reference/group_by.html
- dplyr summarise: https://dplyr.tidyverse.org/reference/summarise.html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19. Аналитические таблицы
Перед графиком всегда должна существовать понятная аналитическая таблица. Если таблица неверна, график только красиво покажет ошибку. В практической части мы создаём несколько таблиц: по регионам, категориям, месяцам и каналам. Каждая отвечает на отдельный вопрос. Региональная таблица показывает географический вклад, категорийная — структуру продуктовой выручки, месячная — динамику, а таблица по каналам используется как самостоятельная мини-практика. Слушателям важно показать, что аналитическая таблица — не промежуточный мусорный результат, а проверяемый слой между сырыми данными и визуализацией. Именно по таблице мы сверяем контрольные числа, сортировку, количество групп и смысл показателей.
[Sources]
- dplyr: https://dplyr.tidyverse.org/
- ggplot2: https://ggplot2.tidyverse.org/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20. Грамматика графика
`ggplot2` удобно объяснять через идею грамматики графика. Мы не просто вызываем одну функцию «построить график». Мы собираем визуализацию из компонентов. Сначала указываем данные. Затем в `aes()` говорим, какие поля отвечают за оси или другие визуальные свойства. Потом добавляем геометрический слой: столбцы, линию, точки и так далее. После этого задаём подписи, координаты и тему. Такой подход сначала может выглядеть длиннее, чем быстрый график одной командой, но он хорошо масштабируется. Аналитик может менять данные, тип слоя, подписи и оформление независимо. На занятии мы построим столбчатую диаграмму по регионам и линейный график по месяцам, чтобы показать связь между вопросом и типом визуализации.
[Sources]
- ggplot2: https://ggplot2.tidyverse.org/
- ggplot2 introduction: https://ggplot2.tidyverse.org/articles/ggplot2.html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21. График под вопрос
Выбор графика должен идти от вопроса. Если мы сравниваем регионы или категории, чаще всего подходит столбчатая диаграмма. Она показывает, кто больше или меньше. Если анализируем изменение по месяцам, логичнее использовать линию, потому что порядок времени имеет смысл. Начинающие иногда выбирают графики по принципу «красиво выглядит», но аналитическая визуализация должна отвечать на вопрос. Ещё одна типовая ошибка — отсутствие подписей. Если у графика нет понятного заголовка, осей и единиц измерения, его трудно использовать в отчёте. В нашем занятии каждый график строится после агрегированной таблицы. Это позволяет сначала проверить цифры, а затем визуально представить результат.
[Sources]
- ggplot2: https://ggplot2.tidyverse.org/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Слайд 22. Контроль качества
Финальный результат вебинара — не просто то, что код один раз сработал на экране. Хороший результат должен быть воспроизводимым. Скрипт запускается сверху вниз без ручной перестановки строк. Исходный CSV не редактируется вручную. Контрольные значения совпадают с эталоном: число исходных строк, дубликаты, строк после очистки, итоговая выручка и лидеры. В папке `outputs` появляются сохранённые таблицы и графики. Краткий вывод должен ссылаться на конкретные рассчитанные показатели и содержать ограничение анализа. Например, мы анализируем только учебную транзакционную выгрузку и не учитываем себестоимость, возвраты после периода или маркетинговые расходы. Такой финальный чек-лист переводит занятие из набора команд в профессиональный аналитический процесс.
[Sources]
- RStudio Projects: https://docs.posit.co/ide/user/ide/guide/code/projects.html
- dplyr: https://dplyr.tidyverse.org/
- ggplot2: https://ggplot2.tidyverse.org/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333333">
                <a:alpha val="0"/>
              </a:srgbClr>
            </a:solidFill>
            <a:prstDash val="solid"/>
          </a:ln>
        </p:spPr>
      </p:sp>
      <p:sp>
        <p:nvSpPr>
          <p:cNvPr id="3" name="Text 1"/>
          <p:cNvSpPr/>
          <p:nvPr/>
        </p:nvSpPr>
        <p:spPr>
          <a:xfrm>
            <a:off x="685800" y="868680"/>
            <a:ext cx="5760720" cy="502920"/>
          </a:xfrm>
          <a:prstGeom prst="rect">
            <a:avLst/>
          </a:prstGeom>
          <a:noFill/>
          <a:ln/>
        </p:spPr>
        <p:txBody>
          <a:bodyPr wrap="square" lIns="0" tIns="0" rIns="0" bIns="0" rtlCol="0" anchor="ctr">
            <a:normAutofit/>
          </a:bodyPr>
          <a:lstStyle/>
          <a:p>
            <a:pPr indent="0" marL="0">
              <a:buNone/>
            </a:pPr>
            <a:r>
              <a:rPr lang="en-US" sz="3400" b="1" dirty="0">
                <a:solidFill>
                  <a:srgbClr val="102033"/>
                </a:solidFill>
              </a:rPr>
              <a:t>Обработка данных в R</a:t>
            </a:r>
            <a:endParaRPr lang="en-US" sz="3400" dirty="0"/>
          </a:p>
        </p:txBody>
      </p:sp>
      <p:sp>
        <p:nvSpPr>
          <p:cNvPr id="4" name="Text 2"/>
          <p:cNvSpPr/>
          <p:nvPr/>
        </p:nvSpPr>
        <p:spPr>
          <a:xfrm>
            <a:off x="713232" y="1508760"/>
            <a:ext cx="5303520" cy="320040"/>
          </a:xfrm>
          <a:prstGeom prst="rect">
            <a:avLst/>
          </a:prstGeom>
          <a:noFill/>
          <a:ln/>
        </p:spPr>
        <p:txBody>
          <a:bodyPr wrap="square" lIns="0" tIns="0" rIns="0" bIns="0" rtlCol="0" anchor="ctr"/>
          <a:lstStyle/>
          <a:p>
            <a:pPr indent="0" marL="0">
              <a:buNone/>
            </a:pPr>
            <a:r>
              <a:rPr lang="en-US" sz="1500" dirty="0">
                <a:solidFill>
                  <a:srgbClr val="667085"/>
                </a:solidFill>
              </a:rPr>
              <a:t>Лекционно-практический вебинар на 240 минут</a:t>
            </a:r>
            <a:endParaRPr lang="en-US" sz="1500" dirty="0"/>
          </a:p>
        </p:txBody>
      </p:sp>
      <p:sp>
        <p:nvSpPr>
          <p:cNvPr id="5" name="Text 3"/>
          <p:cNvSpPr/>
          <p:nvPr/>
        </p:nvSpPr>
        <p:spPr>
          <a:xfrm>
            <a:off x="822960" y="2331720"/>
            <a:ext cx="4800600" cy="2011680"/>
          </a:xfrm>
          <a:prstGeom prst="rect">
            <a:avLst/>
          </a:prstGeom>
          <a:noFill/>
          <a:ln/>
        </p:spPr>
        <p:txBody>
          <a:bodyPr wrap="square" lIns="1016" tIns="1016" rIns="1016" bIns="1016" rtlCol="0" anchor="ctr">
            <a:normAutofit/>
          </a:bodyPr>
          <a:lstStyle/>
          <a:p>
            <a:r>
              <a:rPr lang="en-US" sz="1800" dirty="0">
                <a:solidFill>
                  <a:srgbClr val="1F2937"/>
                </a:solidFill>
              </a:rPr>
              <a:t>Разберём рабочий цикл аналитика на одном кейсе</a:t>
            </a:r>
            <a:endParaRPr lang="en-US" sz="1800" dirty="0"/>
          </a:p>
          <a:p>
            <a:r>
              <a:rPr lang="en-US" sz="1800" dirty="0">
                <a:solidFill>
                  <a:srgbClr val="1F2937"/>
                </a:solidFill>
              </a:rPr>
              <a:t>Научимся запускать код в RStudio Project</a:t>
            </a:r>
            <a:endParaRPr lang="en-US" sz="1800" dirty="0"/>
          </a:p>
          <a:p>
            <a:r>
              <a:rPr lang="en-US" sz="1800" dirty="0">
                <a:solidFill>
                  <a:srgbClr val="1F2937"/>
                </a:solidFill>
              </a:rPr>
              <a:t>Получим таблицы, графики и краткие выводы</a:t>
            </a:r>
            <a:endParaRPr lang="en-US" sz="1800" dirty="0"/>
          </a:p>
        </p:txBody>
      </p:sp>
      <p:sp>
        <p:nvSpPr>
          <p:cNvPr id="6" name="Shape 4"/>
          <p:cNvSpPr/>
          <p:nvPr/>
        </p:nvSpPr>
        <p:spPr>
          <a:xfrm>
            <a:off x="6355080" y="1965960"/>
            <a:ext cx="822960" cy="685800"/>
          </a:xfrm>
          <a:prstGeom prst="chevron">
            <a:avLst/>
          </a:prstGeom>
          <a:solidFill>
            <a:srgbClr val="2867B2"/>
          </a:solidFill>
          <a:ln w="10160">
            <a:solidFill>
              <a:srgbClr val="2867B2"/>
            </a:solidFill>
            <a:prstDash val="solid"/>
          </a:ln>
        </p:spPr>
      </p:sp>
      <p:sp>
        <p:nvSpPr>
          <p:cNvPr id="7" name="Text 5"/>
          <p:cNvSpPr/>
          <p:nvPr/>
        </p:nvSpPr>
        <p:spPr>
          <a:xfrm>
            <a:off x="6419088" y="2212848"/>
            <a:ext cx="594360" cy="137160"/>
          </a:xfrm>
          <a:prstGeom prst="rect">
            <a:avLst/>
          </a:prstGeom>
          <a:noFill/>
          <a:ln/>
        </p:spPr>
        <p:txBody>
          <a:bodyPr wrap="square" lIns="0" tIns="0" rIns="0" bIns="0" rtlCol="0" anchor="ctr"/>
          <a:lstStyle/>
          <a:p>
            <a:pPr algn="ctr" indent="0" marL="0">
              <a:buNone/>
            </a:pPr>
            <a:r>
              <a:rPr lang="en-US" sz="850" b="1" dirty="0">
                <a:solidFill>
                  <a:srgbClr val="FFFFFF"/>
                </a:solidFill>
              </a:rPr>
              <a:t>CSV</a:t>
            </a:r>
            <a:endParaRPr lang="en-US" sz="850" dirty="0"/>
          </a:p>
        </p:txBody>
      </p:sp>
      <p:sp>
        <p:nvSpPr>
          <p:cNvPr id="8" name="Shape 6"/>
          <p:cNvSpPr/>
          <p:nvPr/>
        </p:nvSpPr>
        <p:spPr>
          <a:xfrm>
            <a:off x="7178040" y="1965960"/>
            <a:ext cx="822960" cy="685800"/>
          </a:xfrm>
          <a:prstGeom prst="chevron">
            <a:avLst/>
          </a:prstGeom>
          <a:solidFill>
            <a:srgbClr val="E9F2FF"/>
          </a:solidFill>
          <a:ln w="10160">
            <a:solidFill>
              <a:srgbClr val="2867B2"/>
            </a:solidFill>
            <a:prstDash val="solid"/>
          </a:ln>
        </p:spPr>
      </p:sp>
      <p:sp>
        <p:nvSpPr>
          <p:cNvPr id="9" name="Text 7"/>
          <p:cNvSpPr/>
          <p:nvPr/>
        </p:nvSpPr>
        <p:spPr>
          <a:xfrm>
            <a:off x="7242048" y="2212848"/>
            <a:ext cx="594360" cy="137160"/>
          </a:xfrm>
          <a:prstGeom prst="rect">
            <a:avLst/>
          </a:prstGeom>
          <a:noFill/>
          <a:ln/>
        </p:spPr>
        <p:txBody>
          <a:bodyPr wrap="square" lIns="0" tIns="0" rIns="0" bIns="0" rtlCol="0" anchor="ctr"/>
          <a:lstStyle/>
          <a:p>
            <a:pPr algn="ctr" indent="0" marL="0">
              <a:buNone/>
            </a:pPr>
            <a:r>
              <a:rPr lang="en-US" sz="850" b="1" dirty="0">
                <a:solidFill>
                  <a:srgbClr val="2867B2"/>
                </a:solidFill>
              </a:rPr>
              <a:t>Проверка</a:t>
            </a:r>
            <a:endParaRPr lang="en-US" sz="850" dirty="0"/>
          </a:p>
        </p:txBody>
      </p:sp>
      <p:sp>
        <p:nvSpPr>
          <p:cNvPr id="10" name="Shape 8"/>
          <p:cNvSpPr/>
          <p:nvPr/>
        </p:nvSpPr>
        <p:spPr>
          <a:xfrm>
            <a:off x="8183880" y="1965960"/>
            <a:ext cx="822960" cy="685800"/>
          </a:xfrm>
          <a:prstGeom prst="chevron">
            <a:avLst/>
          </a:prstGeom>
          <a:solidFill>
            <a:srgbClr val="E9F2FF"/>
          </a:solidFill>
          <a:ln w="10160">
            <a:solidFill>
              <a:srgbClr val="2867B2"/>
            </a:solidFill>
            <a:prstDash val="solid"/>
          </a:ln>
        </p:spPr>
      </p:sp>
      <p:sp>
        <p:nvSpPr>
          <p:cNvPr id="11" name="Text 9"/>
          <p:cNvSpPr/>
          <p:nvPr/>
        </p:nvSpPr>
        <p:spPr>
          <a:xfrm>
            <a:off x="8247888" y="2212848"/>
            <a:ext cx="594360" cy="137160"/>
          </a:xfrm>
          <a:prstGeom prst="rect">
            <a:avLst/>
          </a:prstGeom>
          <a:noFill/>
          <a:ln/>
        </p:spPr>
        <p:txBody>
          <a:bodyPr wrap="square" lIns="0" tIns="0" rIns="0" bIns="0" rtlCol="0" anchor="ctr"/>
          <a:lstStyle/>
          <a:p>
            <a:pPr algn="ctr" indent="0" marL="0">
              <a:buNone/>
            </a:pPr>
            <a:r>
              <a:rPr lang="en-US" sz="850" b="1" dirty="0">
                <a:solidFill>
                  <a:srgbClr val="2867B2"/>
                </a:solidFill>
              </a:rPr>
              <a:t>Очистка</a:t>
            </a:r>
            <a:endParaRPr lang="en-US" sz="850" dirty="0"/>
          </a:p>
        </p:txBody>
      </p:sp>
      <p:sp>
        <p:nvSpPr>
          <p:cNvPr id="12" name="Shape 10"/>
          <p:cNvSpPr/>
          <p:nvPr/>
        </p:nvSpPr>
        <p:spPr>
          <a:xfrm>
            <a:off x="9144000" y="1965960"/>
            <a:ext cx="822960" cy="685800"/>
          </a:xfrm>
          <a:prstGeom prst="chevron">
            <a:avLst/>
          </a:prstGeom>
          <a:solidFill>
            <a:srgbClr val="E9F2FF"/>
          </a:solidFill>
          <a:ln w="10160">
            <a:solidFill>
              <a:srgbClr val="2867B2"/>
            </a:solidFill>
            <a:prstDash val="solid"/>
          </a:ln>
        </p:spPr>
      </p:sp>
      <p:sp>
        <p:nvSpPr>
          <p:cNvPr id="13" name="Text 11"/>
          <p:cNvSpPr/>
          <p:nvPr/>
        </p:nvSpPr>
        <p:spPr>
          <a:xfrm>
            <a:off x="9208008" y="2212848"/>
            <a:ext cx="594360" cy="137160"/>
          </a:xfrm>
          <a:prstGeom prst="rect">
            <a:avLst/>
          </a:prstGeom>
          <a:noFill/>
          <a:ln/>
        </p:spPr>
        <p:txBody>
          <a:bodyPr wrap="square" lIns="0" tIns="0" rIns="0" bIns="0" rtlCol="0" anchor="ctr"/>
          <a:lstStyle/>
          <a:p>
            <a:pPr algn="ctr" indent="0" marL="0">
              <a:buNone/>
            </a:pPr>
            <a:r>
              <a:rPr lang="en-US" sz="850" b="1" dirty="0">
                <a:solidFill>
                  <a:srgbClr val="2867B2"/>
                </a:solidFill>
              </a:rPr>
              <a:t>Расчёты</a:t>
            </a:r>
            <a:endParaRPr lang="en-US" sz="850" dirty="0"/>
          </a:p>
        </p:txBody>
      </p:sp>
      <p:sp>
        <p:nvSpPr>
          <p:cNvPr id="14" name="Shape 12"/>
          <p:cNvSpPr/>
          <p:nvPr/>
        </p:nvSpPr>
        <p:spPr>
          <a:xfrm>
            <a:off x="10104120" y="1965960"/>
            <a:ext cx="822960" cy="685800"/>
          </a:xfrm>
          <a:prstGeom prst="chevron">
            <a:avLst/>
          </a:prstGeom>
          <a:solidFill>
            <a:srgbClr val="E9F2FF"/>
          </a:solidFill>
          <a:ln w="10160">
            <a:solidFill>
              <a:srgbClr val="2867B2"/>
            </a:solidFill>
            <a:prstDash val="solid"/>
          </a:ln>
        </p:spPr>
      </p:sp>
      <p:sp>
        <p:nvSpPr>
          <p:cNvPr id="15" name="Text 13"/>
          <p:cNvSpPr/>
          <p:nvPr/>
        </p:nvSpPr>
        <p:spPr>
          <a:xfrm>
            <a:off x="10168128" y="2212848"/>
            <a:ext cx="594360" cy="137160"/>
          </a:xfrm>
          <a:prstGeom prst="rect">
            <a:avLst/>
          </a:prstGeom>
          <a:noFill/>
          <a:ln/>
        </p:spPr>
        <p:txBody>
          <a:bodyPr wrap="square" lIns="0" tIns="0" rIns="0" bIns="0" rtlCol="0" anchor="ctr"/>
          <a:lstStyle/>
          <a:p>
            <a:pPr algn="ctr" indent="0" marL="0">
              <a:buNone/>
            </a:pPr>
            <a:r>
              <a:rPr lang="en-US" sz="850" b="1" dirty="0">
                <a:solidFill>
                  <a:srgbClr val="2867B2"/>
                </a:solidFill>
              </a:rPr>
              <a:t>Графики</a:t>
            </a:r>
            <a:endParaRPr lang="en-US" sz="850" dirty="0"/>
          </a:p>
        </p:txBody>
      </p:sp>
      <p:sp>
        <p:nvSpPr>
          <p:cNvPr id="16" name="Shape 14"/>
          <p:cNvSpPr/>
          <p:nvPr/>
        </p:nvSpPr>
        <p:spPr>
          <a:xfrm>
            <a:off x="11018520" y="1965960"/>
            <a:ext cx="822960" cy="685800"/>
          </a:xfrm>
          <a:prstGeom prst="chevron">
            <a:avLst/>
          </a:prstGeom>
          <a:solidFill>
            <a:srgbClr val="2E8B57"/>
          </a:solidFill>
          <a:ln w="10160">
            <a:solidFill>
              <a:srgbClr val="2867B2"/>
            </a:solidFill>
            <a:prstDash val="solid"/>
          </a:ln>
        </p:spPr>
      </p:sp>
      <p:sp>
        <p:nvSpPr>
          <p:cNvPr id="17" name="Text 15"/>
          <p:cNvSpPr/>
          <p:nvPr/>
        </p:nvSpPr>
        <p:spPr>
          <a:xfrm>
            <a:off x="11082528" y="2212848"/>
            <a:ext cx="594360" cy="137160"/>
          </a:xfrm>
          <a:prstGeom prst="rect">
            <a:avLst/>
          </a:prstGeom>
          <a:noFill/>
          <a:ln/>
        </p:spPr>
        <p:txBody>
          <a:bodyPr wrap="square" lIns="0" tIns="0" rIns="0" bIns="0" rtlCol="0" anchor="ctr"/>
          <a:lstStyle/>
          <a:p>
            <a:pPr algn="ctr" indent="0" marL="0">
              <a:buNone/>
            </a:pPr>
            <a:r>
              <a:rPr lang="en-US" sz="850" b="1" dirty="0">
                <a:solidFill>
                  <a:srgbClr val="FFFFFF"/>
                </a:solidFill>
              </a:rPr>
              <a:t>Вывод</a:t>
            </a:r>
            <a:endParaRPr lang="en-US" sz="850" dirty="0"/>
          </a:p>
        </p:txBody>
      </p:sp>
      <p:sp>
        <p:nvSpPr>
          <p:cNvPr id="18" name="Shape 16"/>
          <p:cNvSpPr/>
          <p:nvPr/>
        </p:nvSpPr>
        <p:spPr>
          <a:xfrm>
            <a:off x="6446520" y="3063240"/>
            <a:ext cx="4937760" cy="1417320"/>
          </a:xfrm>
          <a:prstGeom prst="roundRect">
            <a:avLst>
              <a:gd name="adj" fmla="val 4516"/>
            </a:avLst>
          </a:prstGeom>
          <a:solidFill>
            <a:srgbClr val="F8FAFC"/>
          </a:solidFill>
          <a:ln w="12700">
            <a:solidFill>
              <a:srgbClr val="D8DEE9"/>
            </a:solidFill>
            <a:prstDash val="solid"/>
          </a:ln>
          <a:effectLst>
            <a:outerShdw sx="100000" sy="100000" kx="0" ky="0" algn="bl" rotWithShape="0" blurRad="15240" dist="10160" dir="2700000">
              <a:srgbClr val="000000">
                <a:alpha val="8000"/>
              </a:srgbClr>
            </a:outerShdw>
          </a:effectLst>
        </p:spPr>
      </p:sp>
      <p:sp>
        <p:nvSpPr>
          <p:cNvPr id="19" name="Text 17"/>
          <p:cNvSpPr/>
          <p:nvPr/>
        </p:nvSpPr>
        <p:spPr>
          <a:xfrm>
            <a:off x="6656832" y="3273552"/>
            <a:ext cx="4206240" cy="219456"/>
          </a:xfrm>
          <a:prstGeom prst="rect">
            <a:avLst/>
          </a:prstGeom>
          <a:noFill/>
          <a:ln/>
        </p:spPr>
        <p:txBody>
          <a:bodyPr wrap="square" lIns="0" tIns="0" rIns="0" bIns="0" rtlCol="0" anchor="ctr"/>
          <a:lstStyle/>
          <a:p>
            <a:pPr indent="0" marL="0">
              <a:buNone/>
            </a:pPr>
            <a:r>
              <a:rPr lang="en-US" sz="1600" b="1" dirty="0">
                <a:solidFill>
                  <a:srgbClr val="102033"/>
                </a:solidFill>
              </a:rPr>
              <a:t>Итог вебинара</a:t>
            </a:r>
            <a:endParaRPr lang="en-US" sz="1600" dirty="0"/>
          </a:p>
        </p:txBody>
      </p:sp>
      <p:sp>
        <p:nvSpPr>
          <p:cNvPr id="20" name="Text 18"/>
          <p:cNvSpPr/>
          <p:nvPr/>
        </p:nvSpPr>
        <p:spPr>
          <a:xfrm>
            <a:off x="6656832" y="3657600"/>
            <a:ext cx="4251960" cy="457200"/>
          </a:xfrm>
          <a:prstGeom prst="rect">
            <a:avLst/>
          </a:prstGeom>
          <a:noFill/>
          <a:ln/>
        </p:spPr>
        <p:txBody>
          <a:bodyPr wrap="square" lIns="254" tIns="254" rIns="254" bIns="254" rtlCol="0" anchor="ctr">
            <a:normAutofit/>
          </a:bodyPr>
          <a:lstStyle/>
          <a:p>
            <a:pPr indent="0" marL="0">
              <a:buNone/>
            </a:pPr>
            <a:r>
              <a:rPr lang="en-US" sz="1400" dirty="0">
                <a:solidFill>
                  <a:srgbClr val="1F2937"/>
                </a:solidFill>
              </a:rPr>
              <a:t>R-скрипт, агрегированные таблицы, 3 графика и вывод по данным продаж.</a:t>
            </a:r>
            <a:endParaRPr lang="en-US" sz="1400" dirty="0"/>
          </a:p>
        </p:txBody>
      </p:sp>
      <p:sp>
        <p:nvSpPr>
          <p:cNvPr id="21" name="Shape 19"/>
          <p:cNvSpPr/>
          <p:nvPr/>
        </p:nvSpPr>
        <p:spPr>
          <a:xfrm>
            <a:off x="502920" y="6446520"/>
            <a:ext cx="11201400" cy="0"/>
          </a:xfrm>
          <a:prstGeom prst="line">
            <a:avLst/>
          </a:prstGeom>
          <a:noFill/>
          <a:ln w="6350">
            <a:solidFill>
              <a:srgbClr val="D8DEE9"/>
            </a:solidFill>
            <a:prstDash val="solid"/>
          </a:ln>
        </p:spPr>
      </p:sp>
      <p:sp>
        <p:nvSpPr>
          <p:cNvPr id="22" name="Text 20"/>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23" name="Text 21"/>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Рабочая ситуация</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Руководителю нужны показатели продаж</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02</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Какие регионы дают максимум выручки?</a:t>
            </a:r>
            <a:endParaRPr lang="en-US" sz="1700" dirty="0"/>
          </a:p>
          <a:p>
            <a:r>
              <a:rPr lang="en-US" sz="1700" dirty="0">
                <a:solidFill>
                  <a:srgbClr val="1F2937"/>
                </a:solidFill>
              </a:rPr>
              <a:t>Какие категории товаров лидируют?</a:t>
            </a:r>
            <a:endParaRPr lang="en-US" sz="1700" dirty="0"/>
          </a:p>
          <a:p>
            <a:r>
              <a:rPr lang="en-US" sz="1700" dirty="0">
                <a:solidFill>
                  <a:srgbClr val="1F2937"/>
                </a:solidFill>
              </a:rPr>
              <a:t>Как менялась выручка по месяцам?</a:t>
            </a:r>
            <a:endParaRPr lang="en-US" sz="1700" dirty="0"/>
          </a:p>
          <a:p>
            <a:r>
              <a:rPr lang="en-US" sz="1700" dirty="0">
                <a:solidFill>
                  <a:srgbClr val="1F2937"/>
                </a:solidFill>
              </a:rPr>
              <a:t>Какой канал продаж сильнее?</a:t>
            </a:r>
            <a:endParaRPr lang="en-US" sz="1700" dirty="0"/>
          </a:p>
        </p:txBody>
      </p:sp>
      <p:sp>
        <p:nvSpPr>
          <p:cNvPr id="8" name="Shape 6"/>
          <p:cNvSpPr/>
          <p:nvPr/>
        </p:nvSpPr>
        <p:spPr>
          <a:xfrm>
            <a:off x="6400800" y="1325880"/>
            <a:ext cx="4937760" cy="4297680"/>
          </a:xfrm>
          <a:prstGeom prst="roundRect">
            <a:avLst>
              <a:gd name="adj" fmla="val 1489"/>
            </a:avLst>
          </a:prstGeom>
          <a:solidFill>
            <a:srgbClr val="FFF8EC"/>
          </a:solidFill>
          <a:ln w="12700">
            <a:solidFill>
              <a:srgbClr val="F4C68E"/>
            </a:solidFill>
            <a:prstDash val="solid"/>
          </a:ln>
          <a:effectLst>
            <a:outerShdw sx="100000" sy="100000" kx="0" ky="0" algn="bl" rotWithShape="0" blurRad="15240" dist="10160" dir="2700000">
              <a:srgbClr val="000000">
                <a:alpha val="8000"/>
              </a:srgbClr>
            </a:outerShdw>
          </a:effectLst>
        </p:spPr>
      </p:sp>
      <p:sp>
        <p:nvSpPr>
          <p:cNvPr id="9" name="Text 7"/>
          <p:cNvSpPr/>
          <p:nvPr/>
        </p:nvSpPr>
        <p:spPr>
          <a:xfrm>
            <a:off x="6720840" y="1645920"/>
            <a:ext cx="4206240" cy="274320"/>
          </a:xfrm>
          <a:prstGeom prst="rect">
            <a:avLst/>
          </a:prstGeom>
          <a:noFill/>
          <a:ln/>
        </p:spPr>
        <p:txBody>
          <a:bodyPr wrap="square" rtlCol="0" anchor="ctr"/>
          <a:lstStyle/>
          <a:p>
            <a:pPr algn="ctr" indent="0" marL="0">
              <a:buNone/>
            </a:pPr>
            <a:r>
              <a:rPr lang="en-US" sz="2000" b="1" dirty="0">
                <a:solidFill>
                  <a:srgbClr val="102033"/>
                </a:solidFill>
              </a:rPr>
              <a:t>Бизнес-вопросы</a:t>
            </a:r>
            <a:endParaRPr lang="en-US" sz="2000" dirty="0"/>
          </a:p>
        </p:txBody>
      </p:sp>
      <p:sp>
        <p:nvSpPr>
          <p:cNvPr id="10" name="Shape 8"/>
          <p:cNvSpPr/>
          <p:nvPr/>
        </p:nvSpPr>
        <p:spPr>
          <a:xfrm>
            <a:off x="6812280" y="2194560"/>
            <a:ext cx="4069080" cy="411480"/>
          </a:xfrm>
          <a:prstGeom prst="roundRect">
            <a:avLst>
              <a:gd name="adj" fmla="val 11111"/>
            </a:avLst>
          </a:prstGeom>
          <a:solidFill>
            <a:srgbClr val="FFFFFF"/>
          </a:solidFill>
          <a:ln w="10160">
            <a:solidFill>
              <a:srgbClr val="F4C68E"/>
            </a:solidFill>
            <a:prstDash val="solid"/>
          </a:ln>
        </p:spPr>
      </p:sp>
      <p:sp>
        <p:nvSpPr>
          <p:cNvPr id="11" name="Text 9"/>
          <p:cNvSpPr/>
          <p:nvPr/>
        </p:nvSpPr>
        <p:spPr>
          <a:xfrm>
            <a:off x="7040880" y="2313432"/>
            <a:ext cx="3657600" cy="137160"/>
          </a:xfrm>
          <a:prstGeom prst="rect">
            <a:avLst/>
          </a:prstGeom>
          <a:noFill/>
          <a:ln/>
        </p:spPr>
        <p:txBody>
          <a:bodyPr wrap="square" lIns="0" tIns="0" rIns="0" bIns="0" rtlCol="0" anchor="ctr"/>
          <a:lstStyle/>
          <a:p>
            <a:pPr indent="0" marL="0">
              <a:buNone/>
            </a:pPr>
            <a:r>
              <a:rPr lang="en-US" sz="1350" b="1" dirty="0">
                <a:solidFill>
                  <a:srgbClr val="1F2937"/>
                </a:solidFill>
              </a:rPr>
              <a:t>Регион-лидер</a:t>
            </a:r>
            <a:endParaRPr lang="en-US" sz="1350" dirty="0"/>
          </a:p>
        </p:txBody>
      </p:sp>
      <p:sp>
        <p:nvSpPr>
          <p:cNvPr id="12" name="Shape 10"/>
          <p:cNvSpPr/>
          <p:nvPr/>
        </p:nvSpPr>
        <p:spPr>
          <a:xfrm>
            <a:off x="6812280" y="2880360"/>
            <a:ext cx="4069080" cy="411480"/>
          </a:xfrm>
          <a:prstGeom prst="roundRect">
            <a:avLst>
              <a:gd name="adj" fmla="val 11111"/>
            </a:avLst>
          </a:prstGeom>
          <a:solidFill>
            <a:srgbClr val="FFFFFF"/>
          </a:solidFill>
          <a:ln w="10160">
            <a:solidFill>
              <a:srgbClr val="F4C68E"/>
            </a:solidFill>
            <a:prstDash val="solid"/>
          </a:ln>
        </p:spPr>
      </p:sp>
      <p:sp>
        <p:nvSpPr>
          <p:cNvPr id="13" name="Text 11"/>
          <p:cNvSpPr/>
          <p:nvPr/>
        </p:nvSpPr>
        <p:spPr>
          <a:xfrm>
            <a:off x="7040880" y="2999232"/>
            <a:ext cx="3657600" cy="137160"/>
          </a:xfrm>
          <a:prstGeom prst="rect">
            <a:avLst/>
          </a:prstGeom>
          <a:noFill/>
          <a:ln/>
        </p:spPr>
        <p:txBody>
          <a:bodyPr wrap="square" lIns="0" tIns="0" rIns="0" bIns="0" rtlCol="0" anchor="ctr"/>
          <a:lstStyle/>
          <a:p>
            <a:pPr indent="0" marL="0">
              <a:buNone/>
            </a:pPr>
            <a:r>
              <a:rPr lang="en-US" sz="1350" dirty="0">
                <a:solidFill>
                  <a:srgbClr val="1F2937"/>
                </a:solidFill>
              </a:rPr>
              <a:t>Категория-лидер</a:t>
            </a:r>
            <a:endParaRPr lang="en-US" sz="1350" dirty="0"/>
          </a:p>
        </p:txBody>
      </p:sp>
      <p:sp>
        <p:nvSpPr>
          <p:cNvPr id="14" name="Shape 12"/>
          <p:cNvSpPr/>
          <p:nvPr/>
        </p:nvSpPr>
        <p:spPr>
          <a:xfrm>
            <a:off x="6812280" y="3566160"/>
            <a:ext cx="4069080" cy="411480"/>
          </a:xfrm>
          <a:prstGeom prst="roundRect">
            <a:avLst>
              <a:gd name="adj" fmla="val 11111"/>
            </a:avLst>
          </a:prstGeom>
          <a:solidFill>
            <a:srgbClr val="FFFFFF"/>
          </a:solidFill>
          <a:ln w="10160">
            <a:solidFill>
              <a:srgbClr val="F4C68E"/>
            </a:solidFill>
            <a:prstDash val="solid"/>
          </a:ln>
        </p:spPr>
      </p:sp>
      <p:sp>
        <p:nvSpPr>
          <p:cNvPr id="15" name="Text 13"/>
          <p:cNvSpPr/>
          <p:nvPr/>
        </p:nvSpPr>
        <p:spPr>
          <a:xfrm>
            <a:off x="7040880" y="3685032"/>
            <a:ext cx="3657600" cy="137160"/>
          </a:xfrm>
          <a:prstGeom prst="rect">
            <a:avLst/>
          </a:prstGeom>
          <a:noFill/>
          <a:ln/>
        </p:spPr>
        <p:txBody>
          <a:bodyPr wrap="square" lIns="0" tIns="0" rIns="0" bIns="0" rtlCol="0" anchor="ctr"/>
          <a:lstStyle/>
          <a:p>
            <a:pPr indent="0" marL="0">
              <a:buNone/>
            </a:pPr>
            <a:r>
              <a:rPr lang="en-US" sz="1350" dirty="0">
                <a:solidFill>
                  <a:srgbClr val="1F2937"/>
                </a:solidFill>
              </a:rPr>
              <a:t>Динамика по месяцам</a:t>
            </a:r>
            <a:endParaRPr lang="en-US" sz="1350" dirty="0"/>
          </a:p>
        </p:txBody>
      </p:sp>
      <p:sp>
        <p:nvSpPr>
          <p:cNvPr id="16" name="Shape 14"/>
          <p:cNvSpPr/>
          <p:nvPr/>
        </p:nvSpPr>
        <p:spPr>
          <a:xfrm>
            <a:off x="6812280" y="4251960"/>
            <a:ext cx="4069080" cy="411480"/>
          </a:xfrm>
          <a:prstGeom prst="roundRect">
            <a:avLst>
              <a:gd name="adj" fmla="val 11111"/>
            </a:avLst>
          </a:prstGeom>
          <a:solidFill>
            <a:srgbClr val="FFFFFF"/>
          </a:solidFill>
          <a:ln w="10160">
            <a:solidFill>
              <a:srgbClr val="F4C68E"/>
            </a:solidFill>
            <a:prstDash val="solid"/>
          </a:ln>
        </p:spPr>
      </p:sp>
      <p:sp>
        <p:nvSpPr>
          <p:cNvPr id="17" name="Text 15"/>
          <p:cNvSpPr/>
          <p:nvPr/>
        </p:nvSpPr>
        <p:spPr>
          <a:xfrm>
            <a:off x="7040880" y="4370832"/>
            <a:ext cx="3657600" cy="137160"/>
          </a:xfrm>
          <a:prstGeom prst="rect">
            <a:avLst/>
          </a:prstGeom>
          <a:noFill/>
          <a:ln/>
        </p:spPr>
        <p:txBody>
          <a:bodyPr wrap="square" lIns="0" tIns="0" rIns="0" bIns="0" rtlCol="0" anchor="ctr"/>
          <a:lstStyle/>
          <a:p>
            <a:pPr indent="0" marL="0">
              <a:buNone/>
            </a:pPr>
            <a:r>
              <a:rPr lang="en-US" sz="1350" dirty="0">
                <a:solidFill>
                  <a:srgbClr val="1F2937"/>
                </a:solidFill>
              </a:rPr>
              <a:t>Канал продаж</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Почему R</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Скрипт делает анализ повторяемым</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03</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Расчёты можно выполнить снова</a:t>
            </a:r>
            <a:endParaRPr lang="en-US" sz="1700" dirty="0"/>
          </a:p>
          <a:p>
            <a:r>
              <a:rPr lang="en-US" sz="1700" dirty="0">
                <a:solidFill>
                  <a:srgbClr val="1F2937"/>
                </a:solidFill>
              </a:rPr>
              <a:t>Код показывает логику обработки</a:t>
            </a:r>
            <a:endParaRPr lang="en-US" sz="1700" dirty="0"/>
          </a:p>
          <a:p>
            <a:r>
              <a:rPr lang="en-US" sz="1700" dirty="0">
                <a:solidFill>
                  <a:srgbClr val="1F2937"/>
                </a:solidFill>
              </a:rPr>
              <a:t>Графики и таблицы строятся из тех же данных</a:t>
            </a:r>
            <a:endParaRPr lang="en-US" sz="1700" dirty="0"/>
          </a:p>
          <a:p>
            <a:r>
              <a:rPr lang="en-US" sz="1700" dirty="0">
                <a:solidFill>
                  <a:srgbClr val="1F2937"/>
                </a:solidFill>
              </a:rPr>
              <a:t>Ошибки легче найти и исправить</a:t>
            </a:r>
            <a:endParaRPr lang="en-US" sz="1700" dirty="0"/>
          </a:p>
        </p:txBody>
      </p:sp>
      <p:sp>
        <p:nvSpPr>
          <p:cNvPr id="8" name="Shape 6"/>
          <p:cNvSpPr/>
          <p:nvPr/>
        </p:nvSpPr>
        <p:spPr>
          <a:xfrm>
            <a:off x="6400800" y="1325880"/>
            <a:ext cx="2240280" cy="4023360"/>
          </a:xfrm>
          <a:prstGeom prst="roundRect">
            <a:avLst>
              <a:gd name="adj" fmla="val 2857"/>
            </a:avLst>
          </a:prstGeom>
          <a:solidFill>
            <a:srgbClr val="FFFFFF"/>
          </a:solidFill>
          <a:ln w="12700">
            <a:solidFill>
              <a:srgbClr val="E8902E"/>
            </a:solidFill>
            <a:prstDash val="solid"/>
          </a:ln>
          <a:effectLst>
            <a:outerShdw sx="100000" sy="100000" kx="0" ky="0" algn="bl" rotWithShape="0" blurRad="15240" dist="10160" dir="2700000">
              <a:srgbClr val="000000">
                <a:alpha val="8000"/>
              </a:srgbClr>
            </a:outerShdw>
          </a:effectLst>
        </p:spPr>
      </p:sp>
      <p:sp>
        <p:nvSpPr>
          <p:cNvPr id="9" name="Shape 7"/>
          <p:cNvSpPr/>
          <p:nvPr/>
        </p:nvSpPr>
        <p:spPr>
          <a:xfrm>
            <a:off x="6629400" y="1600200"/>
            <a:ext cx="1783080" cy="292608"/>
          </a:xfrm>
          <a:prstGeom prst="roundRect">
            <a:avLst>
              <a:gd name="adj" fmla="val 25000"/>
            </a:avLst>
          </a:prstGeom>
          <a:solidFill>
            <a:srgbClr val="E8902E">
              <a:alpha val="95000"/>
            </a:srgbClr>
          </a:solidFill>
          <a:ln w="12700">
            <a:solidFill>
              <a:srgbClr val="E8902E">
                <a:alpha val="0"/>
              </a:srgbClr>
            </a:solidFill>
            <a:prstDash val="solid"/>
          </a:ln>
        </p:spPr>
      </p:sp>
      <p:sp>
        <p:nvSpPr>
          <p:cNvPr id="10" name="Text 8"/>
          <p:cNvSpPr/>
          <p:nvPr/>
        </p:nvSpPr>
        <p:spPr>
          <a:xfrm>
            <a:off x="6720840" y="1664208"/>
            <a:ext cx="1600200" cy="146304"/>
          </a:xfrm>
          <a:prstGeom prst="rect">
            <a:avLst/>
          </a:prstGeom>
          <a:noFill/>
          <a:ln/>
        </p:spPr>
        <p:txBody>
          <a:bodyPr wrap="square" lIns="0" tIns="0" rIns="0" bIns="0" rtlCol="0" anchor="ctr"/>
          <a:lstStyle/>
          <a:p>
            <a:pPr algn="ctr" indent="0" marL="0">
              <a:buNone/>
            </a:pPr>
            <a:r>
              <a:rPr lang="en-US" sz="850" b="1" dirty="0">
                <a:solidFill>
                  <a:srgbClr val="FFFFFF"/>
                </a:solidFill>
              </a:rPr>
              <a:t>Таблица вручную</a:t>
            </a:r>
            <a:endParaRPr lang="en-US" sz="850" dirty="0"/>
          </a:p>
        </p:txBody>
      </p:sp>
      <p:sp>
        <p:nvSpPr>
          <p:cNvPr id="11" name="Text 9"/>
          <p:cNvSpPr/>
          <p:nvPr/>
        </p:nvSpPr>
        <p:spPr>
          <a:xfrm>
            <a:off x="6720840" y="2148840"/>
            <a:ext cx="1645920" cy="274320"/>
          </a:xfrm>
          <a:prstGeom prst="rect">
            <a:avLst/>
          </a:prstGeom>
          <a:noFill/>
          <a:ln/>
        </p:spPr>
        <p:txBody>
          <a:bodyPr wrap="square" rtlCol="0" anchor="ctr">
            <a:normAutofit/>
          </a:bodyPr>
          <a:lstStyle/>
          <a:p>
            <a:pPr algn="ctr" indent="0" marL="0">
              <a:buNone/>
            </a:pPr>
            <a:r>
              <a:rPr lang="en-US" sz="1250" dirty="0">
                <a:solidFill>
                  <a:srgbClr val="1F2937"/>
                </a:solidFill>
              </a:rPr>
              <a:t>быстро на старте</a:t>
            </a:r>
            <a:endParaRPr lang="en-US" sz="1250" dirty="0"/>
          </a:p>
        </p:txBody>
      </p:sp>
      <p:sp>
        <p:nvSpPr>
          <p:cNvPr id="12" name="Text 10"/>
          <p:cNvSpPr/>
          <p:nvPr/>
        </p:nvSpPr>
        <p:spPr>
          <a:xfrm>
            <a:off x="6720840" y="2807208"/>
            <a:ext cx="1645920" cy="274320"/>
          </a:xfrm>
          <a:prstGeom prst="rect">
            <a:avLst/>
          </a:prstGeom>
          <a:noFill/>
          <a:ln/>
        </p:spPr>
        <p:txBody>
          <a:bodyPr wrap="square" rtlCol="0" anchor="ctr">
            <a:normAutofit/>
          </a:bodyPr>
          <a:lstStyle/>
          <a:p>
            <a:pPr algn="ctr" indent="0" marL="0">
              <a:buNone/>
            </a:pPr>
            <a:r>
              <a:rPr lang="en-US" sz="1250" dirty="0">
                <a:solidFill>
                  <a:srgbClr val="1F2937"/>
                </a:solidFill>
              </a:rPr>
              <a:t>трудно повторить</a:t>
            </a:r>
            <a:endParaRPr lang="en-US" sz="1250" dirty="0"/>
          </a:p>
        </p:txBody>
      </p:sp>
      <p:sp>
        <p:nvSpPr>
          <p:cNvPr id="13" name="Text 11"/>
          <p:cNvSpPr/>
          <p:nvPr/>
        </p:nvSpPr>
        <p:spPr>
          <a:xfrm>
            <a:off x="6720840" y="3465576"/>
            <a:ext cx="1645920" cy="274320"/>
          </a:xfrm>
          <a:prstGeom prst="rect">
            <a:avLst/>
          </a:prstGeom>
          <a:noFill/>
          <a:ln/>
        </p:spPr>
        <p:txBody>
          <a:bodyPr wrap="square" rtlCol="0" anchor="ctr">
            <a:normAutofit/>
          </a:bodyPr>
          <a:lstStyle/>
          <a:p>
            <a:pPr algn="ctr" indent="0" marL="0">
              <a:buNone/>
            </a:pPr>
            <a:r>
              <a:rPr lang="en-US" sz="1250" dirty="0">
                <a:solidFill>
                  <a:srgbClr val="1F2937"/>
                </a:solidFill>
              </a:rPr>
              <a:t>сложно проверить шаги</a:t>
            </a:r>
            <a:endParaRPr lang="en-US" sz="1250" dirty="0"/>
          </a:p>
        </p:txBody>
      </p:sp>
      <p:sp>
        <p:nvSpPr>
          <p:cNvPr id="14" name="Shape 12"/>
          <p:cNvSpPr/>
          <p:nvPr/>
        </p:nvSpPr>
        <p:spPr>
          <a:xfrm>
            <a:off x="8915400" y="1325880"/>
            <a:ext cx="2240280" cy="4023360"/>
          </a:xfrm>
          <a:prstGeom prst="roundRect">
            <a:avLst>
              <a:gd name="adj" fmla="val 2857"/>
            </a:avLst>
          </a:prstGeom>
          <a:solidFill>
            <a:srgbClr val="FFFFFF"/>
          </a:solidFill>
          <a:ln w="12700">
            <a:solidFill>
              <a:srgbClr val="2E8B57"/>
            </a:solidFill>
            <a:prstDash val="solid"/>
          </a:ln>
          <a:effectLst>
            <a:outerShdw sx="100000" sy="100000" kx="0" ky="0" algn="bl" rotWithShape="0" blurRad="15240" dist="10160" dir="2700000">
              <a:srgbClr val="000000">
                <a:alpha val="8000"/>
              </a:srgbClr>
            </a:outerShdw>
          </a:effectLst>
        </p:spPr>
      </p:sp>
      <p:sp>
        <p:nvSpPr>
          <p:cNvPr id="15" name="Shape 13"/>
          <p:cNvSpPr/>
          <p:nvPr/>
        </p:nvSpPr>
        <p:spPr>
          <a:xfrm>
            <a:off x="9144000" y="1600200"/>
            <a:ext cx="1783080" cy="292608"/>
          </a:xfrm>
          <a:prstGeom prst="roundRect">
            <a:avLst>
              <a:gd name="adj" fmla="val 25000"/>
            </a:avLst>
          </a:prstGeom>
          <a:solidFill>
            <a:srgbClr val="2E8B57">
              <a:alpha val="95000"/>
            </a:srgbClr>
          </a:solidFill>
          <a:ln w="12700">
            <a:solidFill>
              <a:srgbClr val="2E8B57">
                <a:alpha val="0"/>
              </a:srgbClr>
            </a:solidFill>
            <a:prstDash val="solid"/>
          </a:ln>
        </p:spPr>
      </p:sp>
      <p:sp>
        <p:nvSpPr>
          <p:cNvPr id="16" name="Text 14"/>
          <p:cNvSpPr/>
          <p:nvPr/>
        </p:nvSpPr>
        <p:spPr>
          <a:xfrm>
            <a:off x="9235440" y="1664208"/>
            <a:ext cx="1600200" cy="146304"/>
          </a:xfrm>
          <a:prstGeom prst="rect">
            <a:avLst/>
          </a:prstGeom>
          <a:noFill/>
          <a:ln/>
        </p:spPr>
        <p:txBody>
          <a:bodyPr wrap="square" lIns="0" tIns="0" rIns="0" bIns="0" rtlCol="0" anchor="ctr"/>
          <a:lstStyle/>
          <a:p>
            <a:pPr algn="ctr" indent="0" marL="0">
              <a:buNone/>
            </a:pPr>
            <a:r>
              <a:rPr lang="en-US" sz="850" b="1" dirty="0">
                <a:solidFill>
                  <a:srgbClr val="FFFFFF"/>
                </a:solidFill>
              </a:rPr>
              <a:t>R-скрипт</a:t>
            </a:r>
            <a:endParaRPr lang="en-US" sz="850" dirty="0"/>
          </a:p>
        </p:txBody>
      </p:sp>
      <p:sp>
        <p:nvSpPr>
          <p:cNvPr id="17" name="Text 15"/>
          <p:cNvSpPr/>
          <p:nvPr/>
        </p:nvSpPr>
        <p:spPr>
          <a:xfrm>
            <a:off x="9235440" y="2148840"/>
            <a:ext cx="1645920" cy="274320"/>
          </a:xfrm>
          <a:prstGeom prst="rect">
            <a:avLst/>
          </a:prstGeom>
          <a:noFill/>
          <a:ln/>
        </p:spPr>
        <p:txBody>
          <a:bodyPr wrap="square" rtlCol="0" anchor="ctr">
            <a:normAutofit/>
          </a:bodyPr>
          <a:lstStyle/>
          <a:p>
            <a:pPr algn="ctr" indent="0" marL="0">
              <a:buNone/>
            </a:pPr>
            <a:r>
              <a:rPr lang="en-US" sz="1250" dirty="0">
                <a:solidFill>
                  <a:srgbClr val="1F2937"/>
                </a:solidFill>
              </a:rPr>
              <a:t>повторяемо</a:t>
            </a:r>
            <a:endParaRPr lang="en-US" sz="1250" dirty="0"/>
          </a:p>
        </p:txBody>
      </p:sp>
      <p:sp>
        <p:nvSpPr>
          <p:cNvPr id="18" name="Text 16"/>
          <p:cNvSpPr/>
          <p:nvPr/>
        </p:nvSpPr>
        <p:spPr>
          <a:xfrm>
            <a:off x="9235440" y="2807208"/>
            <a:ext cx="1645920" cy="274320"/>
          </a:xfrm>
          <a:prstGeom prst="rect">
            <a:avLst/>
          </a:prstGeom>
          <a:noFill/>
          <a:ln/>
        </p:spPr>
        <p:txBody>
          <a:bodyPr wrap="square" rtlCol="0" anchor="ctr">
            <a:normAutofit/>
          </a:bodyPr>
          <a:lstStyle/>
          <a:p>
            <a:pPr algn="ctr" indent="0" marL="0">
              <a:buNone/>
            </a:pPr>
            <a:r>
              <a:rPr lang="en-US" sz="1250" dirty="0">
                <a:solidFill>
                  <a:srgbClr val="1F2937"/>
                </a:solidFill>
              </a:rPr>
              <a:t>видна логика</a:t>
            </a:r>
            <a:endParaRPr lang="en-US" sz="1250" dirty="0"/>
          </a:p>
        </p:txBody>
      </p:sp>
      <p:sp>
        <p:nvSpPr>
          <p:cNvPr id="19" name="Text 17"/>
          <p:cNvSpPr/>
          <p:nvPr/>
        </p:nvSpPr>
        <p:spPr>
          <a:xfrm>
            <a:off x="9235440" y="3465576"/>
            <a:ext cx="1645920" cy="274320"/>
          </a:xfrm>
          <a:prstGeom prst="rect">
            <a:avLst/>
          </a:prstGeom>
          <a:noFill/>
          <a:ln/>
        </p:spPr>
        <p:txBody>
          <a:bodyPr wrap="square" rtlCol="0" anchor="ctr">
            <a:normAutofit/>
          </a:bodyPr>
          <a:lstStyle/>
          <a:p>
            <a:pPr algn="ctr" indent="0" marL="0">
              <a:buNone/>
            </a:pPr>
            <a:r>
              <a:rPr lang="en-US" sz="1250" dirty="0">
                <a:solidFill>
                  <a:srgbClr val="1F2937"/>
                </a:solidFill>
              </a:rPr>
              <a:t>легче найти ошибку</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R и RStudio</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Язык и среда разработки — разные объекты</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04</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R выполняет код</a:t>
            </a:r>
            <a:endParaRPr lang="en-US" sz="1700" dirty="0"/>
          </a:p>
          <a:p>
            <a:r>
              <a:rPr lang="en-US" sz="1700" dirty="0">
                <a:solidFill>
                  <a:srgbClr val="1F2937"/>
                </a:solidFill>
              </a:rPr>
              <a:t>RStudio помогает писать, запускать и проверять код</a:t>
            </a:r>
            <a:endParaRPr lang="en-US" sz="1700" dirty="0"/>
          </a:p>
          <a:p>
            <a:r>
              <a:rPr lang="en-US" sz="1700" dirty="0">
                <a:solidFill>
                  <a:srgbClr val="1F2937"/>
                </a:solidFill>
              </a:rPr>
              <a:t>Проект фиксирует рабочую папку</a:t>
            </a:r>
            <a:endParaRPr lang="en-US" sz="1700" dirty="0"/>
          </a:p>
          <a:p>
            <a:r>
              <a:rPr lang="en-US" sz="1700" dirty="0">
                <a:solidFill>
                  <a:srgbClr val="1F2937"/>
                </a:solidFill>
              </a:rPr>
              <a:t>Скрипт хранит последовательность анализа</a:t>
            </a:r>
            <a:endParaRPr lang="en-US" sz="1700" dirty="0"/>
          </a:p>
        </p:txBody>
      </p:sp>
      <p:sp>
        <p:nvSpPr>
          <p:cNvPr id="8" name="Shape 6"/>
          <p:cNvSpPr/>
          <p:nvPr/>
        </p:nvSpPr>
        <p:spPr>
          <a:xfrm>
            <a:off x="6400800" y="1600200"/>
            <a:ext cx="2148840" cy="3200400"/>
          </a:xfrm>
          <a:prstGeom prst="roundRect">
            <a:avLst>
              <a:gd name="adj" fmla="val 2979"/>
            </a:avLst>
          </a:prstGeom>
          <a:solidFill>
            <a:srgbClr val="FFFFFF"/>
          </a:solidFill>
          <a:ln w="12700">
            <a:solidFill>
              <a:srgbClr val="2867B2"/>
            </a:solidFill>
            <a:prstDash val="solid"/>
          </a:ln>
          <a:effectLst>
            <a:outerShdw sx="100000" sy="100000" kx="0" ky="0" algn="bl" rotWithShape="0" blurRad="15240" dist="10160" dir="2700000">
              <a:srgbClr val="000000">
                <a:alpha val="8000"/>
              </a:srgbClr>
            </a:outerShdw>
          </a:effectLst>
        </p:spPr>
      </p:sp>
      <p:sp>
        <p:nvSpPr>
          <p:cNvPr id="9" name="Text 7"/>
          <p:cNvSpPr/>
          <p:nvPr/>
        </p:nvSpPr>
        <p:spPr>
          <a:xfrm>
            <a:off x="6629400" y="1938528"/>
            <a:ext cx="1691640" cy="320040"/>
          </a:xfrm>
          <a:prstGeom prst="rect">
            <a:avLst/>
          </a:prstGeom>
          <a:noFill/>
          <a:ln/>
        </p:spPr>
        <p:txBody>
          <a:bodyPr wrap="square" lIns="0" tIns="0" rIns="0" bIns="0" rtlCol="0" anchor="ctr"/>
          <a:lstStyle/>
          <a:p>
            <a:pPr algn="ctr" indent="0" marL="0">
              <a:buNone/>
            </a:pPr>
            <a:r>
              <a:rPr lang="en-US" sz="2500" b="1" dirty="0">
                <a:solidFill>
                  <a:srgbClr val="2867B2"/>
                </a:solidFill>
              </a:rPr>
              <a:t>R</a:t>
            </a:r>
            <a:endParaRPr lang="en-US" sz="2500" dirty="0"/>
          </a:p>
        </p:txBody>
      </p:sp>
      <p:sp>
        <p:nvSpPr>
          <p:cNvPr id="10" name="Text 8"/>
          <p:cNvSpPr/>
          <p:nvPr/>
        </p:nvSpPr>
        <p:spPr>
          <a:xfrm>
            <a:off x="6629400" y="2743200"/>
            <a:ext cx="1691640" cy="685800"/>
          </a:xfrm>
          <a:prstGeom prst="rect">
            <a:avLst/>
          </a:prstGeom>
          <a:noFill/>
          <a:ln/>
        </p:spPr>
        <p:txBody>
          <a:bodyPr wrap="square" rtlCol="0" anchor="ctr">
            <a:normAutofit/>
          </a:bodyPr>
          <a:lstStyle/>
          <a:p>
            <a:pPr algn="ctr" indent="0" marL="0">
              <a:buNone/>
            </a:pPr>
            <a:r>
              <a:rPr lang="en-US" sz="1400" dirty="0">
                <a:solidFill>
                  <a:srgbClr val="1F2937"/>
                </a:solidFill>
              </a:rPr>
              <a:t>Выполняет код</a:t>
            </a:r>
            <a:endParaRPr lang="en-US" sz="1400" dirty="0"/>
          </a:p>
          <a:p>
            <a:pPr algn="ctr" indent="0" marL="0">
              <a:buNone/>
            </a:pPr>
            <a:r>
              <a:rPr lang="en-US" sz="1400" dirty="0">
                <a:solidFill>
                  <a:srgbClr val="1F2937"/>
                </a:solidFill>
              </a:rPr>
              <a:t>и вычисления</a:t>
            </a:r>
            <a:endParaRPr lang="en-US" sz="1400" dirty="0"/>
          </a:p>
        </p:txBody>
      </p:sp>
      <p:sp>
        <p:nvSpPr>
          <p:cNvPr id="11" name="Shape 9"/>
          <p:cNvSpPr/>
          <p:nvPr/>
        </p:nvSpPr>
        <p:spPr>
          <a:xfrm>
            <a:off x="8915400" y="1600200"/>
            <a:ext cx="2148840" cy="3200400"/>
          </a:xfrm>
          <a:prstGeom prst="roundRect">
            <a:avLst>
              <a:gd name="adj" fmla="val 2979"/>
            </a:avLst>
          </a:prstGeom>
          <a:solidFill>
            <a:srgbClr val="FFFFFF"/>
          </a:solidFill>
          <a:ln w="12700">
            <a:solidFill>
              <a:srgbClr val="2E8B57"/>
            </a:solidFill>
            <a:prstDash val="solid"/>
          </a:ln>
          <a:effectLst>
            <a:outerShdw sx="100000" sy="100000" kx="0" ky="0" algn="bl" rotWithShape="0" blurRad="15240" dist="10160" dir="2700000">
              <a:srgbClr val="000000">
                <a:alpha val="8000"/>
              </a:srgbClr>
            </a:outerShdw>
          </a:effectLst>
        </p:spPr>
      </p:sp>
      <p:sp>
        <p:nvSpPr>
          <p:cNvPr id="12" name="Text 10"/>
          <p:cNvSpPr/>
          <p:nvPr/>
        </p:nvSpPr>
        <p:spPr>
          <a:xfrm>
            <a:off x="9144000" y="1938528"/>
            <a:ext cx="1691640" cy="320040"/>
          </a:xfrm>
          <a:prstGeom prst="rect">
            <a:avLst/>
          </a:prstGeom>
          <a:noFill/>
          <a:ln/>
        </p:spPr>
        <p:txBody>
          <a:bodyPr wrap="square" lIns="0" tIns="0" rIns="0" bIns="0" rtlCol="0" anchor="ctr"/>
          <a:lstStyle/>
          <a:p>
            <a:pPr algn="ctr" indent="0" marL="0">
              <a:buNone/>
            </a:pPr>
            <a:r>
              <a:rPr lang="en-US" sz="2500" b="1" dirty="0">
                <a:solidFill>
                  <a:srgbClr val="2E8B57"/>
                </a:solidFill>
              </a:rPr>
              <a:t>RStudio</a:t>
            </a:r>
            <a:endParaRPr lang="en-US" sz="2500" dirty="0"/>
          </a:p>
        </p:txBody>
      </p:sp>
      <p:sp>
        <p:nvSpPr>
          <p:cNvPr id="13" name="Text 11"/>
          <p:cNvSpPr/>
          <p:nvPr/>
        </p:nvSpPr>
        <p:spPr>
          <a:xfrm>
            <a:off x="9144000" y="2743200"/>
            <a:ext cx="1691640" cy="685800"/>
          </a:xfrm>
          <a:prstGeom prst="rect">
            <a:avLst/>
          </a:prstGeom>
          <a:noFill/>
          <a:ln/>
        </p:spPr>
        <p:txBody>
          <a:bodyPr wrap="square" rtlCol="0" anchor="ctr">
            <a:normAutofit/>
          </a:bodyPr>
          <a:lstStyle/>
          <a:p>
            <a:pPr algn="ctr" indent="0" marL="0">
              <a:buNone/>
            </a:pPr>
            <a:r>
              <a:rPr lang="en-US" sz="1400" dirty="0">
                <a:solidFill>
                  <a:srgbClr val="1F2937"/>
                </a:solidFill>
              </a:rPr>
              <a:t>Помогает писать,</a:t>
            </a:r>
            <a:endParaRPr lang="en-US" sz="1400" dirty="0"/>
          </a:p>
          <a:p>
            <a:pPr algn="ctr" indent="0" marL="0">
              <a:buNone/>
            </a:pPr>
            <a:r>
              <a:rPr lang="en-US" sz="1400" dirty="0">
                <a:solidFill>
                  <a:srgbClr val="1F2937"/>
                </a:solidFill>
              </a:rPr>
              <a:t>запускать и проверять</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Четыре панели RStudio</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Каждая область интерфейса решает свою задачу</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05</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Source — скрипты и редактирование кода</a:t>
            </a:r>
            <a:endParaRPr lang="en-US" sz="1700" dirty="0"/>
          </a:p>
          <a:p>
            <a:r>
              <a:rPr lang="en-US" sz="1700" dirty="0">
                <a:solidFill>
                  <a:srgbClr val="1F2937"/>
                </a:solidFill>
              </a:rPr>
              <a:t>Console — выполнение команд</a:t>
            </a:r>
            <a:endParaRPr lang="en-US" sz="1700" dirty="0"/>
          </a:p>
          <a:p>
            <a:r>
              <a:rPr lang="en-US" sz="1700" dirty="0">
                <a:solidFill>
                  <a:srgbClr val="1F2937"/>
                </a:solidFill>
              </a:rPr>
              <a:t>Environment — созданные объекты</a:t>
            </a:r>
            <a:endParaRPr lang="en-US" sz="1700" dirty="0"/>
          </a:p>
          <a:p>
            <a:r>
              <a:rPr lang="en-US" sz="1700" dirty="0">
                <a:solidFill>
                  <a:srgbClr val="1F2937"/>
                </a:solidFill>
              </a:rPr>
              <a:t>Output — файлы, графики, пакеты и справка</a:t>
            </a:r>
            <a:endParaRPr lang="en-US" sz="1700" dirty="0"/>
          </a:p>
        </p:txBody>
      </p:sp>
      <p:sp>
        <p:nvSpPr>
          <p:cNvPr id="8" name="Shape 6"/>
          <p:cNvSpPr/>
          <p:nvPr/>
        </p:nvSpPr>
        <p:spPr>
          <a:xfrm>
            <a:off x="6400800" y="1325880"/>
            <a:ext cx="4983480" cy="4160520"/>
          </a:xfrm>
          <a:prstGeom prst="rect">
            <a:avLst/>
          </a:prstGeom>
          <a:solidFill>
            <a:srgbClr val="FFFFFF"/>
          </a:solidFill>
          <a:ln w="12700">
            <a:solidFill>
              <a:srgbClr val="D8DEE9"/>
            </a:solidFill>
            <a:prstDash val="solid"/>
          </a:ln>
        </p:spPr>
      </p:sp>
      <p:sp>
        <p:nvSpPr>
          <p:cNvPr id="9" name="Shape 7"/>
          <p:cNvSpPr/>
          <p:nvPr/>
        </p:nvSpPr>
        <p:spPr>
          <a:xfrm>
            <a:off x="6537960" y="1508760"/>
            <a:ext cx="2286000" cy="1600200"/>
          </a:xfrm>
          <a:prstGeom prst="roundRect">
            <a:avLst>
              <a:gd name="adj" fmla="val 2286"/>
            </a:avLst>
          </a:prstGeom>
          <a:solidFill>
            <a:srgbClr val="2867B2">
              <a:alpha val="14000"/>
            </a:srgbClr>
          </a:solidFill>
          <a:ln w="15240">
            <a:solidFill>
              <a:srgbClr val="2867B2"/>
            </a:solidFill>
            <a:prstDash val="solid"/>
          </a:ln>
        </p:spPr>
      </p:sp>
      <p:sp>
        <p:nvSpPr>
          <p:cNvPr id="10" name="Text 8"/>
          <p:cNvSpPr/>
          <p:nvPr/>
        </p:nvSpPr>
        <p:spPr>
          <a:xfrm>
            <a:off x="6675120" y="1673352"/>
            <a:ext cx="2011680" cy="201168"/>
          </a:xfrm>
          <a:prstGeom prst="rect">
            <a:avLst/>
          </a:prstGeom>
          <a:noFill/>
          <a:ln/>
        </p:spPr>
        <p:txBody>
          <a:bodyPr wrap="square" rtlCol="0" anchor="ctr"/>
          <a:lstStyle/>
          <a:p>
            <a:pPr algn="ctr" indent="0" marL="0">
              <a:buNone/>
            </a:pPr>
            <a:r>
              <a:rPr lang="en-US" sz="1300" b="1" dirty="0">
                <a:solidFill>
                  <a:srgbClr val="2867B2"/>
                </a:solidFill>
              </a:rPr>
              <a:t>Source</a:t>
            </a:r>
            <a:endParaRPr lang="en-US" sz="1300" dirty="0"/>
          </a:p>
        </p:txBody>
      </p:sp>
      <p:sp>
        <p:nvSpPr>
          <p:cNvPr id="11" name="Shape 9"/>
          <p:cNvSpPr/>
          <p:nvPr/>
        </p:nvSpPr>
        <p:spPr>
          <a:xfrm>
            <a:off x="8915400" y="1508760"/>
            <a:ext cx="2240280" cy="1600200"/>
          </a:xfrm>
          <a:prstGeom prst="roundRect">
            <a:avLst>
              <a:gd name="adj" fmla="val 2286"/>
            </a:avLst>
          </a:prstGeom>
          <a:solidFill>
            <a:srgbClr val="2E8B57">
              <a:alpha val="14000"/>
            </a:srgbClr>
          </a:solidFill>
          <a:ln w="15240">
            <a:solidFill>
              <a:srgbClr val="2E8B57"/>
            </a:solidFill>
            <a:prstDash val="solid"/>
          </a:ln>
        </p:spPr>
      </p:sp>
      <p:sp>
        <p:nvSpPr>
          <p:cNvPr id="12" name="Text 10"/>
          <p:cNvSpPr/>
          <p:nvPr/>
        </p:nvSpPr>
        <p:spPr>
          <a:xfrm>
            <a:off x="9052560" y="1673352"/>
            <a:ext cx="1965960" cy="201168"/>
          </a:xfrm>
          <a:prstGeom prst="rect">
            <a:avLst/>
          </a:prstGeom>
          <a:noFill/>
          <a:ln/>
        </p:spPr>
        <p:txBody>
          <a:bodyPr wrap="square" rtlCol="0" anchor="ctr"/>
          <a:lstStyle/>
          <a:p>
            <a:pPr algn="ctr" indent="0" marL="0">
              <a:buNone/>
            </a:pPr>
            <a:r>
              <a:rPr lang="en-US" sz="1300" b="1" dirty="0">
                <a:solidFill>
                  <a:srgbClr val="2E8B57"/>
                </a:solidFill>
              </a:rPr>
              <a:t>Environment</a:t>
            </a:r>
            <a:endParaRPr lang="en-US" sz="1300" dirty="0"/>
          </a:p>
        </p:txBody>
      </p:sp>
      <p:sp>
        <p:nvSpPr>
          <p:cNvPr id="13" name="Shape 11"/>
          <p:cNvSpPr/>
          <p:nvPr/>
        </p:nvSpPr>
        <p:spPr>
          <a:xfrm>
            <a:off x="6537960" y="3246120"/>
            <a:ext cx="2286000" cy="1783080"/>
          </a:xfrm>
          <a:prstGeom prst="roundRect">
            <a:avLst>
              <a:gd name="adj" fmla="val 2051"/>
            </a:avLst>
          </a:prstGeom>
          <a:solidFill>
            <a:srgbClr val="E8902E">
              <a:alpha val="14000"/>
            </a:srgbClr>
          </a:solidFill>
          <a:ln w="15240">
            <a:solidFill>
              <a:srgbClr val="E8902E"/>
            </a:solidFill>
            <a:prstDash val="solid"/>
          </a:ln>
        </p:spPr>
      </p:sp>
      <p:sp>
        <p:nvSpPr>
          <p:cNvPr id="14" name="Text 12"/>
          <p:cNvSpPr/>
          <p:nvPr/>
        </p:nvSpPr>
        <p:spPr>
          <a:xfrm>
            <a:off x="6675120" y="3410712"/>
            <a:ext cx="2011680" cy="201168"/>
          </a:xfrm>
          <a:prstGeom prst="rect">
            <a:avLst/>
          </a:prstGeom>
          <a:noFill/>
          <a:ln/>
        </p:spPr>
        <p:txBody>
          <a:bodyPr wrap="square" rtlCol="0" anchor="ctr"/>
          <a:lstStyle/>
          <a:p>
            <a:pPr algn="ctr" indent="0" marL="0">
              <a:buNone/>
            </a:pPr>
            <a:r>
              <a:rPr lang="en-US" sz="1300" b="1" dirty="0">
                <a:solidFill>
                  <a:srgbClr val="E8902E"/>
                </a:solidFill>
              </a:rPr>
              <a:t>Console</a:t>
            </a:r>
            <a:endParaRPr lang="en-US" sz="1300" dirty="0"/>
          </a:p>
        </p:txBody>
      </p:sp>
      <p:sp>
        <p:nvSpPr>
          <p:cNvPr id="15" name="Shape 13"/>
          <p:cNvSpPr/>
          <p:nvPr/>
        </p:nvSpPr>
        <p:spPr>
          <a:xfrm>
            <a:off x="8915400" y="3246120"/>
            <a:ext cx="2240280" cy="1783080"/>
          </a:xfrm>
          <a:prstGeom prst="roundRect">
            <a:avLst>
              <a:gd name="adj" fmla="val 2051"/>
            </a:avLst>
          </a:prstGeom>
          <a:solidFill>
            <a:srgbClr val="15A3C7">
              <a:alpha val="14000"/>
            </a:srgbClr>
          </a:solidFill>
          <a:ln w="15240">
            <a:solidFill>
              <a:srgbClr val="15A3C7"/>
            </a:solidFill>
            <a:prstDash val="solid"/>
          </a:ln>
        </p:spPr>
      </p:sp>
      <p:sp>
        <p:nvSpPr>
          <p:cNvPr id="16" name="Text 14"/>
          <p:cNvSpPr/>
          <p:nvPr/>
        </p:nvSpPr>
        <p:spPr>
          <a:xfrm>
            <a:off x="9052560" y="3410712"/>
            <a:ext cx="1965960" cy="201168"/>
          </a:xfrm>
          <a:prstGeom prst="rect">
            <a:avLst/>
          </a:prstGeom>
          <a:noFill/>
          <a:ln/>
        </p:spPr>
        <p:txBody>
          <a:bodyPr wrap="square" rtlCol="0" anchor="ctr"/>
          <a:lstStyle/>
          <a:p>
            <a:pPr algn="ctr" indent="0" marL="0">
              <a:buNone/>
            </a:pPr>
            <a:r>
              <a:rPr lang="en-US" sz="1300" b="1" dirty="0">
                <a:solidFill>
                  <a:srgbClr val="15A3C7"/>
                </a:solidFill>
              </a:rPr>
              <a:t>Files / Plots / Help</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R Project</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Проект фиксирует рабочий контекст</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06</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Одна папка — один учебный проект</a:t>
            </a:r>
            <a:endParaRPr lang="en-US" sz="1700" dirty="0"/>
          </a:p>
          <a:p>
            <a:r>
              <a:rPr lang="en-US" sz="1700" dirty="0">
                <a:solidFill>
                  <a:srgbClr val="1F2937"/>
                </a:solidFill>
              </a:rPr>
              <a:t>Данные лежат в `data/`</a:t>
            </a:r>
            <a:endParaRPr lang="en-US" sz="1700" dirty="0"/>
          </a:p>
          <a:p>
            <a:r>
              <a:rPr lang="en-US" sz="1700" dirty="0">
                <a:solidFill>
                  <a:srgbClr val="1F2937"/>
                </a:solidFill>
              </a:rPr>
              <a:t>Скрипты лежат в `scripts/`</a:t>
            </a:r>
            <a:endParaRPr lang="en-US" sz="1700" dirty="0"/>
          </a:p>
          <a:p>
            <a:r>
              <a:rPr lang="en-US" sz="1700" dirty="0">
                <a:solidFill>
                  <a:srgbClr val="1F2937"/>
                </a:solidFill>
              </a:rPr>
              <a:t>Результаты сохраняются в `outputs/`</a:t>
            </a:r>
            <a:endParaRPr lang="en-US" sz="1700" dirty="0"/>
          </a:p>
        </p:txBody>
      </p:sp>
      <p:sp>
        <p:nvSpPr>
          <p:cNvPr id="8" name="Shape 6"/>
          <p:cNvSpPr/>
          <p:nvPr/>
        </p:nvSpPr>
        <p:spPr>
          <a:xfrm>
            <a:off x="6400800" y="1417320"/>
            <a:ext cx="4937760" cy="3474720"/>
          </a:xfrm>
          <a:prstGeom prst="roundRect">
            <a:avLst>
              <a:gd name="adj" fmla="val 1053"/>
            </a:avLst>
          </a:prstGeom>
          <a:solidFill>
            <a:srgbClr val="F2F4F7"/>
          </a:solidFill>
          <a:ln w="10160">
            <a:solidFill>
              <a:srgbClr val="CAD2E0"/>
            </a:solidFill>
            <a:prstDash val="solid"/>
          </a:ln>
        </p:spPr>
      </p:sp>
      <p:sp>
        <p:nvSpPr>
          <p:cNvPr id="9" name="Text 7"/>
          <p:cNvSpPr/>
          <p:nvPr/>
        </p:nvSpPr>
        <p:spPr>
          <a:xfrm>
            <a:off x="6537960" y="1563624"/>
            <a:ext cx="4663440" cy="3200400"/>
          </a:xfrm>
          <a:prstGeom prst="rect">
            <a:avLst/>
          </a:prstGeom>
          <a:noFill/>
          <a:ln/>
        </p:spPr>
        <p:txBody>
          <a:bodyPr wrap="square" lIns="0" tIns="0" rIns="0" bIns="0" rtlCol="0" anchor="ctr">
            <a:normAutofit/>
          </a:bodyPr>
          <a:lstStyle/>
          <a:p>
            <a:pPr indent="0" marL="0">
              <a:buNone/>
            </a:pPr>
            <a:r>
              <a:rPr lang="en-US" sz="1400" dirty="0">
                <a:solidFill>
                  <a:srgbClr val="8292A2"/>
                </a:solidFill>
                <a:latin typeface="Consolas" pitchFamily="34" charset="0"/>
                <a:ea typeface="Consolas" pitchFamily="34" charset="-122"/>
                <a:cs typeface="Consolas" pitchFamily="34" charset="-120"/>
              </a:rPr>
              <a:t>1 </a:t>
            </a:r>
            <a:pPr indent="0" marL="0">
              <a:buNone/>
            </a:pPr>
            <a:r>
              <a:rPr lang="en-US" sz="1400" dirty="0">
                <a:solidFill>
                  <a:srgbClr val="FFFFFF"/>
                </a:solidFill>
                <a:latin typeface="Consolas" pitchFamily="34" charset="0"/>
                <a:ea typeface="Consolas" pitchFamily="34" charset="-122"/>
                <a:cs typeface="Consolas" pitchFamily="34" charset="-120"/>
              </a:rPr>
              <a:t>r_data_basics</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2 </a:t>
            </a:r>
            <a:pPr indent="0" marL="0">
              <a:buNone/>
            </a:pPr>
            <a:r>
              <a:rPr lang="en-US" sz="1400" dirty="0">
                <a:solidFill>
                  <a:srgbClr val="FFFFFF"/>
                </a:solidFill>
                <a:latin typeface="Consolas" pitchFamily="34" charset="0"/>
                <a:ea typeface="Consolas" pitchFamily="34" charset="-122"/>
                <a:cs typeface="Consolas" pitchFamily="34" charset="-120"/>
              </a:rPr>
              <a:t>├── data</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retail_sales.csv</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3 </a:t>
            </a:r>
            <a:pPr indent="0" marL="0">
              <a:buNone/>
            </a:pPr>
            <a:r>
              <a:rPr lang="en-US" sz="1400" dirty="0">
                <a:solidFill>
                  <a:srgbClr val="FFFFFF"/>
                </a:solidFill>
                <a:latin typeface="Consolas" pitchFamily="34" charset="0"/>
                <a:ea typeface="Consolas" pitchFamily="34" charset="-122"/>
                <a:cs typeface="Consolas" pitchFamily="34" charset="-120"/>
              </a:rPr>
              <a:t>├── scripts</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student_practice.R</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4 </a:t>
            </a:r>
            <a:pPr indent="0" marL="0">
              <a:buNone/>
            </a:pPr>
            <a:r>
              <a:rPr lang="en-US" sz="1400" dirty="0">
                <a:solidFill>
                  <a:srgbClr val="FFFFFF"/>
                </a:solidFill>
                <a:latin typeface="Consolas" pitchFamily="34" charset="0"/>
                <a:ea typeface="Consolas" pitchFamily="34" charset="-122"/>
                <a:cs typeface="Consolas" pitchFamily="34" charset="-120"/>
              </a:rPr>
              <a:t>├── scripts</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teacher_solution.R</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5 </a:t>
            </a:r>
            <a:pPr indent="0" marL="0">
              <a:buNone/>
            </a:pPr>
            <a:r>
              <a:rPr lang="en-US" sz="1400" dirty="0">
                <a:solidFill>
                  <a:srgbClr val="FFFFFF"/>
                </a:solidFill>
                <a:latin typeface="Consolas" pitchFamily="34" charset="0"/>
                <a:ea typeface="Consolas" pitchFamily="34" charset="-122"/>
                <a:cs typeface="Consolas" pitchFamily="34" charset="-120"/>
              </a:rPr>
              <a:t>└── outputs</a:t>
            </a:r>
            <a:pPr indent="0" marL="0">
              <a:buNone/>
            </a:pPr>
            <a:r>
              <a:rPr lang="en-US" sz="1400" dirty="0">
                <a:solidFill>
                  <a:srgbClr val="F8F8F2"/>
                </a:solidFill>
                <a:latin typeface="Consolas" pitchFamily="34" charset="0"/>
                <a:ea typeface="Consolas" pitchFamily="34" charset="-122"/>
                <a:cs typeface="Consolas" pitchFamily="34" charset="-120"/>
              </a:rPr>
              <a: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Скрипт вместо истории команд</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Код должен сохраняться и повторяться</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07</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Команда в консоли исчезает из рабочего процесса</a:t>
            </a:r>
            <a:endParaRPr lang="en-US" sz="1700" dirty="0"/>
          </a:p>
          <a:p>
            <a:r>
              <a:rPr lang="en-US" sz="1700" dirty="0">
                <a:solidFill>
                  <a:srgbClr val="1F2937"/>
                </a:solidFill>
              </a:rPr>
              <a:t>Скрипт можно проверить сверху вниз</a:t>
            </a:r>
            <a:endParaRPr lang="en-US" sz="1700" dirty="0"/>
          </a:p>
          <a:p>
            <a:r>
              <a:rPr lang="en-US" sz="1700" dirty="0">
                <a:solidFill>
                  <a:srgbClr val="1F2937"/>
                </a:solidFill>
              </a:rPr>
              <a:t>Скрипт можно передать другому специалисту</a:t>
            </a:r>
            <a:endParaRPr lang="en-US" sz="1700" dirty="0"/>
          </a:p>
          <a:p>
            <a:r>
              <a:rPr lang="en-US" sz="1700" dirty="0">
                <a:solidFill>
                  <a:srgbClr val="1F2937"/>
                </a:solidFill>
              </a:rPr>
              <a:t>Скрипт упрощает исправление ошибок</a:t>
            </a:r>
            <a:endParaRPr lang="en-US" sz="1700" dirty="0"/>
          </a:p>
        </p:txBody>
      </p:sp>
      <p:sp>
        <p:nvSpPr>
          <p:cNvPr id="8" name="Shape 6"/>
          <p:cNvSpPr/>
          <p:nvPr/>
        </p:nvSpPr>
        <p:spPr>
          <a:xfrm>
            <a:off x="6400800" y="1417320"/>
            <a:ext cx="2331720" cy="3566160"/>
          </a:xfrm>
          <a:prstGeom prst="roundRect">
            <a:avLst>
              <a:gd name="adj" fmla="val 2745"/>
            </a:avLst>
          </a:prstGeom>
          <a:solidFill>
            <a:srgbClr val="FFF7ED"/>
          </a:solidFill>
          <a:ln w="12700">
            <a:solidFill>
              <a:srgbClr val="E8902E"/>
            </a:solidFill>
            <a:prstDash val="solid"/>
          </a:ln>
          <a:effectLst>
            <a:outerShdw sx="100000" sy="100000" kx="0" ky="0" algn="bl" rotWithShape="0" blurRad="15240" dist="10160" dir="2700000">
              <a:srgbClr val="000000">
                <a:alpha val="8000"/>
              </a:srgbClr>
            </a:outerShdw>
          </a:effectLst>
        </p:spPr>
      </p:sp>
      <p:sp>
        <p:nvSpPr>
          <p:cNvPr id="9" name="Shape 7"/>
          <p:cNvSpPr/>
          <p:nvPr/>
        </p:nvSpPr>
        <p:spPr>
          <a:xfrm>
            <a:off x="9006840" y="1417320"/>
            <a:ext cx="2331720" cy="3566160"/>
          </a:xfrm>
          <a:prstGeom prst="roundRect">
            <a:avLst>
              <a:gd name="adj" fmla="val 2745"/>
            </a:avLst>
          </a:prstGeom>
          <a:solidFill>
            <a:srgbClr val="F0FDF4"/>
          </a:solidFill>
          <a:ln w="12700">
            <a:solidFill>
              <a:srgbClr val="2E8B57"/>
            </a:solidFill>
            <a:prstDash val="solid"/>
          </a:ln>
          <a:effectLst>
            <a:outerShdw sx="100000" sy="100000" kx="0" ky="0" algn="bl" rotWithShape="0" blurRad="15240" dist="10160" dir="2700000">
              <a:srgbClr val="000000">
                <a:alpha val="8000"/>
              </a:srgbClr>
            </a:outerShdw>
          </a:effectLst>
        </p:spPr>
      </p:sp>
      <p:sp>
        <p:nvSpPr>
          <p:cNvPr id="10" name="Text 8"/>
          <p:cNvSpPr/>
          <p:nvPr/>
        </p:nvSpPr>
        <p:spPr>
          <a:xfrm>
            <a:off x="6720840" y="1783080"/>
            <a:ext cx="1645920" cy="274320"/>
          </a:xfrm>
          <a:prstGeom prst="rect">
            <a:avLst/>
          </a:prstGeom>
          <a:noFill/>
          <a:ln/>
        </p:spPr>
        <p:txBody>
          <a:bodyPr wrap="square" rtlCol="0" anchor="ctr"/>
          <a:lstStyle/>
          <a:p>
            <a:pPr algn="ctr" indent="0" marL="0">
              <a:buNone/>
            </a:pPr>
            <a:r>
              <a:rPr lang="en-US" sz="2000" b="1" dirty="0">
                <a:solidFill>
                  <a:srgbClr val="E8902E"/>
                </a:solidFill>
              </a:rPr>
              <a:t>Риск</a:t>
            </a:r>
            <a:endParaRPr lang="en-US" sz="2000" dirty="0"/>
          </a:p>
        </p:txBody>
      </p:sp>
      <p:sp>
        <p:nvSpPr>
          <p:cNvPr id="11" name="Text 9"/>
          <p:cNvSpPr/>
          <p:nvPr/>
        </p:nvSpPr>
        <p:spPr>
          <a:xfrm>
            <a:off x="6629400" y="2514600"/>
            <a:ext cx="1874520" cy="822960"/>
          </a:xfrm>
          <a:prstGeom prst="rect">
            <a:avLst/>
          </a:prstGeom>
          <a:noFill/>
          <a:ln/>
        </p:spPr>
        <p:txBody>
          <a:bodyPr wrap="square" rtlCol="0" anchor="ctr"/>
          <a:lstStyle/>
          <a:p>
            <a:pPr algn="ctr" indent="0" marL="0">
              <a:buNone/>
            </a:pPr>
            <a:r>
              <a:rPr lang="en-US" sz="1300" dirty="0">
                <a:solidFill>
                  <a:srgbClr val="1F2937"/>
                </a:solidFill>
              </a:rPr>
              <a:t>команды только в консоли</a:t>
            </a:r>
            <a:endParaRPr lang="en-US" sz="1300" dirty="0"/>
          </a:p>
          <a:p>
            <a:pPr algn="ctr" indent="0" marL="0">
              <a:buNone/>
            </a:pPr>
            <a:r>
              <a:rPr lang="en-US" sz="1300" dirty="0">
                <a:solidFill>
                  <a:srgbClr val="1F2937"/>
                </a:solidFill>
              </a:rPr>
              <a:t>сложнее восстановить ход анализа</a:t>
            </a:r>
            <a:endParaRPr lang="en-US" sz="1300" dirty="0"/>
          </a:p>
        </p:txBody>
      </p:sp>
      <p:sp>
        <p:nvSpPr>
          <p:cNvPr id="12" name="Text 10"/>
          <p:cNvSpPr/>
          <p:nvPr/>
        </p:nvSpPr>
        <p:spPr>
          <a:xfrm>
            <a:off x="9281160" y="1783080"/>
            <a:ext cx="1691640" cy="274320"/>
          </a:xfrm>
          <a:prstGeom prst="rect">
            <a:avLst/>
          </a:prstGeom>
          <a:noFill/>
          <a:ln/>
        </p:spPr>
        <p:txBody>
          <a:bodyPr wrap="square" rtlCol="0" anchor="ctr"/>
          <a:lstStyle/>
          <a:p>
            <a:pPr algn="ctr" indent="0" marL="0">
              <a:buNone/>
            </a:pPr>
            <a:r>
              <a:rPr lang="en-US" sz="2000" b="1" dirty="0">
                <a:solidFill>
                  <a:srgbClr val="2E8B57"/>
                </a:solidFill>
              </a:rPr>
              <a:t>Правильно</a:t>
            </a:r>
            <a:endParaRPr lang="en-US" sz="2000" dirty="0"/>
          </a:p>
        </p:txBody>
      </p:sp>
      <p:sp>
        <p:nvSpPr>
          <p:cNvPr id="13" name="Text 11"/>
          <p:cNvSpPr/>
          <p:nvPr/>
        </p:nvSpPr>
        <p:spPr>
          <a:xfrm>
            <a:off x="9189720" y="2514600"/>
            <a:ext cx="1920240" cy="822960"/>
          </a:xfrm>
          <a:prstGeom prst="rect">
            <a:avLst/>
          </a:prstGeom>
          <a:noFill/>
          <a:ln/>
        </p:spPr>
        <p:txBody>
          <a:bodyPr wrap="square" rtlCol="0" anchor="ctr"/>
          <a:lstStyle/>
          <a:p>
            <a:pPr algn="ctr" indent="0" marL="0">
              <a:buNone/>
            </a:pPr>
            <a:r>
              <a:rPr lang="en-US" sz="1300" dirty="0">
                <a:solidFill>
                  <a:srgbClr val="1F2937"/>
                </a:solidFill>
              </a:rPr>
              <a:t>скрипт хранит процесс</a:t>
            </a:r>
            <a:endParaRPr lang="en-US" sz="1300" dirty="0"/>
          </a:p>
          <a:p>
            <a:pPr algn="ctr" indent="0" marL="0">
              <a:buNone/>
            </a:pPr>
            <a:r>
              <a:rPr lang="en-US" sz="1300" dirty="0">
                <a:solidFill>
                  <a:srgbClr val="1F2937"/>
                </a:solidFill>
              </a:rPr>
              <a:t>и запускается сверху вниз</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Объекты и присваивание</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Результат вычисления можно сохранить</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08</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`&lt;-` помещает результат в объект</a:t>
            </a:r>
            <a:endParaRPr lang="en-US" sz="1700" dirty="0"/>
          </a:p>
          <a:p>
            <a:r>
              <a:rPr lang="en-US" sz="1700" dirty="0">
                <a:solidFill>
                  <a:srgbClr val="1F2937"/>
                </a:solidFill>
              </a:rPr>
              <a:t>Имя объекта должно быть понятным</a:t>
            </a:r>
            <a:endParaRPr lang="en-US" sz="1700" dirty="0"/>
          </a:p>
          <a:p>
            <a:r>
              <a:rPr lang="en-US" sz="1700" dirty="0">
                <a:solidFill>
                  <a:srgbClr val="1F2937"/>
                </a:solidFill>
              </a:rPr>
              <a:t>Комментарий начинается с `#`</a:t>
            </a:r>
            <a:endParaRPr lang="en-US" sz="1700" dirty="0"/>
          </a:p>
          <a:p>
            <a:r>
              <a:rPr lang="en-US" sz="1700" dirty="0">
                <a:solidFill>
                  <a:srgbClr val="1F2937"/>
                </a:solidFill>
              </a:rPr>
              <a:t>Объект можно использовать в следующих расчётах</a:t>
            </a:r>
            <a:endParaRPr lang="en-US" sz="1700" dirty="0"/>
          </a:p>
        </p:txBody>
      </p:sp>
      <p:sp>
        <p:nvSpPr>
          <p:cNvPr id="8" name="Shape 6"/>
          <p:cNvSpPr/>
          <p:nvPr/>
        </p:nvSpPr>
        <p:spPr>
          <a:xfrm>
            <a:off x="6400800" y="1554480"/>
            <a:ext cx="4983480" cy="2011680"/>
          </a:xfrm>
          <a:prstGeom prst="roundRect">
            <a:avLst>
              <a:gd name="adj" fmla="val 1818"/>
            </a:avLst>
          </a:prstGeom>
          <a:solidFill>
            <a:srgbClr val="F2F4F7"/>
          </a:solidFill>
          <a:ln w="10160">
            <a:solidFill>
              <a:srgbClr val="CAD2E0"/>
            </a:solidFill>
            <a:prstDash val="solid"/>
          </a:ln>
        </p:spPr>
      </p:sp>
      <p:sp>
        <p:nvSpPr>
          <p:cNvPr id="9" name="Text 7"/>
          <p:cNvSpPr/>
          <p:nvPr/>
        </p:nvSpPr>
        <p:spPr>
          <a:xfrm>
            <a:off x="6537960" y="1700784"/>
            <a:ext cx="4709160" cy="1737360"/>
          </a:xfrm>
          <a:prstGeom prst="rect">
            <a:avLst/>
          </a:prstGeom>
          <a:noFill/>
          <a:ln/>
        </p:spPr>
        <p:txBody>
          <a:bodyPr wrap="square" lIns="0" tIns="0" rIns="0" bIns="0" rtlCol="0" anchor="ctr">
            <a:normAutofit/>
          </a:bodyPr>
          <a:lstStyle/>
          <a:p>
            <a:pPr indent="0" marL="0">
              <a:buNone/>
            </a:pPr>
            <a:r>
              <a:rPr lang="en-US" sz="1400" dirty="0">
                <a:solidFill>
                  <a:srgbClr val="8292A2"/>
                </a:solidFill>
                <a:latin typeface="Consolas" pitchFamily="34" charset="0"/>
                <a:ea typeface="Consolas" pitchFamily="34" charset="-122"/>
                <a:cs typeface="Consolas" pitchFamily="34" charset="-120"/>
              </a:rPr>
              <a:t>1 </a:t>
            </a:r>
            <a:pPr indent="0" marL="0">
              <a:buNone/>
            </a:pPr>
            <a:r>
              <a:rPr lang="en-US" sz="1400" dirty="0">
                <a:solidFill>
                  <a:srgbClr val="FFFFFF"/>
                </a:solidFill>
                <a:latin typeface="Consolas" pitchFamily="34" charset="0"/>
                <a:ea typeface="Consolas" pitchFamily="34" charset="-122"/>
                <a:cs typeface="Consolas" pitchFamily="34" charset="-120"/>
              </a:rPr>
              <a:t>price </a:t>
            </a:r>
            <a:pPr indent="0" marL="0">
              <a:buNone/>
            </a:pPr>
            <a:r>
              <a:rPr lang="en-US" sz="1400" dirty="0">
                <a:solidFill>
                  <a:srgbClr val="F8F8F2"/>
                </a:solidFill>
                <a:latin typeface="Consolas" pitchFamily="34" charset="0"/>
                <a:ea typeface="Consolas" pitchFamily="34" charset="-122"/>
                <a:cs typeface="Consolas" pitchFamily="34" charset="-120"/>
              </a:rPr>
              <a:t>&lt;-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FFFFF"/>
                </a:solidFill>
                <a:latin typeface="Consolas" pitchFamily="34" charset="0"/>
                <a:ea typeface="Consolas" pitchFamily="34" charset="-122"/>
                <a:cs typeface="Consolas" pitchFamily="34" charset="-120"/>
              </a:rPr>
              <a:t>1500</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2 </a:t>
            </a:r>
            <a:pPr indent="0" marL="0">
              <a:buNone/>
            </a:pPr>
            <a:r>
              <a:rPr lang="en-US" sz="1400" dirty="0">
                <a:solidFill>
                  <a:srgbClr val="FFFFFF"/>
                </a:solidFill>
                <a:latin typeface="Consolas" pitchFamily="34" charset="0"/>
                <a:ea typeface="Consolas" pitchFamily="34" charset="-122"/>
                <a:cs typeface="Consolas" pitchFamily="34" charset="-120"/>
              </a:rPr>
              <a:t>quantity </a:t>
            </a:r>
            <a:pPr indent="0" marL="0">
              <a:buNone/>
            </a:pPr>
            <a:r>
              <a:rPr lang="en-US" sz="1400" dirty="0">
                <a:solidFill>
                  <a:srgbClr val="F8F8F2"/>
                </a:solidFill>
                <a:latin typeface="Consolas" pitchFamily="34" charset="0"/>
                <a:ea typeface="Consolas" pitchFamily="34" charset="-122"/>
                <a:cs typeface="Consolas" pitchFamily="34" charset="-120"/>
              </a:rPr>
              <a:t>&lt;-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FFFFF"/>
                </a:solidFill>
                <a:latin typeface="Consolas" pitchFamily="34" charset="0"/>
                <a:ea typeface="Consolas" pitchFamily="34" charset="-122"/>
                <a:cs typeface="Consolas" pitchFamily="34" charset="-120"/>
              </a:rPr>
              <a:t>3</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3 </a:t>
            </a:r>
            <a:pPr indent="0" marL="0">
              <a:buNone/>
            </a:pPr>
            <a:r>
              <a:rPr lang="en-US" sz="1400" dirty="0">
                <a:solidFill>
                  <a:srgbClr val="FFFFFF"/>
                </a:solidFill>
                <a:latin typeface="Consolas" pitchFamily="34" charset="0"/>
                <a:ea typeface="Consolas" pitchFamily="34" charset="-122"/>
                <a:cs typeface="Consolas" pitchFamily="34" charset="-120"/>
              </a:rPr>
              <a:t>discount </a:t>
            </a:r>
            <a:pPr indent="0" marL="0">
              <a:buNone/>
            </a:pPr>
            <a:r>
              <a:rPr lang="en-US" sz="1400" dirty="0">
                <a:solidFill>
                  <a:srgbClr val="F8F8F2"/>
                </a:solidFill>
                <a:latin typeface="Consolas" pitchFamily="34" charset="0"/>
                <a:ea typeface="Consolas" pitchFamily="34" charset="-122"/>
                <a:cs typeface="Consolas" pitchFamily="34" charset="-120"/>
              </a:rPr>
              <a:t>&lt;-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FFFFF"/>
                </a:solidFill>
                <a:latin typeface="Consolas" pitchFamily="34" charset="0"/>
                <a:ea typeface="Consolas" pitchFamily="34" charset="-122"/>
                <a:cs typeface="Consolas" pitchFamily="34" charset="-120"/>
              </a:rPr>
              <a:t>0.10</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4 </a:t>
            </a:r>
            <a:pPr indent="0" marL="0">
              <a:buNone/>
            </a:pPr>
            <a:r>
              <a:rPr lang="en-US" sz="1400" dirty="0">
                <a:solidFill>
                  <a:srgbClr val="FFFFFF"/>
                </a:solidFill>
                <a:latin typeface="Consolas" pitchFamily="34" charset="0"/>
                <a:ea typeface="Consolas" pitchFamily="34" charset="-122"/>
                <a:cs typeface="Consolas" pitchFamily="34" charset="-120"/>
              </a:rPr>
              <a:t>revenue </a:t>
            </a:r>
            <a:pPr indent="0" marL="0">
              <a:buNone/>
            </a:pPr>
            <a:r>
              <a:rPr lang="en-US" sz="1400" dirty="0">
                <a:solidFill>
                  <a:srgbClr val="F8F8F2"/>
                </a:solidFill>
                <a:latin typeface="Consolas" pitchFamily="34" charset="0"/>
                <a:ea typeface="Consolas" pitchFamily="34" charset="-122"/>
                <a:cs typeface="Consolas" pitchFamily="34" charset="-120"/>
              </a:rPr>
              <a:t>&lt;-</a:t>
            </a:r>
            <a:pPr indent="0" marL="0">
              <a:buNone/>
            </a:pPr>
            <a:r>
              <a:rPr lang="en-US" sz="1400" dirty="0">
                <a:solidFill>
                  <a:srgbClr val="FFFFFF"/>
                </a:solidFill>
                <a:latin typeface="Consolas" pitchFamily="34" charset="0"/>
                <a:ea typeface="Consolas" pitchFamily="34" charset="-122"/>
                <a:cs typeface="Consolas" pitchFamily="34" charset="-120"/>
              </a:rPr>
              <a:t> price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quantity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1</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discount</a:t>
            </a:r>
            <a:pPr indent="0" marL="0">
              <a:buNone/>
            </a:pPr>
            <a:r>
              <a:rPr lang="en-US" sz="1400" dirty="0">
                <a:solidFill>
                  <a:srgbClr val="F8F8F2"/>
                </a:solidFill>
                <a:latin typeface="Consolas" pitchFamily="34" charset="0"/>
                <a:ea typeface="Consolas" pitchFamily="34" charset="-122"/>
                <a:cs typeface="Consolas" pitchFamily="34" charset="-120"/>
              </a:rPr>
              <a: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Типы данных</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Тип определяет допустимые операции</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09</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Числа можно суммировать и усреднять</a:t>
            </a:r>
            <a:endParaRPr lang="en-US" sz="1700" dirty="0"/>
          </a:p>
          <a:p>
            <a:r>
              <a:rPr lang="en-US" sz="1700" dirty="0">
                <a:solidFill>
                  <a:srgbClr val="1F2937"/>
                </a:solidFill>
              </a:rPr>
              <a:t>Текст нужно очищать и нормализовать</a:t>
            </a:r>
            <a:endParaRPr lang="en-US" sz="1700" dirty="0"/>
          </a:p>
          <a:p>
            <a:r>
              <a:rPr lang="en-US" sz="1700" dirty="0">
                <a:solidFill>
                  <a:srgbClr val="1F2937"/>
                </a:solidFill>
              </a:rPr>
              <a:t>Даты нужны для динамики</a:t>
            </a:r>
            <a:endParaRPr lang="en-US" sz="1700" dirty="0"/>
          </a:p>
          <a:p>
            <a:r>
              <a:rPr lang="en-US" sz="1700" dirty="0">
                <a:solidFill>
                  <a:srgbClr val="1F2937"/>
                </a:solidFill>
              </a:rPr>
              <a:t>`NA` означает отсутствующее значение</a:t>
            </a:r>
            <a:endParaRPr lang="en-US" sz="1700" dirty="0"/>
          </a:p>
        </p:txBody>
      </p:sp>
      <p:sp>
        <p:nvSpPr>
          <p:cNvPr id="8" name="Shape 6"/>
          <p:cNvSpPr/>
          <p:nvPr/>
        </p:nvSpPr>
        <p:spPr>
          <a:xfrm>
            <a:off x="6400800" y="1234440"/>
            <a:ext cx="4846320" cy="2633472"/>
          </a:xfrm>
          <a:prstGeom prst="roundRect">
            <a:avLst>
              <a:gd name="adj" fmla="val 1389"/>
            </a:avLst>
          </a:prstGeom>
          <a:solidFill>
            <a:srgbClr val="FFFFFF"/>
          </a:solidFill>
          <a:ln w="10160">
            <a:solidFill>
              <a:srgbClr val="D8DEE9"/>
            </a:solidFill>
            <a:prstDash val="solid"/>
          </a:ln>
        </p:spPr>
      </p:sp>
      <p:sp>
        <p:nvSpPr>
          <p:cNvPr id="9" name="Shape 7"/>
          <p:cNvSpPr/>
          <p:nvPr/>
        </p:nvSpPr>
        <p:spPr>
          <a:xfrm>
            <a:off x="6400800" y="1234440"/>
            <a:ext cx="4846320" cy="438912"/>
          </a:xfrm>
          <a:prstGeom prst="rect">
            <a:avLst/>
          </a:prstGeom>
          <a:solidFill>
            <a:srgbClr val="EAF2FF"/>
          </a:solidFill>
          <a:ln w="6350">
            <a:solidFill>
              <a:srgbClr val="D8DEE9"/>
            </a:solidFill>
            <a:prstDash val="solid"/>
          </a:ln>
        </p:spPr>
      </p:sp>
      <p:sp>
        <p:nvSpPr>
          <p:cNvPr id="10" name="Text 8"/>
          <p:cNvSpPr/>
          <p:nvPr/>
        </p:nvSpPr>
        <p:spPr>
          <a:xfrm>
            <a:off x="6473952" y="1380744"/>
            <a:ext cx="1362456" cy="109728"/>
          </a:xfrm>
          <a:prstGeom prst="rect">
            <a:avLst/>
          </a:prstGeom>
          <a:noFill/>
          <a:ln/>
        </p:spPr>
        <p:txBody>
          <a:bodyPr wrap="square" lIns="0" tIns="0" rIns="0" bIns="0" rtlCol="0" anchor="ctr"/>
          <a:lstStyle/>
          <a:p>
            <a:pPr indent="0" marL="0">
              <a:buNone/>
            </a:pPr>
            <a:r>
              <a:rPr lang="en-US" sz="1150" b="1" dirty="0">
                <a:solidFill>
                  <a:srgbClr val="2867B2"/>
                </a:solidFill>
              </a:rPr>
              <a:t>Тип</a:t>
            </a:r>
            <a:endParaRPr lang="en-US" sz="1150" dirty="0"/>
          </a:p>
        </p:txBody>
      </p:sp>
      <p:sp>
        <p:nvSpPr>
          <p:cNvPr id="11" name="Text 9"/>
          <p:cNvSpPr/>
          <p:nvPr/>
        </p:nvSpPr>
        <p:spPr>
          <a:xfrm>
            <a:off x="7982712" y="1380744"/>
            <a:ext cx="3191256" cy="109728"/>
          </a:xfrm>
          <a:prstGeom prst="rect">
            <a:avLst/>
          </a:prstGeom>
          <a:noFill/>
          <a:ln/>
        </p:spPr>
        <p:txBody>
          <a:bodyPr wrap="square" lIns="0" tIns="0" rIns="0" bIns="0" rtlCol="0" anchor="ctr"/>
          <a:lstStyle/>
          <a:p>
            <a:pPr indent="0" marL="0">
              <a:buNone/>
            </a:pPr>
            <a:r>
              <a:rPr lang="en-US" sz="1150" b="1" dirty="0">
                <a:solidFill>
                  <a:srgbClr val="2867B2"/>
                </a:solidFill>
              </a:rPr>
              <a:t>Пример</a:t>
            </a:r>
            <a:endParaRPr lang="en-US" sz="1150" dirty="0"/>
          </a:p>
        </p:txBody>
      </p:sp>
      <p:sp>
        <p:nvSpPr>
          <p:cNvPr id="12" name="Shape 10"/>
          <p:cNvSpPr/>
          <p:nvPr/>
        </p:nvSpPr>
        <p:spPr>
          <a:xfrm>
            <a:off x="6400800" y="1673352"/>
            <a:ext cx="4846320" cy="0"/>
          </a:xfrm>
          <a:prstGeom prst="line">
            <a:avLst/>
          </a:prstGeom>
          <a:noFill/>
          <a:ln w="5080">
            <a:solidFill>
              <a:srgbClr val="D8DEE9"/>
            </a:solidFill>
            <a:prstDash val="solid"/>
          </a:ln>
        </p:spPr>
      </p:sp>
      <p:sp>
        <p:nvSpPr>
          <p:cNvPr id="13" name="Text 11"/>
          <p:cNvSpPr/>
          <p:nvPr/>
        </p:nvSpPr>
        <p:spPr>
          <a:xfrm>
            <a:off x="6473952" y="1819656"/>
            <a:ext cx="1362456" cy="109728"/>
          </a:xfrm>
          <a:prstGeom prst="rect">
            <a:avLst/>
          </a:prstGeom>
          <a:noFill/>
          <a:ln/>
        </p:spPr>
        <p:txBody>
          <a:bodyPr wrap="square" lIns="0" tIns="0" rIns="0" bIns="0" rtlCol="0" anchor="ctr"/>
          <a:lstStyle/>
          <a:p>
            <a:pPr indent="0" marL="0">
              <a:buNone/>
            </a:pPr>
            <a:r>
              <a:rPr lang="en-US" sz="1080" b="1" dirty="0">
                <a:solidFill>
                  <a:srgbClr val="1F2937"/>
                </a:solidFill>
              </a:rPr>
              <a:t>numeric</a:t>
            </a:r>
            <a:endParaRPr lang="en-US" sz="1080" dirty="0"/>
          </a:p>
        </p:txBody>
      </p:sp>
      <p:sp>
        <p:nvSpPr>
          <p:cNvPr id="14" name="Text 12"/>
          <p:cNvSpPr/>
          <p:nvPr/>
        </p:nvSpPr>
        <p:spPr>
          <a:xfrm>
            <a:off x="7982712" y="1819656"/>
            <a:ext cx="3191256" cy="109728"/>
          </a:xfrm>
          <a:prstGeom prst="rect">
            <a:avLst/>
          </a:prstGeom>
          <a:noFill/>
          <a:ln/>
        </p:spPr>
        <p:txBody>
          <a:bodyPr wrap="square" lIns="0" tIns="0" rIns="0" bIns="0" rtlCol="0" anchor="ctr"/>
          <a:lstStyle/>
          <a:p>
            <a:pPr indent="0" marL="0">
              <a:buNone/>
            </a:pPr>
            <a:r>
              <a:rPr lang="en-US" sz="1080" dirty="0">
                <a:solidFill>
                  <a:srgbClr val="1F2937"/>
                </a:solidFill>
              </a:rPr>
              <a:t>цена, выручка</a:t>
            </a:r>
            <a:endParaRPr lang="en-US" sz="1080" dirty="0"/>
          </a:p>
        </p:txBody>
      </p:sp>
      <p:sp>
        <p:nvSpPr>
          <p:cNvPr id="15" name="Shape 13"/>
          <p:cNvSpPr/>
          <p:nvPr/>
        </p:nvSpPr>
        <p:spPr>
          <a:xfrm>
            <a:off x="6400800" y="2112264"/>
            <a:ext cx="4846320" cy="0"/>
          </a:xfrm>
          <a:prstGeom prst="line">
            <a:avLst/>
          </a:prstGeom>
          <a:noFill/>
          <a:ln w="5080">
            <a:solidFill>
              <a:srgbClr val="D8DEE9"/>
            </a:solidFill>
            <a:prstDash val="solid"/>
          </a:ln>
        </p:spPr>
      </p:sp>
      <p:sp>
        <p:nvSpPr>
          <p:cNvPr id="16" name="Text 14"/>
          <p:cNvSpPr/>
          <p:nvPr/>
        </p:nvSpPr>
        <p:spPr>
          <a:xfrm>
            <a:off x="6473952" y="2258568"/>
            <a:ext cx="1362456" cy="109728"/>
          </a:xfrm>
          <a:prstGeom prst="rect">
            <a:avLst/>
          </a:prstGeom>
          <a:noFill/>
          <a:ln/>
        </p:spPr>
        <p:txBody>
          <a:bodyPr wrap="square" lIns="0" tIns="0" rIns="0" bIns="0" rtlCol="0" anchor="ctr"/>
          <a:lstStyle/>
          <a:p>
            <a:pPr indent="0" marL="0">
              <a:buNone/>
            </a:pPr>
            <a:r>
              <a:rPr lang="en-US" sz="1080" b="1" dirty="0">
                <a:solidFill>
                  <a:srgbClr val="1F2937"/>
                </a:solidFill>
              </a:rPr>
              <a:t>character</a:t>
            </a:r>
            <a:endParaRPr lang="en-US" sz="1080" dirty="0"/>
          </a:p>
        </p:txBody>
      </p:sp>
      <p:sp>
        <p:nvSpPr>
          <p:cNvPr id="17" name="Text 15"/>
          <p:cNvSpPr/>
          <p:nvPr/>
        </p:nvSpPr>
        <p:spPr>
          <a:xfrm>
            <a:off x="7982712" y="2258568"/>
            <a:ext cx="3191256" cy="109728"/>
          </a:xfrm>
          <a:prstGeom prst="rect">
            <a:avLst/>
          </a:prstGeom>
          <a:noFill/>
          <a:ln/>
        </p:spPr>
        <p:txBody>
          <a:bodyPr wrap="square" lIns="0" tIns="0" rIns="0" bIns="0" rtlCol="0" anchor="ctr"/>
          <a:lstStyle/>
          <a:p>
            <a:pPr indent="0" marL="0">
              <a:buNone/>
            </a:pPr>
            <a:r>
              <a:rPr lang="en-US" sz="1080" dirty="0">
                <a:solidFill>
                  <a:srgbClr val="1F2937"/>
                </a:solidFill>
              </a:rPr>
              <a:t>регион, категория</a:t>
            </a:r>
            <a:endParaRPr lang="en-US" sz="1080" dirty="0"/>
          </a:p>
        </p:txBody>
      </p:sp>
      <p:sp>
        <p:nvSpPr>
          <p:cNvPr id="18" name="Shape 16"/>
          <p:cNvSpPr/>
          <p:nvPr/>
        </p:nvSpPr>
        <p:spPr>
          <a:xfrm>
            <a:off x="6400800" y="2551176"/>
            <a:ext cx="4846320" cy="0"/>
          </a:xfrm>
          <a:prstGeom prst="line">
            <a:avLst/>
          </a:prstGeom>
          <a:noFill/>
          <a:ln w="5080">
            <a:solidFill>
              <a:srgbClr val="D8DEE9"/>
            </a:solidFill>
            <a:prstDash val="solid"/>
          </a:ln>
        </p:spPr>
      </p:sp>
      <p:sp>
        <p:nvSpPr>
          <p:cNvPr id="19" name="Text 17"/>
          <p:cNvSpPr/>
          <p:nvPr/>
        </p:nvSpPr>
        <p:spPr>
          <a:xfrm>
            <a:off x="6473952" y="2697480"/>
            <a:ext cx="1362456" cy="109728"/>
          </a:xfrm>
          <a:prstGeom prst="rect">
            <a:avLst/>
          </a:prstGeom>
          <a:noFill/>
          <a:ln/>
        </p:spPr>
        <p:txBody>
          <a:bodyPr wrap="square" lIns="0" tIns="0" rIns="0" bIns="0" rtlCol="0" anchor="ctr"/>
          <a:lstStyle/>
          <a:p>
            <a:pPr indent="0" marL="0">
              <a:buNone/>
            </a:pPr>
            <a:r>
              <a:rPr lang="en-US" sz="1080" b="1" dirty="0">
                <a:solidFill>
                  <a:srgbClr val="1F2937"/>
                </a:solidFill>
              </a:rPr>
              <a:t>logical</a:t>
            </a:r>
            <a:endParaRPr lang="en-US" sz="1080" dirty="0"/>
          </a:p>
        </p:txBody>
      </p:sp>
      <p:sp>
        <p:nvSpPr>
          <p:cNvPr id="20" name="Text 18"/>
          <p:cNvSpPr/>
          <p:nvPr/>
        </p:nvSpPr>
        <p:spPr>
          <a:xfrm>
            <a:off x="7982712" y="2697480"/>
            <a:ext cx="3191256" cy="109728"/>
          </a:xfrm>
          <a:prstGeom prst="rect">
            <a:avLst/>
          </a:prstGeom>
          <a:noFill/>
          <a:ln/>
        </p:spPr>
        <p:txBody>
          <a:bodyPr wrap="square" lIns="0" tIns="0" rIns="0" bIns="0" rtlCol="0" anchor="ctr"/>
          <a:lstStyle/>
          <a:p>
            <a:pPr indent="0" marL="0">
              <a:buNone/>
            </a:pPr>
            <a:r>
              <a:rPr lang="en-US" sz="1080" dirty="0">
                <a:solidFill>
                  <a:srgbClr val="1F2937"/>
                </a:solidFill>
              </a:rPr>
              <a:t>условие TRUE/FALSE</a:t>
            </a:r>
            <a:endParaRPr lang="en-US" sz="1080" dirty="0"/>
          </a:p>
        </p:txBody>
      </p:sp>
      <p:sp>
        <p:nvSpPr>
          <p:cNvPr id="21" name="Shape 19"/>
          <p:cNvSpPr/>
          <p:nvPr/>
        </p:nvSpPr>
        <p:spPr>
          <a:xfrm>
            <a:off x="6400800" y="2990088"/>
            <a:ext cx="4846320" cy="0"/>
          </a:xfrm>
          <a:prstGeom prst="line">
            <a:avLst/>
          </a:prstGeom>
          <a:noFill/>
          <a:ln w="5080">
            <a:solidFill>
              <a:srgbClr val="D8DEE9"/>
            </a:solidFill>
            <a:prstDash val="solid"/>
          </a:ln>
        </p:spPr>
      </p:sp>
      <p:sp>
        <p:nvSpPr>
          <p:cNvPr id="22" name="Text 20"/>
          <p:cNvSpPr/>
          <p:nvPr/>
        </p:nvSpPr>
        <p:spPr>
          <a:xfrm>
            <a:off x="6473952" y="3136392"/>
            <a:ext cx="1362456" cy="109728"/>
          </a:xfrm>
          <a:prstGeom prst="rect">
            <a:avLst/>
          </a:prstGeom>
          <a:noFill/>
          <a:ln/>
        </p:spPr>
        <p:txBody>
          <a:bodyPr wrap="square" lIns="0" tIns="0" rIns="0" bIns="0" rtlCol="0" anchor="ctr"/>
          <a:lstStyle/>
          <a:p>
            <a:pPr indent="0" marL="0">
              <a:buNone/>
            </a:pPr>
            <a:r>
              <a:rPr lang="en-US" sz="1080" b="1" dirty="0">
                <a:solidFill>
                  <a:srgbClr val="1F2937"/>
                </a:solidFill>
              </a:rPr>
              <a:t>Date</a:t>
            </a:r>
            <a:endParaRPr lang="en-US" sz="1080" dirty="0"/>
          </a:p>
        </p:txBody>
      </p:sp>
      <p:sp>
        <p:nvSpPr>
          <p:cNvPr id="23" name="Text 21"/>
          <p:cNvSpPr/>
          <p:nvPr/>
        </p:nvSpPr>
        <p:spPr>
          <a:xfrm>
            <a:off x="7982712" y="3136392"/>
            <a:ext cx="3191256" cy="109728"/>
          </a:xfrm>
          <a:prstGeom prst="rect">
            <a:avLst/>
          </a:prstGeom>
          <a:noFill/>
          <a:ln/>
        </p:spPr>
        <p:txBody>
          <a:bodyPr wrap="square" lIns="0" tIns="0" rIns="0" bIns="0" rtlCol="0" anchor="ctr"/>
          <a:lstStyle/>
          <a:p>
            <a:pPr indent="0" marL="0">
              <a:buNone/>
            </a:pPr>
            <a:r>
              <a:rPr lang="en-US" sz="1080" dirty="0">
                <a:solidFill>
                  <a:srgbClr val="1F2937"/>
                </a:solidFill>
              </a:rPr>
              <a:t>дата заказа</a:t>
            </a:r>
            <a:endParaRPr lang="en-US" sz="1080" dirty="0"/>
          </a:p>
        </p:txBody>
      </p:sp>
      <p:sp>
        <p:nvSpPr>
          <p:cNvPr id="24" name="Shape 22"/>
          <p:cNvSpPr/>
          <p:nvPr/>
        </p:nvSpPr>
        <p:spPr>
          <a:xfrm>
            <a:off x="6400800" y="3429000"/>
            <a:ext cx="4846320" cy="0"/>
          </a:xfrm>
          <a:prstGeom prst="line">
            <a:avLst/>
          </a:prstGeom>
          <a:noFill/>
          <a:ln w="5080">
            <a:solidFill>
              <a:srgbClr val="D8DEE9"/>
            </a:solidFill>
            <a:prstDash val="solid"/>
          </a:ln>
        </p:spPr>
      </p:sp>
      <p:sp>
        <p:nvSpPr>
          <p:cNvPr id="25" name="Text 23"/>
          <p:cNvSpPr/>
          <p:nvPr/>
        </p:nvSpPr>
        <p:spPr>
          <a:xfrm>
            <a:off x="6473952" y="3575304"/>
            <a:ext cx="1362456" cy="109728"/>
          </a:xfrm>
          <a:prstGeom prst="rect">
            <a:avLst/>
          </a:prstGeom>
          <a:noFill/>
          <a:ln/>
        </p:spPr>
        <p:txBody>
          <a:bodyPr wrap="square" lIns="0" tIns="0" rIns="0" bIns="0" rtlCol="0" anchor="ctr"/>
          <a:lstStyle/>
          <a:p>
            <a:pPr indent="0" marL="0">
              <a:buNone/>
            </a:pPr>
            <a:r>
              <a:rPr lang="en-US" sz="1080" b="1" dirty="0">
                <a:solidFill>
                  <a:srgbClr val="1F2937"/>
                </a:solidFill>
              </a:rPr>
              <a:t>NA</a:t>
            </a:r>
            <a:endParaRPr lang="en-US" sz="1080" dirty="0"/>
          </a:p>
        </p:txBody>
      </p:sp>
      <p:sp>
        <p:nvSpPr>
          <p:cNvPr id="26" name="Text 24"/>
          <p:cNvSpPr/>
          <p:nvPr/>
        </p:nvSpPr>
        <p:spPr>
          <a:xfrm>
            <a:off x="7982712" y="3575304"/>
            <a:ext cx="3191256" cy="109728"/>
          </a:xfrm>
          <a:prstGeom prst="rect">
            <a:avLst/>
          </a:prstGeom>
          <a:noFill/>
          <a:ln/>
        </p:spPr>
        <p:txBody>
          <a:bodyPr wrap="square" lIns="0" tIns="0" rIns="0" bIns="0" rtlCol="0" anchor="ctr"/>
          <a:lstStyle/>
          <a:p>
            <a:pPr indent="0" marL="0">
              <a:buNone/>
            </a:pPr>
            <a:r>
              <a:rPr lang="en-US" sz="1080" dirty="0">
                <a:solidFill>
                  <a:srgbClr val="1F2937"/>
                </a:solidFill>
              </a:rPr>
              <a:t>нет значения</a:t>
            </a:r>
            <a:endParaRPr lang="en-US" sz="1080" dirty="0"/>
          </a:p>
        </p:txBody>
      </p:sp>
      <p:sp>
        <p:nvSpPr>
          <p:cNvPr id="27" name="Text 25"/>
          <p:cNvSpPr/>
          <p:nvPr/>
        </p:nvSpPr>
        <p:spPr>
          <a:xfrm>
            <a:off x="6492240" y="4983480"/>
            <a:ext cx="4572000" cy="228600"/>
          </a:xfrm>
          <a:prstGeom prst="rect">
            <a:avLst/>
          </a:prstGeom>
          <a:noFill/>
          <a:ln/>
        </p:spPr>
        <p:txBody>
          <a:bodyPr wrap="square" rtlCol="0" anchor="ctr"/>
          <a:lstStyle/>
          <a:p>
            <a:pPr algn="ctr" indent="0" marL="0">
              <a:buNone/>
            </a:pPr>
            <a:r>
              <a:rPr lang="en-US" sz="1600" b="1" dirty="0">
                <a:solidFill>
                  <a:srgbClr val="2867B2"/>
                </a:solidFill>
              </a:rPr>
              <a:t>тип → операция</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Векторы</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R выполняет операции над наборами значений</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10</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`c()` создаёт набор значений</a:t>
            </a:r>
            <a:endParaRPr lang="en-US" sz="1700" dirty="0"/>
          </a:p>
          <a:p>
            <a:r>
              <a:rPr lang="en-US" sz="1700" dirty="0">
                <a:solidFill>
                  <a:srgbClr val="1F2937"/>
                </a:solidFill>
              </a:rPr>
              <a:t>Функции работают сразу по всему вектору</a:t>
            </a:r>
            <a:endParaRPr lang="en-US" sz="1700" dirty="0"/>
          </a:p>
          <a:p>
            <a:r>
              <a:rPr lang="en-US" sz="1700" dirty="0">
                <a:solidFill>
                  <a:srgbClr val="1F2937"/>
                </a:solidFill>
              </a:rPr>
              <a:t>Сравнение возвращает логический вектор</a:t>
            </a:r>
            <a:endParaRPr lang="en-US" sz="1700" dirty="0"/>
          </a:p>
          <a:p>
            <a:r>
              <a:rPr lang="en-US" sz="1700" dirty="0">
                <a:solidFill>
                  <a:srgbClr val="1F2937"/>
                </a:solidFill>
              </a:rPr>
              <a:t>Векторизация снижает потребность в циклах</a:t>
            </a:r>
            <a:endParaRPr lang="en-US" sz="1700" dirty="0"/>
          </a:p>
        </p:txBody>
      </p:sp>
      <p:sp>
        <p:nvSpPr>
          <p:cNvPr id="8" name="Shape 6"/>
          <p:cNvSpPr/>
          <p:nvPr/>
        </p:nvSpPr>
        <p:spPr>
          <a:xfrm>
            <a:off x="6400800" y="1554480"/>
            <a:ext cx="4983480" cy="2011680"/>
          </a:xfrm>
          <a:prstGeom prst="roundRect">
            <a:avLst>
              <a:gd name="adj" fmla="val 1818"/>
            </a:avLst>
          </a:prstGeom>
          <a:solidFill>
            <a:srgbClr val="F2F4F7"/>
          </a:solidFill>
          <a:ln w="10160">
            <a:solidFill>
              <a:srgbClr val="CAD2E0"/>
            </a:solidFill>
            <a:prstDash val="solid"/>
          </a:ln>
        </p:spPr>
      </p:sp>
      <p:sp>
        <p:nvSpPr>
          <p:cNvPr id="9" name="Text 7"/>
          <p:cNvSpPr/>
          <p:nvPr/>
        </p:nvSpPr>
        <p:spPr>
          <a:xfrm>
            <a:off x="6537960" y="1700784"/>
            <a:ext cx="4709160" cy="1737360"/>
          </a:xfrm>
          <a:prstGeom prst="rect">
            <a:avLst/>
          </a:prstGeom>
          <a:noFill/>
          <a:ln/>
        </p:spPr>
        <p:txBody>
          <a:bodyPr wrap="square" lIns="0" tIns="0" rIns="0" bIns="0" rtlCol="0" anchor="ctr">
            <a:normAutofit/>
          </a:bodyPr>
          <a:lstStyle/>
          <a:p>
            <a:pPr indent="0" marL="0">
              <a:buNone/>
            </a:pPr>
            <a:r>
              <a:rPr lang="en-US" sz="1400" dirty="0">
                <a:solidFill>
                  <a:srgbClr val="8292A2"/>
                </a:solidFill>
                <a:latin typeface="Consolas" pitchFamily="34" charset="0"/>
                <a:ea typeface="Consolas" pitchFamily="34" charset="-122"/>
                <a:cs typeface="Consolas" pitchFamily="34" charset="-120"/>
              </a:rPr>
              <a:t>1 </a:t>
            </a:r>
            <a:pPr indent="0" marL="0">
              <a:buNone/>
            </a:pPr>
            <a:r>
              <a:rPr lang="en-US" sz="1400" dirty="0">
                <a:solidFill>
                  <a:srgbClr val="FFFFFF"/>
                </a:solidFill>
                <a:latin typeface="Consolas" pitchFamily="34" charset="0"/>
                <a:ea typeface="Consolas" pitchFamily="34" charset="-122"/>
                <a:cs typeface="Consolas" pitchFamily="34" charset="-120"/>
              </a:rPr>
              <a:t>prices </a:t>
            </a:r>
            <a:pPr indent="0" marL="0">
              <a:buNone/>
            </a:pPr>
            <a:r>
              <a:rPr lang="en-US" sz="1400" dirty="0">
                <a:solidFill>
                  <a:srgbClr val="F8F8F2"/>
                </a:solidFill>
                <a:latin typeface="Consolas" pitchFamily="34" charset="0"/>
                <a:ea typeface="Consolas" pitchFamily="34" charset="-122"/>
                <a:cs typeface="Consolas" pitchFamily="34" charset="-120"/>
              </a:rPr>
              <a:t>&lt;-</a:t>
            </a:r>
            <a:pPr indent="0" marL="0">
              <a:buNone/>
            </a:pPr>
            <a:r>
              <a:rPr lang="en-US" sz="1400" dirty="0">
                <a:solidFill>
                  <a:srgbClr val="FFFFFF"/>
                </a:solidFill>
                <a:latin typeface="Consolas" pitchFamily="34" charset="0"/>
                <a:ea typeface="Consolas" pitchFamily="34" charset="-122"/>
                <a:cs typeface="Consolas" pitchFamily="34" charset="-120"/>
              </a:rPr>
              <a:t> c</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1200</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FFFFF"/>
                </a:solidFill>
                <a:latin typeface="Consolas" pitchFamily="34" charset="0"/>
                <a:ea typeface="Consolas" pitchFamily="34" charset="-122"/>
                <a:cs typeface="Consolas" pitchFamily="34" charset="-120"/>
              </a:rPr>
              <a:t>850</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FFFFF"/>
                </a:solidFill>
                <a:latin typeface="Consolas" pitchFamily="34" charset="0"/>
                <a:ea typeface="Consolas" pitchFamily="34" charset="-122"/>
                <a:cs typeface="Consolas" pitchFamily="34" charset="-120"/>
              </a:rPr>
              <a:t>2300</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FFFFF"/>
                </a:solidFill>
                <a:latin typeface="Consolas" pitchFamily="34" charset="0"/>
                <a:ea typeface="Consolas" pitchFamily="34" charset="-122"/>
                <a:cs typeface="Consolas" pitchFamily="34" charset="-120"/>
              </a:rPr>
              <a:t>1750</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2 </a:t>
            </a:r>
            <a:pPr indent="0" marL="0">
              <a:buNone/>
            </a:pPr>
            <a:r>
              <a:rPr lang="en-US" sz="1400" dirty="0">
                <a:solidFill>
                  <a:srgbClr val="FFFFFF"/>
                </a:solidFill>
                <a:latin typeface="Consolas" pitchFamily="34" charset="0"/>
                <a:ea typeface="Consolas" pitchFamily="34" charset="-122"/>
                <a:cs typeface="Consolas" pitchFamily="34" charset="-120"/>
              </a:rPr>
              <a:t>mean</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prices</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3 </a:t>
            </a:r>
            <a:pPr indent="0" marL="0">
              <a:buNone/>
            </a:pPr>
            <a:r>
              <a:rPr lang="en-US" sz="1400" dirty="0">
                <a:solidFill>
                  <a:srgbClr val="FFFFFF"/>
                </a:solidFill>
                <a:latin typeface="Consolas" pitchFamily="34" charset="0"/>
                <a:ea typeface="Consolas" pitchFamily="34" charset="-122"/>
                <a:cs typeface="Consolas" pitchFamily="34" charset="-120"/>
              </a:rPr>
              <a:t>prices </a:t>
            </a:r>
            <a:pPr indent="0" marL="0">
              <a:buNone/>
            </a:pPr>
            <a:r>
              <a:rPr lang="en-US" sz="1400" dirty="0">
                <a:solidFill>
                  <a:srgbClr val="F8F8F2"/>
                </a:solidFill>
                <a:latin typeface="Consolas" pitchFamily="34" charset="0"/>
                <a:ea typeface="Consolas" pitchFamily="34" charset="-122"/>
                <a:cs typeface="Consolas" pitchFamily="34" charset="-120"/>
              </a:rPr>
              <a:t>&gt;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FFFFF"/>
                </a:solidFill>
                <a:latin typeface="Consolas" pitchFamily="34" charset="0"/>
                <a:ea typeface="Consolas" pitchFamily="34" charset="-122"/>
                <a:cs typeface="Consolas" pitchFamily="34" charset="-120"/>
              </a:rPr>
              <a:t>1000</a:t>
            </a:r>
            <a:endParaRPr lang="en-US" sz="1500" dirty="0"/>
          </a:p>
        </p:txBody>
      </p:sp>
      <p:sp>
        <p:nvSpPr>
          <p:cNvPr id="10" name="Text 8"/>
          <p:cNvSpPr/>
          <p:nvPr/>
        </p:nvSpPr>
        <p:spPr>
          <a:xfrm>
            <a:off x="6400800" y="4069080"/>
            <a:ext cx="4983480" cy="320040"/>
          </a:xfrm>
          <a:prstGeom prst="rect">
            <a:avLst/>
          </a:prstGeom>
          <a:noFill/>
          <a:ln/>
        </p:spPr>
        <p:txBody>
          <a:bodyPr wrap="square" rtlCol="0" anchor="ctr"/>
          <a:lstStyle/>
          <a:p>
            <a:pPr algn="ctr" indent="0" marL="0">
              <a:buNone/>
            </a:pPr>
            <a:r>
              <a:rPr lang="en-US" sz="1800" b="1" dirty="0">
                <a:solidFill>
                  <a:srgbClr val="2867B2"/>
                </a:solidFill>
              </a:rPr>
              <a:t>Набор значений → функция → результат</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Табличный объект</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Строки — наблюдения, столбцы — переменные</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11</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Data frame хранит набор переменных одинаковой длины</a:t>
            </a:r>
            <a:endParaRPr lang="en-US" sz="1700" dirty="0"/>
          </a:p>
          <a:p>
            <a:r>
              <a:rPr lang="en-US" sz="1700" dirty="0">
                <a:solidFill>
                  <a:srgbClr val="1F2937"/>
                </a:solidFill>
              </a:rPr>
              <a:t>Tibble — удобная современная форма таблицы</a:t>
            </a:r>
            <a:endParaRPr lang="en-US" sz="1700" dirty="0"/>
          </a:p>
          <a:p>
            <a:r>
              <a:rPr lang="en-US" sz="1700" dirty="0">
                <a:solidFill>
                  <a:srgbClr val="1F2937"/>
                </a:solidFill>
              </a:rPr>
              <a:t>Одна строка должна иметь понятную гранулярность</a:t>
            </a:r>
            <a:endParaRPr lang="en-US" sz="1700" dirty="0"/>
          </a:p>
          <a:p>
            <a:r>
              <a:rPr lang="en-US" sz="1700" dirty="0">
                <a:solidFill>
                  <a:srgbClr val="1F2937"/>
                </a:solidFill>
              </a:rPr>
              <a:t>Каждый столбец должен иметь смысл и тип</a:t>
            </a:r>
            <a:endParaRPr lang="en-US" sz="1700" dirty="0"/>
          </a:p>
        </p:txBody>
      </p:sp>
      <p:sp>
        <p:nvSpPr>
          <p:cNvPr id="8" name="Shape 6"/>
          <p:cNvSpPr/>
          <p:nvPr/>
        </p:nvSpPr>
        <p:spPr>
          <a:xfrm>
            <a:off x="6309360" y="1417320"/>
            <a:ext cx="5093208" cy="1645920"/>
          </a:xfrm>
          <a:prstGeom prst="roundRect">
            <a:avLst>
              <a:gd name="adj" fmla="val 2222"/>
            </a:avLst>
          </a:prstGeom>
          <a:solidFill>
            <a:srgbClr val="FFFFFF"/>
          </a:solidFill>
          <a:ln w="10160">
            <a:solidFill>
              <a:srgbClr val="D8DEE9"/>
            </a:solidFill>
            <a:prstDash val="solid"/>
          </a:ln>
        </p:spPr>
      </p:sp>
      <p:sp>
        <p:nvSpPr>
          <p:cNvPr id="9" name="Shape 7"/>
          <p:cNvSpPr/>
          <p:nvPr/>
        </p:nvSpPr>
        <p:spPr>
          <a:xfrm>
            <a:off x="6309360" y="1417320"/>
            <a:ext cx="5093208" cy="411480"/>
          </a:xfrm>
          <a:prstGeom prst="rect">
            <a:avLst/>
          </a:prstGeom>
          <a:solidFill>
            <a:srgbClr val="EAF2FF"/>
          </a:solidFill>
          <a:ln w="5080">
            <a:solidFill>
              <a:srgbClr val="D8DEE9"/>
            </a:solidFill>
            <a:prstDash val="solid"/>
          </a:ln>
        </p:spPr>
      </p:sp>
      <p:sp>
        <p:nvSpPr>
          <p:cNvPr id="10" name="Text 8"/>
          <p:cNvSpPr/>
          <p:nvPr/>
        </p:nvSpPr>
        <p:spPr>
          <a:xfrm>
            <a:off x="6355080" y="1554480"/>
            <a:ext cx="1170432" cy="109728"/>
          </a:xfrm>
          <a:prstGeom prst="rect">
            <a:avLst/>
          </a:prstGeom>
          <a:noFill/>
          <a:ln/>
        </p:spPr>
        <p:txBody>
          <a:bodyPr wrap="square" lIns="0" tIns="0" rIns="0" bIns="0" rtlCol="0" anchor="ctr">
            <a:normAutofit/>
          </a:bodyPr>
          <a:lstStyle/>
          <a:p>
            <a:pPr algn="ctr" indent="0" marL="0">
              <a:buNone/>
            </a:pPr>
            <a:r>
              <a:rPr lang="en-US" sz="970" b="1" dirty="0">
                <a:solidFill>
                  <a:srgbClr val="2867B2"/>
                </a:solidFill>
              </a:rPr>
              <a:t>order_id</a:t>
            </a:r>
            <a:endParaRPr lang="en-US" sz="970" dirty="0"/>
          </a:p>
        </p:txBody>
      </p:sp>
      <p:sp>
        <p:nvSpPr>
          <p:cNvPr id="11" name="Text 9"/>
          <p:cNvSpPr/>
          <p:nvPr/>
        </p:nvSpPr>
        <p:spPr>
          <a:xfrm>
            <a:off x="7616952" y="1554480"/>
            <a:ext cx="1143000" cy="109728"/>
          </a:xfrm>
          <a:prstGeom prst="rect">
            <a:avLst/>
          </a:prstGeom>
          <a:noFill/>
          <a:ln/>
        </p:spPr>
        <p:txBody>
          <a:bodyPr wrap="square" lIns="0" tIns="0" rIns="0" bIns="0" rtlCol="0" anchor="ctr">
            <a:normAutofit/>
          </a:bodyPr>
          <a:lstStyle/>
          <a:p>
            <a:pPr algn="ctr" indent="0" marL="0">
              <a:buNone/>
            </a:pPr>
            <a:r>
              <a:rPr lang="en-US" sz="970" b="1" dirty="0">
                <a:solidFill>
                  <a:srgbClr val="2867B2"/>
                </a:solidFill>
              </a:rPr>
              <a:t>region</a:t>
            </a:r>
            <a:endParaRPr lang="en-US" sz="970" dirty="0"/>
          </a:p>
        </p:txBody>
      </p:sp>
      <p:sp>
        <p:nvSpPr>
          <p:cNvPr id="12" name="Text 10"/>
          <p:cNvSpPr/>
          <p:nvPr/>
        </p:nvSpPr>
        <p:spPr>
          <a:xfrm>
            <a:off x="8851392" y="1554480"/>
            <a:ext cx="1115568" cy="109728"/>
          </a:xfrm>
          <a:prstGeom prst="rect">
            <a:avLst/>
          </a:prstGeom>
          <a:noFill/>
          <a:ln/>
        </p:spPr>
        <p:txBody>
          <a:bodyPr wrap="square" lIns="0" tIns="0" rIns="0" bIns="0" rtlCol="0" anchor="ctr">
            <a:normAutofit/>
          </a:bodyPr>
          <a:lstStyle/>
          <a:p>
            <a:pPr algn="ctr" indent="0" marL="0">
              <a:buNone/>
            </a:pPr>
            <a:r>
              <a:rPr lang="en-US" sz="970" b="1" dirty="0">
                <a:solidFill>
                  <a:srgbClr val="2867B2"/>
                </a:solidFill>
              </a:rPr>
              <a:t>quantity</a:t>
            </a:r>
            <a:endParaRPr lang="en-US" sz="970" dirty="0"/>
          </a:p>
        </p:txBody>
      </p:sp>
      <p:sp>
        <p:nvSpPr>
          <p:cNvPr id="13" name="Text 11"/>
          <p:cNvSpPr/>
          <p:nvPr/>
        </p:nvSpPr>
        <p:spPr>
          <a:xfrm>
            <a:off x="10058400" y="1554480"/>
            <a:ext cx="1298448" cy="109728"/>
          </a:xfrm>
          <a:prstGeom prst="rect">
            <a:avLst/>
          </a:prstGeom>
          <a:noFill/>
          <a:ln/>
        </p:spPr>
        <p:txBody>
          <a:bodyPr wrap="square" lIns="0" tIns="0" rIns="0" bIns="0" rtlCol="0" anchor="ctr">
            <a:normAutofit/>
          </a:bodyPr>
          <a:lstStyle/>
          <a:p>
            <a:pPr algn="ctr" indent="0" marL="0">
              <a:buNone/>
            </a:pPr>
            <a:r>
              <a:rPr lang="en-US" sz="970" b="1" dirty="0">
                <a:solidFill>
                  <a:srgbClr val="2867B2"/>
                </a:solidFill>
              </a:rPr>
              <a:t>unit_price</a:t>
            </a:r>
            <a:endParaRPr lang="en-US" sz="970" dirty="0"/>
          </a:p>
        </p:txBody>
      </p:sp>
      <p:sp>
        <p:nvSpPr>
          <p:cNvPr id="14" name="Text 12"/>
          <p:cNvSpPr/>
          <p:nvPr/>
        </p:nvSpPr>
        <p:spPr>
          <a:xfrm>
            <a:off x="6355080" y="1965960"/>
            <a:ext cx="1170432" cy="109728"/>
          </a:xfrm>
          <a:prstGeom prst="rect">
            <a:avLst/>
          </a:prstGeom>
          <a:noFill/>
          <a:ln/>
        </p:spPr>
        <p:txBody>
          <a:bodyPr wrap="square" lIns="0" tIns="0" rIns="0" bIns="0" rtlCol="0" anchor="ctr">
            <a:normAutofit/>
          </a:bodyPr>
          <a:lstStyle/>
          <a:p>
            <a:pPr algn="ctr" indent="0" marL="0">
              <a:buNone/>
            </a:pPr>
            <a:r>
              <a:rPr lang="en-US" sz="970" dirty="0">
                <a:solidFill>
                  <a:srgbClr val="1F2937"/>
                </a:solidFill>
              </a:rPr>
              <a:t>ORD-001</a:t>
            </a:r>
            <a:endParaRPr lang="en-US" sz="970" dirty="0"/>
          </a:p>
        </p:txBody>
      </p:sp>
      <p:sp>
        <p:nvSpPr>
          <p:cNvPr id="15" name="Text 13"/>
          <p:cNvSpPr/>
          <p:nvPr/>
        </p:nvSpPr>
        <p:spPr>
          <a:xfrm>
            <a:off x="7616952" y="1965960"/>
            <a:ext cx="1143000" cy="109728"/>
          </a:xfrm>
          <a:prstGeom prst="rect">
            <a:avLst/>
          </a:prstGeom>
          <a:noFill/>
          <a:ln/>
        </p:spPr>
        <p:txBody>
          <a:bodyPr wrap="square" lIns="0" tIns="0" rIns="0" bIns="0" rtlCol="0" anchor="ctr">
            <a:normAutofit/>
          </a:bodyPr>
          <a:lstStyle/>
          <a:p>
            <a:pPr algn="ctr" indent="0" marL="0">
              <a:buNone/>
            </a:pPr>
            <a:r>
              <a:rPr lang="en-US" sz="970" dirty="0">
                <a:solidFill>
                  <a:srgbClr val="1F2937"/>
                </a:solidFill>
              </a:rPr>
              <a:t>Москва</a:t>
            </a:r>
            <a:endParaRPr lang="en-US" sz="970" dirty="0"/>
          </a:p>
        </p:txBody>
      </p:sp>
      <p:sp>
        <p:nvSpPr>
          <p:cNvPr id="16" name="Text 14"/>
          <p:cNvSpPr/>
          <p:nvPr/>
        </p:nvSpPr>
        <p:spPr>
          <a:xfrm>
            <a:off x="8851392" y="1965960"/>
            <a:ext cx="1115568" cy="109728"/>
          </a:xfrm>
          <a:prstGeom prst="rect">
            <a:avLst/>
          </a:prstGeom>
          <a:noFill/>
          <a:ln/>
        </p:spPr>
        <p:txBody>
          <a:bodyPr wrap="square" lIns="0" tIns="0" rIns="0" bIns="0" rtlCol="0" anchor="ctr">
            <a:normAutofit/>
          </a:bodyPr>
          <a:lstStyle/>
          <a:p>
            <a:pPr algn="ctr" indent="0" marL="0">
              <a:buNone/>
            </a:pPr>
            <a:r>
              <a:rPr lang="en-US" sz="970" dirty="0">
                <a:solidFill>
                  <a:srgbClr val="1F2937"/>
                </a:solidFill>
              </a:rPr>
              <a:t>2</a:t>
            </a:r>
            <a:endParaRPr lang="en-US" sz="970" dirty="0"/>
          </a:p>
        </p:txBody>
      </p:sp>
      <p:sp>
        <p:nvSpPr>
          <p:cNvPr id="17" name="Text 15"/>
          <p:cNvSpPr/>
          <p:nvPr/>
        </p:nvSpPr>
        <p:spPr>
          <a:xfrm>
            <a:off x="10058400" y="1965960"/>
            <a:ext cx="1298448" cy="109728"/>
          </a:xfrm>
          <a:prstGeom prst="rect">
            <a:avLst/>
          </a:prstGeom>
          <a:noFill/>
          <a:ln/>
        </p:spPr>
        <p:txBody>
          <a:bodyPr wrap="square" lIns="0" tIns="0" rIns="0" bIns="0" rtlCol="0" anchor="ctr">
            <a:normAutofit/>
          </a:bodyPr>
          <a:lstStyle/>
          <a:p>
            <a:pPr algn="ctr" indent="0" marL="0">
              <a:buNone/>
            </a:pPr>
            <a:r>
              <a:rPr lang="en-US" sz="970" dirty="0">
                <a:solidFill>
                  <a:srgbClr val="1F2937"/>
                </a:solidFill>
              </a:rPr>
              <a:t>12500</a:t>
            </a:r>
            <a:endParaRPr lang="en-US" sz="970" dirty="0"/>
          </a:p>
        </p:txBody>
      </p:sp>
      <p:sp>
        <p:nvSpPr>
          <p:cNvPr id="18" name="Text 16"/>
          <p:cNvSpPr/>
          <p:nvPr/>
        </p:nvSpPr>
        <p:spPr>
          <a:xfrm>
            <a:off x="6355080" y="2377440"/>
            <a:ext cx="1170432" cy="109728"/>
          </a:xfrm>
          <a:prstGeom prst="rect">
            <a:avLst/>
          </a:prstGeom>
          <a:noFill/>
          <a:ln/>
        </p:spPr>
        <p:txBody>
          <a:bodyPr wrap="square" lIns="0" tIns="0" rIns="0" bIns="0" rtlCol="0" anchor="ctr">
            <a:normAutofit/>
          </a:bodyPr>
          <a:lstStyle/>
          <a:p>
            <a:pPr algn="ctr" indent="0" marL="0">
              <a:buNone/>
            </a:pPr>
            <a:r>
              <a:rPr lang="en-US" sz="970" dirty="0">
                <a:solidFill>
                  <a:srgbClr val="1F2937"/>
                </a:solidFill>
              </a:rPr>
              <a:t>ORD-002</a:t>
            </a:r>
            <a:endParaRPr lang="en-US" sz="970" dirty="0"/>
          </a:p>
        </p:txBody>
      </p:sp>
      <p:sp>
        <p:nvSpPr>
          <p:cNvPr id="19" name="Text 17"/>
          <p:cNvSpPr/>
          <p:nvPr/>
        </p:nvSpPr>
        <p:spPr>
          <a:xfrm>
            <a:off x="7616952" y="2377440"/>
            <a:ext cx="1143000" cy="109728"/>
          </a:xfrm>
          <a:prstGeom prst="rect">
            <a:avLst/>
          </a:prstGeom>
          <a:noFill/>
          <a:ln/>
        </p:spPr>
        <p:txBody>
          <a:bodyPr wrap="square" lIns="0" tIns="0" rIns="0" bIns="0" rtlCol="0" anchor="ctr">
            <a:normAutofit/>
          </a:bodyPr>
          <a:lstStyle/>
          <a:p>
            <a:pPr algn="ctr" indent="0" marL="0">
              <a:buNone/>
            </a:pPr>
            <a:r>
              <a:rPr lang="en-US" sz="970" dirty="0">
                <a:solidFill>
                  <a:srgbClr val="1F2937"/>
                </a:solidFill>
              </a:rPr>
              <a:t>Казань</a:t>
            </a:r>
            <a:endParaRPr lang="en-US" sz="970" dirty="0"/>
          </a:p>
        </p:txBody>
      </p:sp>
      <p:sp>
        <p:nvSpPr>
          <p:cNvPr id="20" name="Text 18"/>
          <p:cNvSpPr/>
          <p:nvPr/>
        </p:nvSpPr>
        <p:spPr>
          <a:xfrm>
            <a:off x="8851392" y="2377440"/>
            <a:ext cx="1115568" cy="109728"/>
          </a:xfrm>
          <a:prstGeom prst="rect">
            <a:avLst/>
          </a:prstGeom>
          <a:noFill/>
          <a:ln/>
        </p:spPr>
        <p:txBody>
          <a:bodyPr wrap="square" lIns="0" tIns="0" rIns="0" bIns="0" rtlCol="0" anchor="ctr">
            <a:normAutofit/>
          </a:bodyPr>
          <a:lstStyle/>
          <a:p>
            <a:pPr algn="ctr" indent="0" marL="0">
              <a:buNone/>
            </a:pPr>
            <a:r>
              <a:rPr lang="en-US" sz="970" dirty="0">
                <a:solidFill>
                  <a:srgbClr val="1F2937"/>
                </a:solidFill>
              </a:rPr>
              <a:t>1</a:t>
            </a:r>
            <a:endParaRPr lang="en-US" sz="970" dirty="0"/>
          </a:p>
        </p:txBody>
      </p:sp>
      <p:sp>
        <p:nvSpPr>
          <p:cNvPr id="21" name="Text 19"/>
          <p:cNvSpPr/>
          <p:nvPr/>
        </p:nvSpPr>
        <p:spPr>
          <a:xfrm>
            <a:off x="10058400" y="2377440"/>
            <a:ext cx="1298448" cy="109728"/>
          </a:xfrm>
          <a:prstGeom prst="rect">
            <a:avLst/>
          </a:prstGeom>
          <a:noFill/>
          <a:ln/>
        </p:spPr>
        <p:txBody>
          <a:bodyPr wrap="square" lIns="0" tIns="0" rIns="0" bIns="0" rtlCol="0" anchor="ctr">
            <a:normAutofit/>
          </a:bodyPr>
          <a:lstStyle/>
          <a:p>
            <a:pPr algn="ctr" indent="0" marL="0">
              <a:buNone/>
            </a:pPr>
            <a:r>
              <a:rPr lang="en-US" sz="970" dirty="0">
                <a:solidFill>
                  <a:srgbClr val="1F2937"/>
                </a:solidFill>
              </a:rPr>
              <a:t>53000</a:t>
            </a:r>
            <a:endParaRPr lang="en-US" sz="970" dirty="0"/>
          </a:p>
        </p:txBody>
      </p:sp>
      <p:sp>
        <p:nvSpPr>
          <p:cNvPr id="22" name="Text 20"/>
          <p:cNvSpPr/>
          <p:nvPr/>
        </p:nvSpPr>
        <p:spPr>
          <a:xfrm>
            <a:off x="6355080" y="2788920"/>
            <a:ext cx="1170432" cy="109728"/>
          </a:xfrm>
          <a:prstGeom prst="rect">
            <a:avLst/>
          </a:prstGeom>
          <a:noFill/>
          <a:ln/>
        </p:spPr>
        <p:txBody>
          <a:bodyPr wrap="square" lIns="0" tIns="0" rIns="0" bIns="0" rtlCol="0" anchor="ctr">
            <a:normAutofit/>
          </a:bodyPr>
          <a:lstStyle/>
          <a:p>
            <a:pPr algn="ctr" indent="0" marL="0">
              <a:buNone/>
            </a:pPr>
            <a:r>
              <a:rPr lang="en-US" sz="970" dirty="0">
                <a:solidFill>
                  <a:srgbClr val="1F2937"/>
                </a:solidFill>
              </a:rPr>
              <a:t>ORD-003</a:t>
            </a:r>
            <a:endParaRPr lang="en-US" sz="970" dirty="0"/>
          </a:p>
        </p:txBody>
      </p:sp>
      <p:sp>
        <p:nvSpPr>
          <p:cNvPr id="23" name="Text 21"/>
          <p:cNvSpPr/>
          <p:nvPr/>
        </p:nvSpPr>
        <p:spPr>
          <a:xfrm>
            <a:off x="7616952" y="2788920"/>
            <a:ext cx="1143000" cy="109728"/>
          </a:xfrm>
          <a:prstGeom prst="rect">
            <a:avLst/>
          </a:prstGeom>
          <a:noFill/>
          <a:ln/>
        </p:spPr>
        <p:txBody>
          <a:bodyPr wrap="square" lIns="0" tIns="0" rIns="0" bIns="0" rtlCol="0" anchor="ctr">
            <a:normAutofit/>
          </a:bodyPr>
          <a:lstStyle/>
          <a:p>
            <a:pPr algn="ctr" indent="0" marL="0">
              <a:buNone/>
            </a:pPr>
            <a:r>
              <a:rPr lang="en-US" sz="970" dirty="0">
                <a:solidFill>
                  <a:srgbClr val="1F2937"/>
                </a:solidFill>
              </a:rPr>
              <a:t>СПб</a:t>
            </a:r>
            <a:endParaRPr lang="en-US" sz="970" dirty="0"/>
          </a:p>
        </p:txBody>
      </p:sp>
      <p:sp>
        <p:nvSpPr>
          <p:cNvPr id="24" name="Text 22"/>
          <p:cNvSpPr/>
          <p:nvPr/>
        </p:nvSpPr>
        <p:spPr>
          <a:xfrm>
            <a:off x="8851392" y="2788920"/>
            <a:ext cx="1115568" cy="109728"/>
          </a:xfrm>
          <a:prstGeom prst="rect">
            <a:avLst/>
          </a:prstGeom>
          <a:noFill/>
          <a:ln/>
        </p:spPr>
        <p:txBody>
          <a:bodyPr wrap="square" lIns="0" tIns="0" rIns="0" bIns="0" rtlCol="0" anchor="ctr">
            <a:normAutofit/>
          </a:bodyPr>
          <a:lstStyle/>
          <a:p>
            <a:pPr algn="ctr" indent="0" marL="0">
              <a:buNone/>
            </a:pPr>
            <a:r>
              <a:rPr lang="en-US" sz="970" dirty="0">
                <a:solidFill>
                  <a:srgbClr val="1F2937"/>
                </a:solidFill>
              </a:rPr>
              <a:t>3</a:t>
            </a:r>
            <a:endParaRPr lang="en-US" sz="970" dirty="0"/>
          </a:p>
        </p:txBody>
      </p:sp>
      <p:sp>
        <p:nvSpPr>
          <p:cNvPr id="25" name="Text 23"/>
          <p:cNvSpPr/>
          <p:nvPr/>
        </p:nvSpPr>
        <p:spPr>
          <a:xfrm>
            <a:off x="10058400" y="2788920"/>
            <a:ext cx="1298448" cy="109728"/>
          </a:xfrm>
          <a:prstGeom prst="rect">
            <a:avLst/>
          </a:prstGeom>
          <a:noFill/>
          <a:ln/>
        </p:spPr>
        <p:txBody>
          <a:bodyPr wrap="square" lIns="0" tIns="0" rIns="0" bIns="0" rtlCol="0" anchor="ctr">
            <a:normAutofit/>
          </a:bodyPr>
          <a:lstStyle/>
          <a:p>
            <a:pPr algn="ctr" indent="0" marL="0">
              <a:buNone/>
            </a:pPr>
            <a:r>
              <a:rPr lang="en-US" sz="970" dirty="0">
                <a:solidFill>
                  <a:srgbClr val="1F2937"/>
                </a:solidFill>
              </a:rPr>
              <a:t>8700</a:t>
            </a:r>
            <a:endParaRPr lang="en-US" sz="970" dirty="0"/>
          </a:p>
        </p:txBody>
      </p:sp>
      <p:sp>
        <p:nvSpPr>
          <p:cNvPr id="26" name="Text 24"/>
          <p:cNvSpPr/>
          <p:nvPr/>
        </p:nvSpPr>
        <p:spPr>
          <a:xfrm>
            <a:off x="6446520" y="4251960"/>
            <a:ext cx="4892040" cy="274320"/>
          </a:xfrm>
          <a:prstGeom prst="rect">
            <a:avLst/>
          </a:prstGeom>
          <a:noFill/>
          <a:ln/>
        </p:spPr>
        <p:txBody>
          <a:bodyPr wrap="square" rtlCol="0" anchor="ctr"/>
          <a:lstStyle/>
          <a:p>
            <a:pPr algn="ctr" indent="0" marL="0">
              <a:buNone/>
            </a:pPr>
            <a:r>
              <a:rPr lang="en-US" sz="1700" b="1" dirty="0">
                <a:solidFill>
                  <a:srgbClr val="2E8B57"/>
                </a:solidFill>
              </a:rPr>
              <a:t>одна строка = одна транзакция</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Пакеты</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Пакет расширяет возможности R</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12</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`install.packages()` устанавливает пакет</a:t>
            </a:r>
            <a:endParaRPr lang="en-US" sz="1700" dirty="0"/>
          </a:p>
          <a:p>
            <a:r>
              <a:rPr lang="en-US" sz="1700" dirty="0">
                <a:solidFill>
                  <a:srgbClr val="1F2937"/>
                </a:solidFill>
              </a:rPr>
              <a:t>`library()` подключает пакет в текущей сессии</a:t>
            </a:r>
            <a:endParaRPr lang="en-US" sz="1700" dirty="0"/>
          </a:p>
          <a:p>
            <a:r>
              <a:rPr lang="en-US" sz="1700" dirty="0">
                <a:solidFill>
                  <a:srgbClr val="1F2937"/>
                </a:solidFill>
              </a:rPr>
              <a:t>`tidyverse` объединяет инструменты обработки и графики</a:t>
            </a:r>
            <a:endParaRPr lang="en-US" sz="1700" dirty="0"/>
          </a:p>
          <a:p>
            <a:r>
              <a:rPr lang="en-US" sz="1700" dirty="0">
                <a:solidFill>
                  <a:srgbClr val="1F2937"/>
                </a:solidFill>
              </a:rPr>
              <a:t>Ошибки пакетов читаем в консоли</a:t>
            </a:r>
            <a:endParaRPr lang="en-US" sz="1700" dirty="0"/>
          </a:p>
        </p:txBody>
      </p:sp>
      <p:sp>
        <p:nvSpPr>
          <p:cNvPr id="8" name="Shape 6"/>
          <p:cNvSpPr/>
          <p:nvPr/>
        </p:nvSpPr>
        <p:spPr>
          <a:xfrm>
            <a:off x="6400800" y="1554480"/>
            <a:ext cx="4983480" cy="1325880"/>
          </a:xfrm>
          <a:prstGeom prst="roundRect">
            <a:avLst>
              <a:gd name="adj" fmla="val 2759"/>
            </a:avLst>
          </a:prstGeom>
          <a:solidFill>
            <a:srgbClr val="F2F4F7"/>
          </a:solidFill>
          <a:ln w="10160">
            <a:solidFill>
              <a:srgbClr val="CAD2E0"/>
            </a:solidFill>
            <a:prstDash val="solid"/>
          </a:ln>
        </p:spPr>
      </p:sp>
      <p:sp>
        <p:nvSpPr>
          <p:cNvPr id="9" name="Text 7"/>
          <p:cNvSpPr/>
          <p:nvPr/>
        </p:nvSpPr>
        <p:spPr>
          <a:xfrm>
            <a:off x="6537960" y="1700784"/>
            <a:ext cx="4709160" cy="1051560"/>
          </a:xfrm>
          <a:prstGeom prst="rect">
            <a:avLst/>
          </a:prstGeom>
          <a:noFill/>
          <a:ln/>
        </p:spPr>
        <p:txBody>
          <a:bodyPr wrap="square" lIns="0" tIns="0" rIns="0" bIns="0" rtlCol="0" anchor="ctr">
            <a:normAutofit/>
          </a:bodyPr>
          <a:lstStyle/>
          <a:p>
            <a:pPr indent="0" marL="0">
              <a:buNone/>
            </a:pPr>
            <a:r>
              <a:rPr lang="en-US" sz="1400" dirty="0">
                <a:solidFill>
                  <a:srgbClr val="8292A2"/>
                </a:solidFill>
                <a:latin typeface="Consolas" pitchFamily="34" charset="0"/>
                <a:ea typeface="Consolas" pitchFamily="34" charset="-122"/>
                <a:cs typeface="Consolas" pitchFamily="34" charset="-120"/>
              </a:rPr>
              <a:t>1 </a:t>
            </a:r>
            <a:pPr indent="0" marL="0">
              <a:buNone/>
            </a:pPr>
            <a:r>
              <a:rPr lang="en-US" sz="1400" dirty="0">
                <a:solidFill>
                  <a:srgbClr val="FFFFFF"/>
                </a:solidFill>
                <a:latin typeface="Consolas" pitchFamily="34" charset="0"/>
                <a:ea typeface="Consolas" pitchFamily="34" charset="-122"/>
                <a:cs typeface="Consolas" pitchFamily="34" charset="-120"/>
              </a:rPr>
              <a:t>install.packages</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"tidyverse"</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2 </a:t>
            </a:r>
            <a:pPr indent="0" marL="0">
              <a:buNone/>
            </a:pPr>
            <a:r>
              <a:rPr lang="en-US" sz="1400" dirty="0">
                <a:solidFill>
                  <a:srgbClr val="FFFFFF"/>
                </a:solidFill>
                <a:latin typeface="Consolas" pitchFamily="34" charset="0"/>
                <a:ea typeface="Consolas" pitchFamily="34" charset="-122"/>
                <a:cs typeface="Consolas" pitchFamily="34" charset="-120"/>
              </a:rPr>
              <a:t>library</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tidyverse</a:t>
            </a:r>
            <a:pPr indent="0" marL="0">
              <a:buNone/>
            </a:pPr>
            <a:r>
              <a:rPr lang="en-US" sz="1400" dirty="0">
                <a:solidFill>
                  <a:srgbClr val="F8F8F2"/>
                </a:solidFill>
                <a:latin typeface="Consolas" pitchFamily="34" charset="0"/>
                <a:ea typeface="Consolas" pitchFamily="34" charset="-122"/>
                <a:cs typeface="Consolas" pitchFamily="34" charset="-120"/>
              </a:rPr>
              <a:t>)</a:t>
            </a:r>
            <a:endParaRPr lang="en-US" sz="1600" dirty="0"/>
          </a:p>
        </p:txBody>
      </p:sp>
      <p:sp>
        <p:nvSpPr>
          <p:cNvPr id="10" name="Shape 8"/>
          <p:cNvSpPr/>
          <p:nvPr/>
        </p:nvSpPr>
        <p:spPr>
          <a:xfrm>
            <a:off x="8503920" y="3063240"/>
            <a:ext cx="731520" cy="640080"/>
          </a:xfrm>
          <a:prstGeom prst="downArrow">
            <a:avLst/>
          </a:prstGeom>
          <a:solidFill>
            <a:srgbClr val="2867B2"/>
          </a:solidFill>
          <a:ln w="12700">
            <a:solidFill>
              <a:srgbClr val="2867B2"/>
            </a:solidFill>
            <a:prstDash val="solid"/>
          </a:ln>
        </p:spPr>
      </p:sp>
      <p:sp>
        <p:nvSpPr>
          <p:cNvPr id="11" name="Text 9"/>
          <p:cNvSpPr/>
          <p:nvPr/>
        </p:nvSpPr>
        <p:spPr>
          <a:xfrm>
            <a:off x="6400800" y="4023360"/>
            <a:ext cx="4983480" cy="320040"/>
          </a:xfrm>
          <a:prstGeom prst="rect">
            <a:avLst/>
          </a:prstGeom>
          <a:noFill/>
          <a:ln/>
        </p:spPr>
        <p:txBody>
          <a:bodyPr wrap="square" rtlCol="0" anchor="ctr"/>
          <a:lstStyle/>
          <a:p>
            <a:pPr algn="ctr" indent="0" marL="0">
              <a:buNone/>
            </a:pPr>
            <a:r>
              <a:rPr lang="en-US" sz="1800" b="1" dirty="0">
                <a:solidFill>
                  <a:srgbClr val="102033"/>
                </a:solidFill>
              </a:rPr>
              <a:t>установка ≠ подключение</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Исходный CSV</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Перед анализом изучаем структуру</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13</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Файл: `data/retail_sales.csv`</a:t>
            </a:r>
            <a:endParaRPr lang="en-US" sz="1700" dirty="0"/>
          </a:p>
          <a:p>
            <a:r>
              <a:rPr lang="en-US" sz="1700" dirty="0">
                <a:solidFill>
                  <a:srgbClr val="1F2937"/>
                </a:solidFill>
              </a:rPr>
              <a:t>726 строк и 10 столбцов</a:t>
            </a:r>
            <a:endParaRPr lang="en-US" sz="1700" dirty="0"/>
          </a:p>
          <a:p>
            <a:r>
              <a:rPr lang="en-US" sz="1700" dirty="0">
                <a:solidFill>
                  <a:srgbClr val="1F2937"/>
                </a:solidFill>
              </a:rPr>
              <a:t>Одна строка — транзакция продажи</a:t>
            </a:r>
            <a:endParaRPr lang="en-US" sz="1700" dirty="0"/>
          </a:p>
          <a:p>
            <a:r>
              <a:rPr lang="en-US" sz="1700" dirty="0">
                <a:solidFill>
                  <a:srgbClr val="1F2937"/>
                </a:solidFill>
              </a:rPr>
              <a:t>Есть контролируемые ошибки качества</a:t>
            </a:r>
            <a:endParaRPr lang="en-US" sz="1700" dirty="0"/>
          </a:p>
        </p:txBody>
      </p:sp>
      <p:sp>
        <p:nvSpPr>
          <p:cNvPr id="8" name="Shape 6"/>
          <p:cNvSpPr/>
          <p:nvPr/>
        </p:nvSpPr>
        <p:spPr>
          <a:xfrm>
            <a:off x="6309360" y="1325880"/>
            <a:ext cx="5074920" cy="1609344"/>
          </a:xfrm>
          <a:prstGeom prst="roundRect">
            <a:avLst>
              <a:gd name="adj" fmla="val 2273"/>
            </a:avLst>
          </a:prstGeom>
          <a:solidFill>
            <a:srgbClr val="FFFFFF"/>
          </a:solidFill>
          <a:ln w="10160">
            <a:solidFill>
              <a:srgbClr val="D8DEE9"/>
            </a:solidFill>
            <a:prstDash val="solid"/>
          </a:ln>
        </p:spPr>
      </p:sp>
      <p:sp>
        <p:nvSpPr>
          <p:cNvPr id="9" name="Shape 7"/>
          <p:cNvSpPr/>
          <p:nvPr/>
        </p:nvSpPr>
        <p:spPr>
          <a:xfrm>
            <a:off x="6309360" y="1325880"/>
            <a:ext cx="5074920" cy="402336"/>
          </a:xfrm>
          <a:prstGeom prst="rect">
            <a:avLst/>
          </a:prstGeom>
          <a:solidFill>
            <a:srgbClr val="EAF2FF"/>
          </a:solidFill>
          <a:ln w="5080">
            <a:solidFill>
              <a:srgbClr val="D8DEE9"/>
            </a:solidFill>
            <a:prstDash val="solid"/>
          </a:ln>
        </p:spPr>
      </p:sp>
      <p:sp>
        <p:nvSpPr>
          <p:cNvPr id="10" name="Text 8"/>
          <p:cNvSpPr/>
          <p:nvPr/>
        </p:nvSpPr>
        <p:spPr>
          <a:xfrm>
            <a:off x="6345936" y="1463040"/>
            <a:ext cx="1252728" cy="109728"/>
          </a:xfrm>
          <a:prstGeom prst="rect">
            <a:avLst/>
          </a:prstGeom>
          <a:noFill/>
          <a:ln/>
        </p:spPr>
        <p:txBody>
          <a:bodyPr wrap="square" lIns="0" tIns="0" rIns="0" bIns="0" rtlCol="0" anchor="ctr">
            <a:normAutofit/>
          </a:bodyPr>
          <a:lstStyle/>
          <a:p>
            <a:pPr algn="ctr" indent="0" marL="0">
              <a:buNone/>
            </a:pPr>
            <a:r>
              <a:rPr lang="en-US" sz="920" b="1" dirty="0">
                <a:solidFill>
                  <a:srgbClr val="2867B2"/>
                </a:solidFill>
              </a:rPr>
              <a:t>order_date</a:t>
            </a:r>
            <a:endParaRPr lang="en-US" sz="920" dirty="0"/>
          </a:p>
        </p:txBody>
      </p:sp>
      <p:sp>
        <p:nvSpPr>
          <p:cNvPr id="11" name="Text 9"/>
          <p:cNvSpPr/>
          <p:nvPr/>
        </p:nvSpPr>
        <p:spPr>
          <a:xfrm>
            <a:off x="7671816" y="1463040"/>
            <a:ext cx="1161288" cy="109728"/>
          </a:xfrm>
          <a:prstGeom prst="rect">
            <a:avLst/>
          </a:prstGeom>
          <a:noFill/>
          <a:ln/>
        </p:spPr>
        <p:txBody>
          <a:bodyPr wrap="square" lIns="0" tIns="0" rIns="0" bIns="0" rtlCol="0" anchor="ctr">
            <a:normAutofit/>
          </a:bodyPr>
          <a:lstStyle/>
          <a:p>
            <a:pPr algn="ctr" indent="0" marL="0">
              <a:buNone/>
            </a:pPr>
            <a:r>
              <a:rPr lang="en-US" sz="920" b="1" dirty="0">
                <a:solidFill>
                  <a:srgbClr val="2867B2"/>
                </a:solidFill>
              </a:rPr>
              <a:t>region</a:t>
            </a:r>
            <a:endParaRPr lang="en-US" sz="920" dirty="0"/>
          </a:p>
        </p:txBody>
      </p:sp>
      <p:sp>
        <p:nvSpPr>
          <p:cNvPr id="12" name="Text 10"/>
          <p:cNvSpPr/>
          <p:nvPr/>
        </p:nvSpPr>
        <p:spPr>
          <a:xfrm>
            <a:off x="8906256" y="1463040"/>
            <a:ext cx="1344168" cy="109728"/>
          </a:xfrm>
          <a:prstGeom prst="rect">
            <a:avLst/>
          </a:prstGeom>
          <a:noFill/>
          <a:ln/>
        </p:spPr>
        <p:txBody>
          <a:bodyPr wrap="square" lIns="0" tIns="0" rIns="0" bIns="0" rtlCol="0" anchor="ctr">
            <a:normAutofit/>
          </a:bodyPr>
          <a:lstStyle/>
          <a:p>
            <a:pPr algn="ctr" indent="0" marL="0">
              <a:buNone/>
            </a:pPr>
            <a:r>
              <a:rPr lang="en-US" sz="920" b="1" dirty="0">
                <a:solidFill>
                  <a:srgbClr val="2867B2"/>
                </a:solidFill>
              </a:rPr>
              <a:t>category</a:t>
            </a:r>
            <a:endParaRPr lang="en-US" sz="920" dirty="0"/>
          </a:p>
        </p:txBody>
      </p:sp>
      <p:sp>
        <p:nvSpPr>
          <p:cNvPr id="13" name="Text 11"/>
          <p:cNvSpPr/>
          <p:nvPr/>
        </p:nvSpPr>
        <p:spPr>
          <a:xfrm>
            <a:off x="10323576" y="1463040"/>
            <a:ext cx="1024128" cy="109728"/>
          </a:xfrm>
          <a:prstGeom prst="rect">
            <a:avLst/>
          </a:prstGeom>
          <a:noFill/>
          <a:ln/>
        </p:spPr>
        <p:txBody>
          <a:bodyPr wrap="square" lIns="0" tIns="0" rIns="0" bIns="0" rtlCol="0" anchor="ctr">
            <a:normAutofit/>
          </a:bodyPr>
          <a:lstStyle/>
          <a:p>
            <a:pPr algn="ctr" indent="0" marL="0">
              <a:buNone/>
            </a:pPr>
            <a:r>
              <a:rPr lang="en-US" sz="920" b="1" dirty="0">
                <a:solidFill>
                  <a:srgbClr val="2867B2"/>
                </a:solidFill>
              </a:rPr>
              <a:t>quantity</a:t>
            </a:r>
            <a:endParaRPr lang="en-US" sz="920" dirty="0"/>
          </a:p>
        </p:txBody>
      </p:sp>
      <p:sp>
        <p:nvSpPr>
          <p:cNvPr id="14" name="Text 12"/>
          <p:cNvSpPr/>
          <p:nvPr/>
        </p:nvSpPr>
        <p:spPr>
          <a:xfrm>
            <a:off x="6345936" y="1865376"/>
            <a:ext cx="1252728" cy="109728"/>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2026-01-12</a:t>
            </a:r>
            <a:endParaRPr lang="en-US" sz="920" dirty="0"/>
          </a:p>
        </p:txBody>
      </p:sp>
      <p:sp>
        <p:nvSpPr>
          <p:cNvPr id="15" name="Text 13"/>
          <p:cNvSpPr/>
          <p:nvPr/>
        </p:nvSpPr>
        <p:spPr>
          <a:xfrm>
            <a:off x="7671816" y="1865376"/>
            <a:ext cx="1161288" cy="109728"/>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Москва</a:t>
            </a:r>
            <a:endParaRPr lang="en-US" sz="920" dirty="0"/>
          </a:p>
        </p:txBody>
      </p:sp>
      <p:sp>
        <p:nvSpPr>
          <p:cNvPr id="16" name="Text 14"/>
          <p:cNvSpPr/>
          <p:nvPr/>
        </p:nvSpPr>
        <p:spPr>
          <a:xfrm>
            <a:off x="8906256" y="1865376"/>
            <a:ext cx="1344168" cy="109728"/>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Ноутбуки</a:t>
            </a:r>
            <a:endParaRPr lang="en-US" sz="920" dirty="0"/>
          </a:p>
        </p:txBody>
      </p:sp>
      <p:sp>
        <p:nvSpPr>
          <p:cNvPr id="17" name="Text 15"/>
          <p:cNvSpPr/>
          <p:nvPr/>
        </p:nvSpPr>
        <p:spPr>
          <a:xfrm>
            <a:off x="10323576" y="1865376"/>
            <a:ext cx="1024128" cy="109728"/>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2</a:t>
            </a:r>
            <a:endParaRPr lang="en-US" sz="920" dirty="0"/>
          </a:p>
        </p:txBody>
      </p:sp>
      <p:sp>
        <p:nvSpPr>
          <p:cNvPr id="18" name="Text 16"/>
          <p:cNvSpPr/>
          <p:nvPr/>
        </p:nvSpPr>
        <p:spPr>
          <a:xfrm>
            <a:off x="6345936" y="2267712"/>
            <a:ext cx="1252728" cy="109728"/>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2026-01-13</a:t>
            </a:r>
            <a:endParaRPr lang="en-US" sz="920" dirty="0"/>
          </a:p>
        </p:txBody>
      </p:sp>
      <p:sp>
        <p:nvSpPr>
          <p:cNvPr id="19" name="Text 17"/>
          <p:cNvSpPr/>
          <p:nvPr/>
        </p:nvSpPr>
        <p:spPr>
          <a:xfrm>
            <a:off x="7671816" y="2267712"/>
            <a:ext cx="1161288" cy="109728"/>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СПб</a:t>
            </a:r>
            <a:endParaRPr lang="en-US" sz="920" dirty="0"/>
          </a:p>
        </p:txBody>
      </p:sp>
      <p:sp>
        <p:nvSpPr>
          <p:cNvPr id="20" name="Text 18"/>
          <p:cNvSpPr/>
          <p:nvPr/>
        </p:nvSpPr>
        <p:spPr>
          <a:xfrm>
            <a:off x="8906256" y="2267712"/>
            <a:ext cx="1344168" cy="109728"/>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Смартфоны</a:t>
            </a:r>
            <a:endParaRPr lang="en-US" sz="920" dirty="0"/>
          </a:p>
        </p:txBody>
      </p:sp>
      <p:sp>
        <p:nvSpPr>
          <p:cNvPr id="21" name="Text 19"/>
          <p:cNvSpPr/>
          <p:nvPr/>
        </p:nvSpPr>
        <p:spPr>
          <a:xfrm>
            <a:off x="10323576" y="2267712"/>
            <a:ext cx="1024128" cy="109728"/>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1</a:t>
            </a:r>
            <a:endParaRPr lang="en-US" sz="920" dirty="0"/>
          </a:p>
        </p:txBody>
      </p:sp>
      <p:sp>
        <p:nvSpPr>
          <p:cNvPr id="22" name="Text 20"/>
          <p:cNvSpPr/>
          <p:nvPr/>
        </p:nvSpPr>
        <p:spPr>
          <a:xfrm>
            <a:off x="6345936" y="2670048"/>
            <a:ext cx="1252728" cy="109728"/>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2026-01-14</a:t>
            </a:r>
            <a:endParaRPr lang="en-US" sz="920" dirty="0"/>
          </a:p>
        </p:txBody>
      </p:sp>
      <p:sp>
        <p:nvSpPr>
          <p:cNvPr id="23" name="Text 21"/>
          <p:cNvSpPr/>
          <p:nvPr/>
        </p:nvSpPr>
        <p:spPr>
          <a:xfrm>
            <a:off x="7671816" y="2670048"/>
            <a:ext cx="1161288" cy="109728"/>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Казань</a:t>
            </a:r>
            <a:endParaRPr lang="en-US" sz="920" dirty="0"/>
          </a:p>
        </p:txBody>
      </p:sp>
      <p:sp>
        <p:nvSpPr>
          <p:cNvPr id="24" name="Text 22"/>
          <p:cNvSpPr/>
          <p:nvPr/>
        </p:nvSpPr>
        <p:spPr>
          <a:xfrm>
            <a:off x="8906256" y="2670048"/>
            <a:ext cx="1344168" cy="109728"/>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Мониторы</a:t>
            </a:r>
            <a:endParaRPr lang="en-US" sz="920" dirty="0"/>
          </a:p>
        </p:txBody>
      </p:sp>
      <p:sp>
        <p:nvSpPr>
          <p:cNvPr id="25" name="Text 23"/>
          <p:cNvSpPr/>
          <p:nvPr/>
        </p:nvSpPr>
        <p:spPr>
          <a:xfrm>
            <a:off x="10323576" y="2670048"/>
            <a:ext cx="1024128" cy="109728"/>
          </a:xfrm>
          <a:prstGeom prst="rect">
            <a:avLst/>
          </a:prstGeom>
          <a:noFill/>
          <a:ln/>
        </p:spPr>
        <p:txBody>
          <a:bodyPr wrap="square" lIns="0" tIns="0" rIns="0" bIns="0" rtlCol="0" anchor="ctr">
            <a:normAutofit/>
          </a:bodyPr>
          <a:lstStyle/>
          <a:p>
            <a:pPr algn="ctr" indent="0" marL="0">
              <a:buNone/>
            </a:pPr>
            <a:r>
              <a:rPr lang="en-US" sz="920" dirty="0">
                <a:solidFill>
                  <a:srgbClr val="1F2937"/>
                </a:solidFill>
              </a:rPr>
              <a:t>3</a:t>
            </a:r>
            <a:endParaRPr lang="en-US" sz="920" dirty="0"/>
          </a:p>
        </p:txBody>
      </p:sp>
      <p:sp>
        <p:nvSpPr>
          <p:cNvPr id="26" name="Text 24"/>
          <p:cNvSpPr/>
          <p:nvPr/>
        </p:nvSpPr>
        <p:spPr>
          <a:xfrm>
            <a:off x="7452360" y="3886200"/>
            <a:ext cx="2834640" cy="548640"/>
          </a:xfrm>
          <a:prstGeom prst="rect">
            <a:avLst/>
          </a:prstGeom>
          <a:noFill/>
          <a:ln/>
        </p:spPr>
        <p:txBody>
          <a:bodyPr wrap="square" rtlCol="0" anchor="ctr"/>
          <a:lstStyle/>
          <a:p>
            <a:pPr algn="ctr" indent="0" marL="0">
              <a:buNone/>
            </a:pPr>
            <a:r>
              <a:rPr lang="en-US" sz="3000" b="1" dirty="0">
                <a:solidFill>
                  <a:srgbClr val="2867B2"/>
                </a:solidFill>
              </a:rPr>
              <a:t>726 × 10</a:t>
            </a: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Первичная проверка</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Загрузка не гарантирует качество</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14</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Проверить размер таблицы</a:t>
            </a:r>
            <a:endParaRPr lang="en-US" sz="1700" dirty="0"/>
          </a:p>
          <a:p>
            <a:r>
              <a:rPr lang="en-US" sz="1700" dirty="0">
                <a:solidFill>
                  <a:srgbClr val="1F2937"/>
                </a:solidFill>
              </a:rPr>
              <a:t>Посмотреть первые строки</a:t>
            </a:r>
            <a:endParaRPr lang="en-US" sz="1700" dirty="0"/>
          </a:p>
          <a:p>
            <a:r>
              <a:rPr lang="en-US" sz="1700" dirty="0">
                <a:solidFill>
                  <a:srgbClr val="1F2937"/>
                </a:solidFill>
              </a:rPr>
              <a:t>Проверить типы столбцов</a:t>
            </a:r>
            <a:endParaRPr lang="en-US" sz="1700" dirty="0"/>
          </a:p>
          <a:p>
            <a:r>
              <a:rPr lang="en-US" sz="1700" dirty="0">
                <a:solidFill>
                  <a:srgbClr val="1F2937"/>
                </a:solidFill>
              </a:rPr>
              <a:t>Найти пропуски и дубликаты</a:t>
            </a:r>
            <a:endParaRPr lang="en-US" sz="1700" dirty="0"/>
          </a:p>
        </p:txBody>
      </p:sp>
      <p:sp>
        <p:nvSpPr>
          <p:cNvPr id="8" name="Shape 6"/>
          <p:cNvSpPr/>
          <p:nvPr/>
        </p:nvSpPr>
        <p:spPr>
          <a:xfrm>
            <a:off x="6537960" y="1371600"/>
            <a:ext cx="4480560" cy="457200"/>
          </a:xfrm>
          <a:prstGeom prst="roundRect">
            <a:avLst>
              <a:gd name="adj" fmla="val 12000"/>
            </a:avLst>
          </a:prstGeom>
          <a:solidFill>
            <a:srgbClr val="F8FAFC"/>
          </a:solidFill>
          <a:ln w="10160">
            <a:solidFill>
              <a:srgbClr val="D8DEE9"/>
            </a:solidFill>
            <a:prstDash val="solid"/>
          </a:ln>
        </p:spPr>
      </p:sp>
      <p:sp>
        <p:nvSpPr>
          <p:cNvPr id="9" name="Text 7"/>
          <p:cNvSpPr/>
          <p:nvPr/>
        </p:nvSpPr>
        <p:spPr>
          <a:xfrm>
            <a:off x="6720840" y="1490472"/>
            <a:ext cx="274320" cy="146304"/>
          </a:xfrm>
          <a:prstGeom prst="rect">
            <a:avLst/>
          </a:prstGeom>
          <a:noFill/>
          <a:ln/>
        </p:spPr>
        <p:txBody>
          <a:bodyPr wrap="square" lIns="0" tIns="0" rIns="0" bIns="0" rtlCol="0" anchor="ctr"/>
          <a:lstStyle/>
          <a:p>
            <a:pPr indent="0" marL="0">
              <a:buNone/>
            </a:pPr>
            <a:r>
              <a:rPr lang="en-US" sz="1200" b="1" dirty="0">
                <a:solidFill>
                  <a:srgbClr val="2E8B57"/>
                </a:solidFill>
              </a:rPr>
              <a:t>✓</a:t>
            </a:r>
            <a:endParaRPr lang="en-US" sz="1200" dirty="0"/>
          </a:p>
        </p:txBody>
      </p:sp>
      <p:sp>
        <p:nvSpPr>
          <p:cNvPr id="10" name="Text 8"/>
          <p:cNvSpPr/>
          <p:nvPr/>
        </p:nvSpPr>
        <p:spPr>
          <a:xfrm>
            <a:off x="7086600" y="1481328"/>
            <a:ext cx="3474720" cy="146304"/>
          </a:xfrm>
          <a:prstGeom prst="rect">
            <a:avLst/>
          </a:prstGeom>
          <a:noFill/>
          <a:ln/>
        </p:spPr>
        <p:txBody>
          <a:bodyPr wrap="square" lIns="0" tIns="0" rIns="0" bIns="0" rtlCol="0" anchor="ctr"/>
          <a:lstStyle/>
          <a:p>
            <a:pPr indent="0" marL="0">
              <a:buNone/>
            </a:pPr>
            <a:r>
              <a:rPr lang="en-US" sz="1350" dirty="0">
                <a:solidFill>
                  <a:srgbClr val="1F2937"/>
                </a:solidFill>
              </a:rPr>
              <a:t>Размер</a:t>
            </a:r>
            <a:endParaRPr lang="en-US" sz="1350" dirty="0"/>
          </a:p>
        </p:txBody>
      </p:sp>
      <p:sp>
        <p:nvSpPr>
          <p:cNvPr id="11" name="Shape 9"/>
          <p:cNvSpPr/>
          <p:nvPr/>
        </p:nvSpPr>
        <p:spPr>
          <a:xfrm>
            <a:off x="6537960" y="2057400"/>
            <a:ext cx="4480560" cy="457200"/>
          </a:xfrm>
          <a:prstGeom prst="roundRect">
            <a:avLst>
              <a:gd name="adj" fmla="val 12000"/>
            </a:avLst>
          </a:prstGeom>
          <a:solidFill>
            <a:srgbClr val="FFFFFF"/>
          </a:solidFill>
          <a:ln w="10160">
            <a:solidFill>
              <a:srgbClr val="D8DEE9"/>
            </a:solidFill>
            <a:prstDash val="solid"/>
          </a:ln>
        </p:spPr>
      </p:sp>
      <p:sp>
        <p:nvSpPr>
          <p:cNvPr id="12" name="Text 10"/>
          <p:cNvSpPr/>
          <p:nvPr/>
        </p:nvSpPr>
        <p:spPr>
          <a:xfrm>
            <a:off x="6720840" y="2176272"/>
            <a:ext cx="274320" cy="146304"/>
          </a:xfrm>
          <a:prstGeom prst="rect">
            <a:avLst/>
          </a:prstGeom>
          <a:noFill/>
          <a:ln/>
        </p:spPr>
        <p:txBody>
          <a:bodyPr wrap="square" lIns="0" tIns="0" rIns="0" bIns="0" rtlCol="0" anchor="ctr"/>
          <a:lstStyle/>
          <a:p>
            <a:pPr indent="0" marL="0">
              <a:buNone/>
            </a:pPr>
            <a:r>
              <a:rPr lang="en-US" sz="1200" b="1" dirty="0">
                <a:solidFill>
                  <a:srgbClr val="2E8B57"/>
                </a:solidFill>
              </a:rPr>
              <a:t>✓</a:t>
            </a:r>
            <a:endParaRPr lang="en-US" sz="1200" dirty="0"/>
          </a:p>
        </p:txBody>
      </p:sp>
      <p:sp>
        <p:nvSpPr>
          <p:cNvPr id="13" name="Text 11"/>
          <p:cNvSpPr/>
          <p:nvPr/>
        </p:nvSpPr>
        <p:spPr>
          <a:xfrm>
            <a:off x="7086600" y="2167128"/>
            <a:ext cx="3474720" cy="146304"/>
          </a:xfrm>
          <a:prstGeom prst="rect">
            <a:avLst/>
          </a:prstGeom>
          <a:noFill/>
          <a:ln/>
        </p:spPr>
        <p:txBody>
          <a:bodyPr wrap="square" lIns="0" tIns="0" rIns="0" bIns="0" rtlCol="0" anchor="ctr"/>
          <a:lstStyle/>
          <a:p>
            <a:pPr indent="0" marL="0">
              <a:buNone/>
            </a:pPr>
            <a:r>
              <a:rPr lang="en-US" sz="1350" dirty="0">
                <a:solidFill>
                  <a:srgbClr val="1F2937"/>
                </a:solidFill>
              </a:rPr>
              <a:t>Первые строки</a:t>
            </a:r>
            <a:endParaRPr lang="en-US" sz="1350" dirty="0"/>
          </a:p>
        </p:txBody>
      </p:sp>
      <p:sp>
        <p:nvSpPr>
          <p:cNvPr id="14" name="Shape 12"/>
          <p:cNvSpPr/>
          <p:nvPr/>
        </p:nvSpPr>
        <p:spPr>
          <a:xfrm>
            <a:off x="6537960" y="2743200"/>
            <a:ext cx="4480560" cy="457200"/>
          </a:xfrm>
          <a:prstGeom prst="roundRect">
            <a:avLst>
              <a:gd name="adj" fmla="val 12000"/>
            </a:avLst>
          </a:prstGeom>
          <a:solidFill>
            <a:srgbClr val="F8FAFC"/>
          </a:solidFill>
          <a:ln w="10160">
            <a:solidFill>
              <a:srgbClr val="D8DEE9"/>
            </a:solidFill>
            <a:prstDash val="solid"/>
          </a:ln>
        </p:spPr>
      </p:sp>
      <p:sp>
        <p:nvSpPr>
          <p:cNvPr id="15" name="Text 13"/>
          <p:cNvSpPr/>
          <p:nvPr/>
        </p:nvSpPr>
        <p:spPr>
          <a:xfrm>
            <a:off x="6720840" y="2862072"/>
            <a:ext cx="274320" cy="146304"/>
          </a:xfrm>
          <a:prstGeom prst="rect">
            <a:avLst/>
          </a:prstGeom>
          <a:noFill/>
          <a:ln/>
        </p:spPr>
        <p:txBody>
          <a:bodyPr wrap="square" lIns="0" tIns="0" rIns="0" bIns="0" rtlCol="0" anchor="ctr"/>
          <a:lstStyle/>
          <a:p>
            <a:pPr indent="0" marL="0">
              <a:buNone/>
            </a:pPr>
            <a:r>
              <a:rPr lang="en-US" sz="1200" b="1" dirty="0">
                <a:solidFill>
                  <a:srgbClr val="2E8B57"/>
                </a:solidFill>
              </a:rPr>
              <a:t>✓</a:t>
            </a:r>
            <a:endParaRPr lang="en-US" sz="1200" dirty="0"/>
          </a:p>
        </p:txBody>
      </p:sp>
      <p:sp>
        <p:nvSpPr>
          <p:cNvPr id="16" name="Text 14"/>
          <p:cNvSpPr/>
          <p:nvPr/>
        </p:nvSpPr>
        <p:spPr>
          <a:xfrm>
            <a:off x="7086600" y="2852928"/>
            <a:ext cx="3474720" cy="146304"/>
          </a:xfrm>
          <a:prstGeom prst="rect">
            <a:avLst/>
          </a:prstGeom>
          <a:noFill/>
          <a:ln/>
        </p:spPr>
        <p:txBody>
          <a:bodyPr wrap="square" lIns="0" tIns="0" rIns="0" bIns="0" rtlCol="0" anchor="ctr"/>
          <a:lstStyle/>
          <a:p>
            <a:pPr indent="0" marL="0">
              <a:buNone/>
            </a:pPr>
            <a:r>
              <a:rPr lang="en-US" sz="1350" dirty="0">
                <a:solidFill>
                  <a:srgbClr val="1F2937"/>
                </a:solidFill>
              </a:rPr>
              <a:t>Типы</a:t>
            </a:r>
            <a:endParaRPr lang="en-US" sz="1350" dirty="0"/>
          </a:p>
        </p:txBody>
      </p:sp>
      <p:sp>
        <p:nvSpPr>
          <p:cNvPr id="17" name="Shape 15"/>
          <p:cNvSpPr/>
          <p:nvPr/>
        </p:nvSpPr>
        <p:spPr>
          <a:xfrm>
            <a:off x="6537960" y="3429000"/>
            <a:ext cx="4480560" cy="457200"/>
          </a:xfrm>
          <a:prstGeom prst="roundRect">
            <a:avLst>
              <a:gd name="adj" fmla="val 12000"/>
            </a:avLst>
          </a:prstGeom>
          <a:solidFill>
            <a:srgbClr val="FFFFFF"/>
          </a:solidFill>
          <a:ln w="10160">
            <a:solidFill>
              <a:srgbClr val="D8DEE9"/>
            </a:solidFill>
            <a:prstDash val="solid"/>
          </a:ln>
        </p:spPr>
      </p:sp>
      <p:sp>
        <p:nvSpPr>
          <p:cNvPr id="18" name="Text 16"/>
          <p:cNvSpPr/>
          <p:nvPr/>
        </p:nvSpPr>
        <p:spPr>
          <a:xfrm>
            <a:off x="6720840" y="3547872"/>
            <a:ext cx="274320" cy="146304"/>
          </a:xfrm>
          <a:prstGeom prst="rect">
            <a:avLst/>
          </a:prstGeom>
          <a:noFill/>
          <a:ln/>
        </p:spPr>
        <p:txBody>
          <a:bodyPr wrap="square" lIns="0" tIns="0" rIns="0" bIns="0" rtlCol="0" anchor="ctr"/>
          <a:lstStyle/>
          <a:p>
            <a:pPr indent="0" marL="0">
              <a:buNone/>
            </a:pPr>
            <a:r>
              <a:rPr lang="en-US" sz="1200" b="1" dirty="0">
                <a:solidFill>
                  <a:srgbClr val="2E8B57"/>
                </a:solidFill>
              </a:rPr>
              <a:t>✓</a:t>
            </a:r>
            <a:endParaRPr lang="en-US" sz="1200" dirty="0"/>
          </a:p>
        </p:txBody>
      </p:sp>
      <p:sp>
        <p:nvSpPr>
          <p:cNvPr id="19" name="Text 17"/>
          <p:cNvSpPr/>
          <p:nvPr/>
        </p:nvSpPr>
        <p:spPr>
          <a:xfrm>
            <a:off x="7086600" y="3538728"/>
            <a:ext cx="3474720" cy="146304"/>
          </a:xfrm>
          <a:prstGeom prst="rect">
            <a:avLst/>
          </a:prstGeom>
          <a:noFill/>
          <a:ln/>
        </p:spPr>
        <p:txBody>
          <a:bodyPr wrap="square" lIns="0" tIns="0" rIns="0" bIns="0" rtlCol="0" anchor="ctr"/>
          <a:lstStyle/>
          <a:p>
            <a:pPr indent="0" marL="0">
              <a:buNone/>
            </a:pPr>
            <a:r>
              <a:rPr lang="en-US" sz="1350" dirty="0">
                <a:solidFill>
                  <a:srgbClr val="1F2937"/>
                </a:solidFill>
              </a:rPr>
              <a:t>Пропуски</a:t>
            </a:r>
            <a:endParaRPr lang="en-US" sz="1350" dirty="0"/>
          </a:p>
        </p:txBody>
      </p:sp>
      <p:sp>
        <p:nvSpPr>
          <p:cNvPr id="20" name="Shape 18"/>
          <p:cNvSpPr/>
          <p:nvPr/>
        </p:nvSpPr>
        <p:spPr>
          <a:xfrm>
            <a:off x="6537960" y="4114800"/>
            <a:ext cx="4480560" cy="457200"/>
          </a:xfrm>
          <a:prstGeom prst="roundRect">
            <a:avLst>
              <a:gd name="adj" fmla="val 12000"/>
            </a:avLst>
          </a:prstGeom>
          <a:solidFill>
            <a:srgbClr val="F8FAFC"/>
          </a:solidFill>
          <a:ln w="10160">
            <a:solidFill>
              <a:srgbClr val="D8DEE9"/>
            </a:solidFill>
            <a:prstDash val="solid"/>
          </a:ln>
        </p:spPr>
      </p:sp>
      <p:sp>
        <p:nvSpPr>
          <p:cNvPr id="21" name="Text 19"/>
          <p:cNvSpPr/>
          <p:nvPr/>
        </p:nvSpPr>
        <p:spPr>
          <a:xfrm>
            <a:off x="6720840" y="4233672"/>
            <a:ext cx="274320" cy="146304"/>
          </a:xfrm>
          <a:prstGeom prst="rect">
            <a:avLst/>
          </a:prstGeom>
          <a:noFill/>
          <a:ln/>
        </p:spPr>
        <p:txBody>
          <a:bodyPr wrap="square" lIns="0" tIns="0" rIns="0" bIns="0" rtlCol="0" anchor="ctr"/>
          <a:lstStyle/>
          <a:p>
            <a:pPr indent="0" marL="0">
              <a:buNone/>
            </a:pPr>
            <a:r>
              <a:rPr lang="en-US" sz="1200" b="1" dirty="0">
                <a:solidFill>
                  <a:srgbClr val="2E8B57"/>
                </a:solidFill>
              </a:rPr>
              <a:t>✓</a:t>
            </a:r>
            <a:endParaRPr lang="en-US" sz="1200" dirty="0"/>
          </a:p>
        </p:txBody>
      </p:sp>
      <p:sp>
        <p:nvSpPr>
          <p:cNvPr id="22" name="Text 20"/>
          <p:cNvSpPr/>
          <p:nvPr/>
        </p:nvSpPr>
        <p:spPr>
          <a:xfrm>
            <a:off x="7086600" y="4224528"/>
            <a:ext cx="3474720" cy="146304"/>
          </a:xfrm>
          <a:prstGeom prst="rect">
            <a:avLst/>
          </a:prstGeom>
          <a:noFill/>
          <a:ln/>
        </p:spPr>
        <p:txBody>
          <a:bodyPr wrap="square" lIns="0" tIns="0" rIns="0" bIns="0" rtlCol="0" anchor="ctr"/>
          <a:lstStyle/>
          <a:p>
            <a:pPr indent="0" marL="0">
              <a:buNone/>
            </a:pPr>
            <a:r>
              <a:rPr lang="en-US" sz="1350" dirty="0">
                <a:solidFill>
                  <a:srgbClr val="1F2937"/>
                </a:solidFill>
              </a:rPr>
              <a:t>Дубликаты</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Конвейер обработки</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Действия читаются сверху вниз</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15</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Входная таблица передаётся в действие</a:t>
            </a:r>
            <a:endParaRPr lang="en-US" sz="1700" dirty="0"/>
          </a:p>
          <a:p>
            <a:r>
              <a:rPr lang="en-US" sz="1700" dirty="0">
                <a:solidFill>
                  <a:srgbClr val="1F2937"/>
                </a:solidFill>
              </a:rPr>
              <a:t>Каждый шаг создаёт промежуточный результат</a:t>
            </a:r>
            <a:endParaRPr lang="en-US" sz="1700" dirty="0"/>
          </a:p>
          <a:p>
            <a:r>
              <a:rPr lang="en-US" sz="1700" dirty="0">
                <a:solidFill>
                  <a:srgbClr val="1F2937"/>
                </a:solidFill>
              </a:rPr>
              <a:t>Конвейер можно отлаживать частями</a:t>
            </a:r>
            <a:endParaRPr lang="en-US" sz="1700" dirty="0"/>
          </a:p>
          <a:p>
            <a:r>
              <a:rPr lang="en-US" sz="1700" dirty="0">
                <a:solidFill>
                  <a:srgbClr val="1F2937"/>
                </a:solidFill>
              </a:rPr>
              <a:t>Читаем код как последовательность операций</a:t>
            </a:r>
            <a:endParaRPr lang="en-US" sz="1700" dirty="0"/>
          </a:p>
        </p:txBody>
      </p:sp>
      <p:sp>
        <p:nvSpPr>
          <p:cNvPr id="8" name="Shape 6"/>
          <p:cNvSpPr/>
          <p:nvPr/>
        </p:nvSpPr>
        <p:spPr>
          <a:xfrm>
            <a:off x="6400800" y="2331720"/>
            <a:ext cx="841248" cy="530352"/>
          </a:xfrm>
          <a:prstGeom prst="rect">
            <a:avLst>
              <a:gd name="adj" fmla="val 6897"/>
            </a:avLst>
          </a:prstGeom>
          <a:solidFill>
            <a:srgbClr val="2867B2"/>
          </a:solidFill>
          <a:ln w="10160">
            <a:solidFill>
              <a:srgbClr val="2867B2"/>
            </a:solidFill>
            <a:prstDash val="solid"/>
          </a:ln>
        </p:spPr>
      </p:sp>
      <p:sp>
        <p:nvSpPr>
          <p:cNvPr id="9" name="Text 7"/>
          <p:cNvSpPr/>
          <p:nvPr/>
        </p:nvSpPr>
        <p:spPr>
          <a:xfrm>
            <a:off x="6437376" y="2523744"/>
            <a:ext cx="768096" cy="10972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sales</a:t>
            </a:r>
            <a:endParaRPr lang="en-US" sz="800" dirty="0"/>
          </a:p>
        </p:txBody>
      </p:sp>
      <p:sp>
        <p:nvSpPr>
          <p:cNvPr id="10" name="Text 8"/>
          <p:cNvSpPr/>
          <p:nvPr/>
        </p:nvSpPr>
        <p:spPr>
          <a:xfrm>
            <a:off x="7260336" y="2496312"/>
            <a:ext cx="164592" cy="146304"/>
          </a:xfrm>
          <a:prstGeom prst="rect">
            <a:avLst/>
          </a:prstGeom>
          <a:noFill/>
          <a:ln/>
        </p:spPr>
        <p:txBody>
          <a:bodyPr wrap="square" lIns="0" tIns="0" rIns="0" bIns="0" rtlCol="0" anchor="ctr"/>
          <a:lstStyle/>
          <a:p>
            <a:pPr algn="ctr" indent="0" marL="0">
              <a:buNone/>
            </a:pPr>
            <a:r>
              <a:rPr lang="en-US" sz="1100" b="1" dirty="0">
                <a:solidFill>
                  <a:srgbClr val="667085"/>
                </a:solidFill>
              </a:rPr>
              <a:t>|&gt;</a:t>
            </a:r>
            <a:endParaRPr lang="en-US" sz="1100" dirty="0"/>
          </a:p>
        </p:txBody>
      </p:sp>
      <p:sp>
        <p:nvSpPr>
          <p:cNvPr id="11" name="Shape 9"/>
          <p:cNvSpPr/>
          <p:nvPr/>
        </p:nvSpPr>
        <p:spPr>
          <a:xfrm>
            <a:off x="7424928" y="2331720"/>
            <a:ext cx="841248" cy="530352"/>
          </a:xfrm>
          <a:prstGeom prst="roundRect">
            <a:avLst>
              <a:gd name="adj" fmla="val 6897"/>
            </a:avLst>
          </a:prstGeom>
          <a:solidFill>
            <a:srgbClr val="EAF2FF"/>
          </a:solidFill>
          <a:ln w="10160">
            <a:solidFill>
              <a:srgbClr val="2867B2"/>
            </a:solidFill>
            <a:prstDash val="solid"/>
          </a:ln>
        </p:spPr>
      </p:sp>
      <p:sp>
        <p:nvSpPr>
          <p:cNvPr id="12" name="Text 10"/>
          <p:cNvSpPr/>
          <p:nvPr/>
        </p:nvSpPr>
        <p:spPr>
          <a:xfrm>
            <a:off x="7461504" y="2523744"/>
            <a:ext cx="768096" cy="109728"/>
          </a:xfrm>
          <a:prstGeom prst="rect">
            <a:avLst/>
          </a:prstGeom>
          <a:noFill/>
          <a:ln/>
        </p:spPr>
        <p:txBody>
          <a:bodyPr wrap="square" lIns="0" tIns="0" rIns="0" bIns="0" rtlCol="0" anchor="ctr">
            <a:normAutofit/>
          </a:bodyPr>
          <a:lstStyle/>
          <a:p>
            <a:pPr algn="ctr" indent="0" marL="0">
              <a:buNone/>
            </a:pPr>
            <a:r>
              <a:rPr lang="en-US" sz="800" b="1" dirty="0">
                <a:solidFill>
                  <a:srgbClr val="2867B2"/>
                </a:solidFill>
              </a:rPr>
              <a:t>mutate</a:t>
            </a:r>
            <a:endParaRPr lang="en-US" sz="800" dirty="0"/>
          </a:p>
        </p:txBody>
      </p:sp>
      <p:sp>
        <p:nvSpPr>
          <p:cNvPr id="13" name="Text 11"/>
          <p:cNvSpPr/>
          <p:nvPr/>
        </p:nvSpPr>
        <p:spPr>
          <a:xfrm>
            <a:off x="8284464" y="2496312"/>
            <a:ext cx="164592" cy="146304"/>
          </a:xfrm>
          <a:prstGeom prst="rect">
            <a:avLst/>
          </a:prstGeom>
          <a:noFill/>
          <a:ln/>
        </p:spPr>
        <p:txBody>
          <a:bodyPr wrap="square" lIns="0" tIns="0" rIns="0" bIns="0" rtlCol="0" anchor="ctr"/>
          <a:lstStyle/>
          <a:p>
            <a:pPr algn="ctr" indent="0" marL="0">
              <a:buNone/>
            </a:pPr>
            <a:r>
              <a:rPr lang="en-US" sz="1100" b="1" dirty="0">
                <a:solidFill>
                  <a:srgbClr val="667085"/>
                </a:solidFill>
              </a:rPr>
              <a:t>|&gt;</a:t>
            </a:r>
            <a:endParaRPr lang="en-US" sz="1100" dirty="0"/>
          </a:p>
        </p:txBody>
      </p:sp>
      <p:sp>
        <p:nvSpPr>
          <p:cNvPr id="14" name="Shape 12"/>
          <p:cNvSpPr/>
          <p:nvPr/>
        </p:nvSpPr>
        <p:spPr>
          <a:xfrm>
            <a:off x="8449056" y="2331720"/>
            <a:ext cx="841248" cy="530352"/>
          </a:xfrm>
          <a:prstGeom prst="rect">
            <a:avLst>
              <a:gd name="adj" fmla="val 6897"/>
            </a:avLst>
          </a:prstGeom>
          <a:solidFill>
            <a:srgbClr val="EAF2FF"/>
          </a:solidFill>
          <a:ln w="10160">
            <a:solidFill>
              <a:srgbClr val="2867B2"/>
            </a:solidFill>
            <a:prstDash val="solid"/>
          </a:ln>
        </p:spPr>
      </p:sp>
      <p:sp>
        <p:nvSpPr>
          <p:cNvPr id="15" name="Text 13"/>
          <p:cNvSpPr/>
          <p:nvPr/>
        </p:nvSpPr>
        <p:spPr>
          <a:xfrm>
            <a:off x="8485632" y="2523744"/>
            <a:ext cx="768096" cy="109728"/>
          </a:xfrm>
          <a:prstGeom prst="rect">
            <a:avLst/>
          </a:prstGeom>
          <a:noFill/>
          <a:ln/>
        </p:spPr>
        <p:txBody>
          <a:bodyPr wrap="square" lIns="0" tIns="0" rIns="0" bIns="0" rtlCol="0" anchor="ctr">
            <a:normAutofit/>
          </a:bodyPr>
          <a:lstStyle/>
          <a:p>
            <a:pPr algn="ctr" indent="0" marL="0">
              <a:buNone/>
            </a:pPr>
            <a:r>
              <a:rPr lang="en-US" sz="800" b="1" dirty="0">
                <a:solidFill>
                  <a:srgbClr val="2867B2"/>
                </a:solidFill>
              </a:rPr>
              <a:t>distinct</a:t>
            </a:r>
            <a:endParaRPr lang="en-US" sz="800" dirty="0"/>
          </a:p>
        </p:txBody>
      </p:sp>
      <p:sp>
        <p:nvSpPr>
          <p:cNvPr id="16" name="Text 14"/>
          <p:cNvSpPr/>
          <p:nvPr/>
        </p:nvSpPr>
        <p:spPr>
          <a:xfrm>
            <a:off x="9308592" y="2496312"/>
            <a:ext cx="164592" cy="146304"/>
          </a:xfrm>
          <a:prstGeom prst="rect">
            <a:avLst/>
          </a:prstGeom>
          <a:noFill/>
          <a:ln/>
        </p:spPr>
        <p:txBody>
          <a:bodyPr wrap="square" lIns="0" tIns="0" rIns="0" bIns="0" rtlCol="0" anchor="ctr"/>
          <a:lstStyle/>
          <a:p>
            <a:pPr algn="ctr" indent="0" marL="0">
              <a:buNone/>
            </a:pPr>
            <a:r>
              <a:rPr lang="en-US" sz="1100" b="1" dirty="0">
                <a:solidFill>
                  <a:srgbClr val="667085"/>
                </a:solidFill>
              </a:rPr>
              <a:t>|&gt;</a:t>
            </a:r>
            <a:endParaRPr lang="en-US" sz="1100" dirty="0"/>
          </a:p>
        </p:txBody>
      </p:sp>
      <p:sp>
        <p:nvSpPr>
          <p:cNvPr id="17" name="Shape 15"/>
          <p:cNvSpPr/>
          <p:nvPr/>
        </p:nvSpPr>
        <p:spPr>
          <a:xfrm>
            <a:off x="9473184" y="2331720"/>
            <a:ext cx="841248" cy="530352"/>
          </a:xfrm>
          <a:prstGeom prst="roundRect">
            <a:avLst>
              <a:gd name="adj" fmla="val 6897"/>
            </a:avLst>
          </a:prstGeom>
          <a:solidFill>
            <a:srgbClr val="EAF2FF"/>
          </a:solidFill>
          <a:ln w="10160">
            <a:solidFill>
              <a:srgbClr val="2867B2"/>
            </a:solidFill>
            <a:prstDash val="solid"/>
          </a:ln>
        </p:spPr>
      </p:sp>
      <p:sp>
        <p:nvSpPr>
          <p:cNvPr id="18" name="Text 16"/>
          <p:cNvSpPr/>
          <p:nvPr/>
        </p:nvSpPr>
        <p:spPr>
          <a:xfrm>
            <a:off x="9509760" y="2523744"/>
            <a:ext cx="768096" cy="109728"/>
          </a:xfrm>
          <a:prstGeom prst="rect">
            <a:avLst/>
          </a:prstGeom>
          <a:noFill/>
          <a:ln/>
        </p:spPr>
        <p:txBody>
          <a:bodyPr wrap="square" lIns="0" tIns="0" rIns="0" bIns="0" rtlCol="0" anchor="ctr">
            <a:normAutofit/>
          </a:bodyPr>
          <a:lstStyle/>
          <a:p>
            <a:pPr algn="ctr" indent="0" marL="0">
              <a:buNone/>
            </a:pPr>
            <a:r>
              <a:rPr lang="en-US" sz="800" b="1" dirty="0">
                <a:solidFill>
                  <a:srgbClr val="2867B2"/>
                </a:solidFill>
              </a:rPr>
              <a:t>filter</a:t>
            </a:r>
            <a:endParaRPr lang="en-US" sz="800" dirty="0"/>
          </a:p>
        </p:txBody>
      </p:sp>
      <p:sp>
        <p:nvSpPr>
          <p:cNvPr id="19" name="Text 17"/>
          <p:cNvSpPr/>
          <p:nvPr/>
        </p:nvSpPr>
        <p:spPr>
          <a:xfrm>
            <a:off x="10332720" y="2496312"/>
            <a:ext cx="164592" cy="146304"/>
          </a:xfrm>
          <a:prstGeom prst="rect">
            <a:avLst/>
          </a:prstGeom>
          <a:noFill/>
          <a:ln/>
        </p:spPr>
        <p:txBody>
          <a:bodyPr wrap="square" lIns="0" tIns="0" rIns="0" bIns="0" rtlCol="0" anchor="ctr"/>
          <a:lstStyle/>
          <a:p>
            <a:pPr algn="ctr" indent="0" marL="0">
              <a:buNone/>
            </a:pPr>
            <a:r>
              <a:rPr lang="en-US" sz="1100" b="1" dirty="0">
                <a:solidFill>
                  <a:srgbClr val="667085"/>
                </a:solidFill>
              </a:rPr>
              <a:t>|&gt;</a:t>
            </a:r>
            <a:endParaRPr lang="en-US" sz="1100" dirty="0"/>
          </a:p>
        </p:txBody>
      </p:sp>
      <p:sp>
        <p:nvSpPr>
          <p:cNvPr id="20" name="Shape 18"/>
          <p:cNvSpPr/>
          <p:nvPr/>
        </p:nvSpPr>
        <p:spPr>
          <a:xfrm>
            <a:off x="10497312" y="2331720"/>
            <a:ext cx="841248" cy="530352"/>
          </a:xfrm>
          <a:prstGeom prst="rect">
            <a:avLst>
              <a:gd name="adj" fmla="val 6897"/>
            </a:avLst>
          </a:prstGeom>
          <a:solidFill>
            <a:srgbClr val="2E8B57"/>
          </a:solidFill>
          <a:ln w="10160">
            <a:solidFill>
              <a:srgbClr val="2867B2"/>
            </a:solidFill>
            <a:prstDash val="solid"/>
          </a:ln>
        </p:spPr>
      </p:sp>
      <p:sp>
        <p:nvSpPr>
          <p:cNvPr id="21" name="Text 19"/>
          <p:cNvSpPr/>
          <p:nvPr/>
        </p:nvSpPr>
        <p:spPr>
          <a:xfrm>
            <a:off x="10533888" y="2523744"/>
            <a:ext cx="768096" cy="109728"/>
          </a:xfrm>
          <a:prstGeom prst="rect">
            <a:avLst/>
          </a:prstGeom>
          <a:noFill/>
          <a:ln/>
        </p:spPr>
        <p:txBody>
          <a:bodyPr wrap="square" lIns="0" tIns="0" rIns="0" bIns="0" rtlCol="0" anchor="ctr">
            <a:normAutofit/>
          </a:bodyPr>
          <a:lstStyle/>
          <a:p>
            <a:pPr algn="ctr" indent="0" marL="0">
              <a:buNone/>
            </a:pPr>
            <a:r>
              <a:rPr lang="en-US" sz="800" b="1" dirty="0">
                <a:solidFill>
                  <a:srgbClr val="FFFFFF"/>
                </a:solidFill>
              </a:rPr>
              <a:t>sales_clean</a:t>
            </a:r>
            <a:endParaRPr lang="en-US" sz="800" dirty="0"/>
          </a:p>
        </p:txBody>
      </p:sp>
      <p:sp>
        <p:nvSpPr>
          <p:cNvPr id="22" name="Shape 20"/>
          <p:cNvSpPr/>
          <p:nvPr/>
        </p:nvSpPr>
        <p:spPr>
          <a:xfrm>
            <a:off x="6400800" y="3429000"/>
            <a:ext cx="4937760" cy="1325880"/>
          </a:xfrm>
          <a:prstGeom prst="roundRect">
            <a:avLst>
              <a:gd name="adj" fmla="val 2759"/>
            </a:avLst>
          </a:prstGeom>
          <a:solidFill>
            <a:srgbClr val="F2F4F7"/>
          </a:solidFill>
          <a:ln w="10160">
            <a:solidFill>
              <a:srgbClr val="CAD2E0"/>
            </a:solidFill>
            <a:prstDash val="solid"/>
          </a:ln>
        </p:spPr>
      </p:sp>
      <p:sp>
        <p:nvSpPr>
          <p:cNvPr id="23" name="Text 21"/>
          <p:cNvSpPr/>
          <p:nvPr/>
        </p:nvSpPr>
        <p:spPr>
          <a:xfrm>
            <a:off x="6537960" y="3575304"/>
            <a:ext cx="4663440" cy="1051560"/>
          </a:xfrm>
          <a:prstGeom prst="rect">
            <a:avLst/>
          </a:prstGeom>
          <a:noFill/>
          <a:ln/>
        </p:spPr>
        <p:txBody>
          <a:bodyPr wrap="square" lIns="0" tIns="0" rIns="0" bIns="0" rtlCol="0" anchor="ctr">
            <a:normAutofit/>
          </a:bodyPr>
          <a:lstStyle/>
          <a:p>
            <a:pPr indent="0" marL="0">
              <a:buNone/>
            </a:pPr>
            <a:r>
              <a:rPr lang="en-US" sz="1400" dirty="0">
                <a:solidFill>
                  <a:srgbClr val="8292A2"/>
                </a:solidFill>
                <a:latin typeface="Consolas" pitchFamily="34" charset="0"/>
                <a:ea typeface="Consolas" pitchFamily="34" charset="-122"/>
                <a:cs typeface="Consolas" pitchFamily="34" charset="-120"/>
              </a:rPr>
              <a:t>1 </a:t>
            </a:r>
            <a:pPr indent="0" marL="0">
              <a:buNone/>
            </a:pPr>
            <a:r>
              <a:rPr lang="en-US" sz="1400" dirty="0">
                <a:solidFill>
                  <a:srgbClr val="FFFFFF"/>
                </a:solidFill>
                <a:latin typeface="Consolas" pitchFamily="34" charset="0"/>
                <a:ea typeface="Consolas" pitchFamily="34" charset="-122"/>
                <a:cs typeface="Consolas" pitchFamily="34" charset="-120"/>
              </a:rPr>
              <a:t>sales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&gt;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2 </a:t>
            </a:r>
            <a:pPr indent="0" marL="0">
              <a:buNone/>
            </a:pPr>
            <a:r>
              <a:rPr lang="en-US" sz="1400" dirty="0">
                <a:solidFill>
                  <a:srgbClr val="FFFFFF"/>
                </a:solidFill>
                <a:latin typeface="Consolas" pitchFamily="34" charset="0"/>
                <a:ea typeface="Consolas" pitchFamily="34" charset="-122"/>
                <a:cs typeface="Consolas" pitchFamily="34" charset="-120"/>
              </a:rPr>
              <a:t>  mutate</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&gt;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3 </a:t>
            </a:r>
            <a:pPr indent="0" marL="0">
              <a:buNone/>
            </a:pPr>
            <a:r>
              <a:rPr lang="en-US" sz="1400" dirty="0">
                <a:solidFill>
                  <a:srgbClr val="FFFFFF"/>
                </a:solidFill>
                <a:latin typeface="Consolas" pitchFamily="34" charset="0"/>
                <a:ea typeface="Consolas" pitchFamily="34" charset="-122"/>
                <a:cs typeface="Consolas" pitchFamily="34" charset="-120"/>
              </a:rPr>
              <a:t>  distinct</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&gt;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4 </a:t>
            </a:r>
            <a:pPr indent="0" marL="0">
              <a:buNone/>
            </a:pPr>
            <a:r>
              <a:rPr lang="en-US" sz="1400" dirty="0">
                <a:solidFill>
                  <a:srgbClr val="FFFFFF"/>
                </a:solidFill>
                <a:latin typeface="Consolas" pitchFamily="34" charset="0"/>
                <a:ea typeface="Consolas" pitchFamily="34" charset="-122"/>
                <a:cs typeface="Consolas" pitchFamily="34" charset="-120"/>
              </a:rPr>
              <a:t>  filter</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Очистка данных</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Нормализация должна быть явной</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16</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Удаляем полные дубликаты</a:t>
            </a:r>
            <a:endParaRPr lang="en-US" sz="1700" dirty="0"/>
          </a:p>
          <a:p>
            <a:r>
              <a:rPr lang="en-US" sz="1700" dirty="0">
                <a:solidFill>
                  <a:srgbClr val="1F2937"/>
                </a:solidFill>
              </a:rPr>
              <a:t>Обрезаем лишние пробелы</a:t>
            </a:r>
            <a:endParaRPr lang="en-US" sz="1700" dirty="0"/>
          </a:p>
          <a:p>
            <a:r>
              <a:rPr lang="en-US" sz="1700" dirty="0">
                <a:solidFill>
                  <a:srgbClr val="1F2937"/>
                </a:solidFill>
              </a:rPr>
              <a:t>Исключаем отменённые заказы</a:t>
            </a:r>
            <a:endParaRPr lang="en-US" sz="1700" dirty="0"/>
          </a:p>
          <a:p>
            <a:r>
              <a:rPr lang="en-US" sz="1700" dirty="0">
                <a:solidFill>
                  <a:srgbClr val="1F2937"/>
                </a:solidFill>
              </a:rPr>
              <a:t>Проверяем число строк после очистки</a:t>
            </a:r>
            <a:endParaRPr lang="en-US" sz="1700" dirty="0"/>
          </a:p>
        </p:txBody>
      </p:sp>
      <p:sp>
        <p:nvSpPr>
          <p:cNvPr id="8" name="Shape 6"/>
          <p:cNvSpPr/>
          <p:nvPr/>
        </p:nvSpPr>
        <p:spPr>
          <a:xfrm>
            <a:off x="6400800" y="1417320"/>
            <a:ext cx="2331720" cy="3108960"/>
          </a:xfrm>
          <a:prstGeom prst="roundRect">
            <a:avLst>
              <a:gd name="adj" fmla="val 2745"/>
            </a:avLst>
          </a:prstGeom>
          <a:solidFill>
            <a:srgbClr val="FFF7ED"/>
          </a:solidFill>
          <a:ln w="12700">
            <a:solidFill>
              <a:srgbClr val="E8902E"/>
            </a:solidFill>
            <a:prstDash val="solid"/>
          </a:ln>
          <a:effectLst>
            <a:outerShdw sx="100000" sy="100000" kx="0" ky="0" algn="bl" rotWithShape="0" blurRad="15240" dist="10160" dir="2700000">
              <a:srgbClr val="000000">
                <a:alpha val="8000"/>
              </a:srgbClr>
            </a:outerShdw>
          </a:effectLst>
        </p:spPr>
      </p:sp>
      <p:sp>
        <p:nvSpPr>
          <p:cNvPr id="9" name="Shape 7"/>
          <p:cNvSpPr/>
          <p:nvPr/>
        </p:nvSpPr>
        <p:spPr>
          <a:xfrm>
            <a:off x="9006840" y="1417320"/>
            <a:ext cx="2331720" cy="3108960"/>
          </a:xfrm>
          <a:prstGeom prst="roundRect">
            <a:avLst>
              <a:gd name="adj" fmla="val 2745"/>
            </a:avLst>
          </a:prstGeom>
          <a:solidFill>
            <a:srgbClr val="F0FDF4"/>
          </a:solidFill>
          <a:ln w="12700">
            <a:solidFill>
              <a:srgbClr val="2E8B57"/>
            </a:solidFill>
            <a:prstDash val="solid"/>
          </a:ln>
          <a:effectLst>
            <a:outerShdw sx="100000" sy="100000" kx="0" ky="0" algn="bl" rotWithShape="0" blurRad="15240" dist="10160" dir="2700000">
              <a:srgbClr val="000000">
                <a:alpha val="8000"/>
              </a:srgbClr>
            </a:outerShdw>
          </a:effectLst>
        </p:spPr>
      </p:sp>
      <p:sp>
        <p:nvSpPr>
          <p:cNvPr id="10" name="Text 8"/>
          <p:cNvSpPr/>
          <p:nvPr/>
        </p:nvSpPr>
        <p:spPr>
          <a:xfrm>
            <a:off x="6629400" y="1737360"/>
            <a:ext cx="1828800" cy="274320"/>
          </a:xfrm>
          <a:prstGeom prst="rect">
            <a:avLst/>
          </a:prstGeom>
          <a:noFill/>
          <a:ln/>
        </p:spPr>
        <p:txBody>
          <a:bodyPr wrap="square" rtlCol="0" anchor="ctr"/>
          <a:lstStyle/>
          <a:p>
            <a:pPr algn="ctr" indent="0" marL="0">
              <a:buNone/>
            </a:pPr>
            <a:r>
              <a:rPr lang="en-US" sz="2200" b="1" dirty="0">
                <a:solidFill>
                  <a:srgbClr val="E8902E"/>
                </a:solidFill>
              </a:rPr>
              <a:t>До</a:t>
            </a:r>
            <a:endParaRPr lang="en-US" sz="2200" dirty="0"/>
          </a:p>
        </p:txBody>
      </p:sp>
      <p:sp>
        <p:nvSpPr>
          <p:cNvPr id="11" name="Text 9"/>
          <p:cNvSpPr/>
          <p:nvPr/>
        </p:nvSpPr>
        <p:spPr>
          <a:xfrm>
            <a:off x="6656832" y="2377440"/>
            <a:ext cx="1783080" cy="822960"/>
          </a:xfrm>
          <a:prstGeom prst="rect">
            <a:avLst/>
          </a:prstGeom>
          <a:noFill/>
          <a:ln/>
        </p:spPr>
        <p:txBody>
          <a:bodyPr wrap="square" rtlCol="0" anchor="ctr"/>
          <a:lstStyle/>
          <a:p>
            <a:pPr algn="ctr" indent="0" marL="0">
              <a:buNone/>
            </a:pPr>
            <a:r>
              <a:rPr lang="en-US" sz="1300" dirty="0">
                <a:solidFill>
                  <a:srgbClr val="1F2937"/>
                </a:solidFill>
              </a:rPr>
              <a:t>дубликаты</a:t>
            </a:r>
            <a:endParaRPr lang="en-US" sz="1300" dirty="0"/>
          </a:p>
          <a:p>
            <a:pPr algn="ctr" indent="0" marL="0">
              <a:buNone/>
            </a:pPr>
            <a:r>
              <a:rPr lang="en-US" sz="1300" dirty="0">
                <a:solidFill>
                  <a:srgbClr val="1F2937"/>
                </a:solidFill>
              </a:rPr>
              <a:t>лишние пробелы</a:t>
            </a:r>
            <a:endParaRPr lang="en-US" sz="1300" dirty="0"/>
          </a:p>
          <a:p>
            <a:pPr algn="ctr" indent="0" marL="0">
              <a:buNone/>
            </a:pPr>
            <a:r>
              <a:rPr lang="en-US" sz="1300" dirty="0">
                <a:solidFill>
                  <a:srgbClr val="1F2937"/>
                </a:solidFill>
              </a:rPr>
              <a:t>отменённые заказы</a:t>
            </a:r>
            <a:endParaRPr lang="en-US" sz="1300" dirty="0"/>
          </a:p>
        </p:txBody>
      </p:sp>
      <p:sp>
        <p:nvSpPr>
          <p:cNvPr id="12" name="Text 10"/>
          <p:cNvSpPr/>
          <p:nvPr/>
        </p:nvSpPr>
        <p:spPr>
          <a:xfrm>
            <a:off x="9235440" y="1737360"/>
            <a:ext cx="1828800" cy="274320"/>
          </a:xfrm>
          <a:prstGeom prst="rect">
            <a:avLst/>
          </a:prstGeom>
          <a:noFill/>
          <a:ln/>
        </p:spPr>
        <p:txBody>
          <a:bodyPr wrap="square" rtlCol="0" anchor="ctr"/>
          <a:lstStyle/>
          <a:p>
            <a:pPr algn="ctr" indent="0" marL="0">
              <a:buNone/>
            </a:pPr>
            <a:r>
              <a:rPr lang="en-US" sz="2200" b="1" dirty="0">
                <a:solidFill>
                  <a:srgbClr val="2E8B57"/>
                </a:solidFill>
              </a:rPr>
              <a:t>После</a:t>
            </a:r>
            <a:endParaRPr lang="en-US" sz="2200" dirty="0"/>
          </a:p>
        </p:txBody>
      </p:sp>
      <p:sp>
        <p:nvSpPr>
          <p:cNvPr id="13" name="Text 11"/>
          <p:cNvSpPr/>
          <p:nvPr/>
        </p:nvSpPr>
        <p:spPr>
          <a:xfrm>
            <a:off x="9262872" y="2377440"/>
            <a:ext cx="1783080" cy="822960"/>
          </a:xfrm>
          <a:prstGeom prst="rect">
            <a:avLst/>
          </a:prstGeom>
          <a:noFill/>
          <a:ln/>
        </p:spPr>
        <p:txBody>
          <a:bodyPr wrap="square" rtlCol="0" anchor="ctr"/>
          <a:lstStyle/>
          <a:p>
            <a:pPr algn="ctr" indent="0" marL="0">
              <a:buNone/>
            </a:pPr>
            <a:r>
              <a:rPr lang="en-US" sz="1300" dirty="0">
                <a:solidFill>
                  <a:srgbClr val="1F2937"/>
                </a:solidFill>
              </a:rPr>
              <a:t>613 строк</a:t>
            </a:r>
            <a:endParaRPr lang="en-US" sz="1300" dirty="0"/>
          </a:p>
          <a:p>
            <a:pPr algn="ctr" indent="0" marL="0">
              <a:buNone/>
            </a:pPr>
            <a:r>
              <a:rPr lang="en-US" sz="1300" dirty="0">
                <a:solidFill>
                  <a:srgbClr val="1F2937"/>
                </a:solidFill>
              </a:rPr>
              <a:t>единые категории</a:t>
            </a:r>
            <a:endParaRPr lang="en-US" sz="1300" dirty="0"/>
          </a:p>
          <a:p>
            <a:pPr algn="ctr" indent="0" marL="0">
              <a:buNone/>
            </a:pPr>
            <a:r>
              <a:rPr lang="en-US" sz="1300" dirty="0">
                <a:solidFill>
                  <a:srgbClr val="1F2937"/>
                </a:solidFill>
              </a:rPr>
              <a:t>только продажи</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Расчёт выручки</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Новая переменная должна иметь проверяемую формулу</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17</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Формула: `quantity * unit_price * (1 - discount_pct)`</a:t>
            </a:r>
            <a:endParaRPr lang="en-US" sz="1700" dirty="0"/>
          </a:p>
          <a:p>
            <a:r>
              <a:rPr lang="en-US" sz="1700" dirty="0">
                <a:solidFill>
                  <a:srgbClr val="1F2937"/>
                </a:solidFill>
              </a:rPr>
              <a:t>Показатель создаётся через `mutate()`</a:t>
            </a:r>
            <a:endParaRPr lang="en-US" sz="1700" dirty="0"/>
          </a:p>
          <a:p>
            <a:r>
              <a:rPr lang="en-US" sz="1700" dirty="0">
                <a:solidFill>
                  <a:srgbClr val="1F2937"/>
                </a:solidFill>
              </a:rPr>
              <a:t>Проверяем отрицательные и нулевые значения</a:t>
            </a:r>
            <a:endParaRPr lang="en-US" sz="1700" dirty="0"/>
          </a:p>
          <a:p>
            <a:r>
              <a:rPr lang="en-US" sz="1700" dirty="0">
                <a:solidFill>
                  <a:srgbClr val="1F2937"/>
                </a:solidFill>
              </a:rPr>
              <a:t>Сравниваем итоговую сумму с контролем</a:t>
            </a:r>
            <a:endParaRPr lang="en-US" sz="1700" dirty="0"/>
          </a:p>
        </p:txBody>
      </p:sp>
      <p:sp>
        <p:nvSpPr>
          <p:cNvPr id="8" name="Text 6"/>
          <p:cNvSpPr/>
          <p:nvPr/>
        </p:nvSpPr>
        <p:spPr>
          <a:xfrm>
            <a:off x="6172200" y="1920240"/>
            <a:ext cx="5440680" cy="502920"/>
          </a:xfrm>
          <a:prstGeom prst="rect">
            <a:avLst/>
          </a:prstGeom>
          <a:noFill/>
          <a:ln/>
        </p:spPr>
        <p:txBody>
          <a:bodyPr wrap="square" rtlCol="0" anchor="ctr">
            <a:normAutofit/>
          </a:bodyPr>
          <a:lstStyle/>
          <a:p>
            <a:pPr algn="ctr" indent="0" marL="0">
              <a:buNone/>
            </a:pPr>
            <a:r>
              <a:rPr lang="en-US" sz="2000" b="1" dirty="0">
                <a:solidFill>
                  <a:srgbClr val="102033"/>
                </a:solidFill>
              </a:rPr>
              <a:t>revenue = quantity × unit_price × (1 − discount_pct)</a:t>
            </a:r>
            <a:endParaRPr lang="en-US" sz="2000" dirty="0"/>
          </a:p>
        </p:txBody>
      </p:sp>
      <p:sp>
        <p:nvSpPr>
          <p:cNvPr id="9" name="Shape 7"/>
          <p:cNvSpPr/>
          <p:nvPr/>
        </p:nvSpPr>
        <p:spPr>
          <a:xfrm>
            <a:off x="6400800" y="3063240"/>
            <a:ext cx="4983480" cy="914400"/>
          </a:xfrm>
          <a:prstGeom prst="roundRect">
            <a:avLst>
              <a:gd name="adj" fmla="val 4000"/>
            </a:avLst>
          </a:prstGeom>
          <a:solidFill>
            <a:srgbClr val="F2F4F7"/>
          </a:solidFill>
          <a:ln w="10160">
            <a:solidFill>
              <a:srgbClr val="CAD2E0"/>
            </a:solidFill>
            <a:prstDash val="solid"/>
          </a:ln>
        </p:spPr>
      </p:sp>
      <p:sp>
        <p:nvSpPr>
          <p:cNvPr id="10" name="Text 8"/>
          <p:cNvSpPr/>
          <p:nvPr/>
        </p:nvSpPr>
        <p:spPr>
          <a:xfrm>
            <a:off x="6537960" y="3209544"/>
            <a:ext cx="4709160" cy="640080"/>
          </a:xfrm>
          <a:prstGeom prst="rect">
            <a:avLst/>
          </a:prstGeom>
          <a:noFill/>
          <a:ln/>
        </p:spPr>
        <p:txBody>
          <a:bodyPr wrap="square" lIns="0" tIns="0" rIns="0" bIns="0" rtlCol="0" anchor="ctr">
            <a:normAutofit/>
          </a:bodyPr>
          <a:lstStyle/>
          <a:p>
            <a:pPr indent="0" marL="0">
              <a:buNone/>
            </a:pPr>
            <a:r>
              <a:rPr lang="en-US" sz="1400" dirty="0">
                <a:solidFill>
                  <a:srgbClr val="8292A2"/>
                </a:solidFill>
                <a:latin typeface="Consolas" pitchFamily="34" charset="0"/>
                <a:ea typeface="Consolas" pitchFamily="34" charset="-122"/>
                <a:cs typeface="Consolas" pitchFamily="34" charset="-120"/>
              </a:rPr>
              <a:t>1 </a:t>
            </a:r>
            <a:pPr indent="0" marL="0">
              <a:buNone/>
            </a:pPr>
            <a:r>
              <a:rPr lang="en-US" sz="1400" dirty="0">
                <a:solidFill>
                  <a:srgbClr val="FFFFFF"/>
                </a:solidFill>
                <a:latin typeface="Consolas" pitchFamily="34" charset="0"/>
                <a:ea typeface="Consolas" pitchFamily="34" charset="-122"/>
                <a:cs typeface="Consolas" pitchFamily="34" charset="-120"/>
              </a:rPr>
              <a:t>mutate</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revenue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quantity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unit_price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1</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discount_pct</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Группировка</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Сначала формируем группы, затем считаем</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18</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`group_by()` задаёт группы</a:t>
            </a:r>
            <a:endParaRPr lang="en-US" sz="1700" dirty="0"/>
          </a:p>
          <a:p>
            <a:r>
              <a:rPr lang="en-US" sz="1700" dirty="0">
                <a:solidFill>
                  <a:srgbClr val="1F2937"/>
                </a:solidFill>
              </a:rPr>
              <a:t>`summarise()` считает показатели</a:t>
            </a:r>
            <a:endParaRPr lang="en-US" sz="1700" dirty="0"/>
          </a:p>
          <a:p>
            <a:r>
              <a:rPr lang="en-US" sz="1700" dirty="0">
                <a:solidFill>
                  <a:srgbClr val="1F2937"/>
                </a:solidFill>
              </a:rPr>
              <a:t>`n_distinct()` считает уникальные заказы</a:t>
            </a:r>
            <a:endParaRPr lang="en-US" sz="1700" dirty="0"/>
          </a:p>
          <a:p>
            <a:r>
              <a:rPr lang="en-US" sz="1700" dirty="0">
                <a:solidFill>
                  <a:srgbClr val="1F2937"/>
                </a:solidFill>
              </a:rPr>
              <a:t>`arrange()` фиксирует порядок результата</a:t>
            </a:r>
            <a:endParaRPr lang="en-US" sz="1700" dirty="0"/>
          </a:p>
        </p:txBody>
      </p:sp>
      <p:sp>
        <p:nvSpPr>
          <p:cNvPr id="8" name="Shape 6"/>
          <p:cNvSpPr/>
          <p:nvPr/>
        </p:nvSpPr>
        <p:spPr>
          <a:xfrm>
            <a:off x="6400800" y="2057400"/>
            <a:ext cx="1325880" cy="640080"/>
          </a:xfrm>
          <a:prstGeom prst="roundRect">
            <a:avLst>
              <a:gd name="adj" fmla="val 8571"/>
            </a:avLst>
          </a:prstGeom>
          <a:solidFill>
            <a:srgbClr val="EAF2FF"/>
          </a:solidFill>
          <a:ln w="12700">
            <a:solidFill>
              <a:srgbClr val="2867B2"/>
            </a:solidFill>
            <a:prstDash val="solid"/>
          </a:ln>
        </p:spPr>
      </p:sp>
      <p:sp>
        <p:nvSpPr>
          <p:cNvPr id="9" name="Text 7"/>
          <p:cNvSpPr/>
          <p:nvPr/>
        </p:nvSpPr>
        <p:spPr>
          <a:xfrm>
            <a:off x="6492240" y="2276856"/>
            <a:ext cx="1143000" cy="137160"/>
          </a:xfrm>
          <a:prstGeom prst="rect">
            <a:avLst/>
          </a:prstGeom>
          <a:noFill/>
          <a:ln/>
        </p:spPr>
        <p:txBody>
          <a:bodyPr wrap="square" lIns="0" tIns="0" rIns="0" bIns="0" rtlCol="0" anchor="ctr"/>
          <a:lstStyle/>
          <a:p>
            <a:pPr algn="ctr" indent="0" marL="0">
              <a:buNone/>
            </a:pPr>
            <a:r>
              <a:rPr lang="en-US" sz="1250" b="1" dirty="0">
                <a:solidFill>
                  <a:srgbClr val="2867B2"/>
                </a:solidFill>
              </a:rPr>
              <a:t>разделить</a:t>
            </a:r>
            <a:endParaRPr lang="en-US" sz="1250" dirty="0"/>
          </a:p>
        </p:txBody>
      </p:sp>
      <p:sp>
        <p:nvSpPr>
          <p:cNvPr id="10" name="Text 8"/>
          <p:cNvSpPr/>
          <p:nvPr/>
        </p:nvSpPr>
        <p:spPr>
          <a:xfrm>
            <a:off x="7754112" y="2212848"/>
            <a:ext cx="320040" cy="182880"/>
          </a:xfrm>
          <a:prstGeom prst="rect">
            <a:avLst/>
          </a:prstGeom>
          <a:noFill/>
          <a:ln/>
        </p:spPr>
        <p:txBody>
          <a:bodyPr wrap="square" lIns="0" tIns="0" rIns="0" bIns="0" rtlCol="0" anchor="ctr"/>
          <a:lstStyle/>
          <a:p>
            <a:pPr indent="0" marL="0">
              <a:buNone/>
            </a:pPr>
            <a:r>
              <a:rPr lang="en-US" sz="1800" b="1" dirty="0">
                <a:solidFill>
                  <a:srgbClr val="667085"/>
                </a:solidFill>
              </a:rPr>
              <a:t>→</a:t>
            </a:r>
            <a:endParaRPr lang="en-US" sz="1800" dirty="0"/>
          </a:p>
        </p:txBody>
      </p:sp>
      <p:sp>
        <p:nvSpPr>
          <p:cNvPr id="11" name="Shape 9"/>
          <p:cNvSpPr/>
          <p:nvPr/>
        </p:nvSpPr>
        <p:spPr>
          <a:xfrm>
            <a:off x="8092440" y="2057400"/>
            <a:ext cx="1325880" cy="640080"/>
          </a:xfrm>
          <a:prstGeom prst="roundRect">
            <a:avLst>
              <a:gd name="adj" fmla="val 8571"/>
            </a:avLst>
          </a:prstGeom>
          <a:solidFill>
            <a:srgbClr val="FFF7ED"/>
          </a:solidFill>
          <a:ln w="12700">
            <a:solidFill>
              <a:srgbClr val="E8902E"/>
            </a:solidFill>
            <a:prstDash val="solid"/>
          </a:ln>
        </p:spPr>
      </p:sp>
      <p:sp>
        <p:nvSpPr>
          <p:cNvPr id="12" name="Text 10"/>
          <p:cNvSpPr/>
          <p:nvPr/>
        </p:nvSpPr>
        <p:spPr>
          <a:xfrm>
            <a:off x="8183880" y="2276856"/>
            <a:ext cx="1143000" cy="137160"/>
          </a:xfrm>
          <a:prstGeom prst="rect">
            <a:avLst/>
          </a:prstGeom>
          <a:noFill/>
          <a:ln/>
        </p:spPr>
        <p:txBody>
          <a:bodyPr wrap="square" lIns="0" tIns="0" rIns="0" bIns="0" rtlCol="0" anchor="ctr"/>
          <a:lstStyle/>
          <a:p>
            <a:pPr algn="ctr" indent="0" marL="0">
              <a:buNone/>
            </a:pPr>
            <a:r>
              <a:rPr lang="en-US" sz="1250" b="1" dirty="0">
                <a:solidFill>
                  <a:srgbClr val="E8902E"/>
                </a:solidFill>
              </a:rPr>
              <a:t>посчитать</a:t>
            </a:r>
            <a:endParaRPr lang="en-US" sz="1250" dirty="0"/>
          </a:p>
        </p:txBody>
      </p:sp>
      <p:sp>
        <p:nvSpPr>
          <p:cNvPr id="13" name="Text 11"/>
          <p:cNvSpPr/>
          <p:nvPr/>
        </p:nvSpPr>
        <p:spPr>
          <a:xfrm>
            <a:off x="9445752" y="2212848"/>
            <a:ext cx="320040" cy="182880"/>
          </a:xfrm>
          <a:prstGeom prst="rect">
            <a:avLst/>
          </a:prstGeom>
          <a:noFill/>
          <a:ln/>
        </p:spPr>
        <p:txBody>
          <a:bodyPr wrap="square" lIns="0" tIns="0" rIns="0" bIns="0" rtlCol="0" anchor="ctr"/>
          <a:lstStyle/>
          <a:p>
            <a:pPr indent="0" marL="0">
              <a:buNone/>
            </a:pPr>
            <a:r>
              <a:rPr lang="en-US" sz="1800" b="1" dirty="0">
                <a:solidFill>
                  <a:srgbClr val="667085"/>
                </a:solidFill>
              </a:rPr>
              <a:t>→</a:t>
            </a:r>
            <a:endParaRPr lang="en-US" sz="1800" dirty="0"/>
          </a:p>
        </p:txBody>
      </p:sp>
      <p:sp>
        <p:nvSpPr>
          <p:cNvPr id="14" name="Shape 12"/>
          <p:cNvSpPr/>
          <p:nvPr/>
        </p:nvSpPr>
        <p:spPr>
          <a:xfrm>
            <a:off x="9784080" y="2057400"/>
            <a:ext cx="1325880" cy="640080"/>
          </a:xfrm>
          <a:prstGeom prst="roundRect">
            <a:avLst>
              <a:gd name="adj" fmla="val 8571"/>
            </a:avLst>
          </a:prstGeom>
          <a:solidFill>
            <a:srgbClr val="F0FDF4"/>
          </a:solidFill>
          <a:ln w="12700">
            <a:solidFill>
              <a:srgbClr val="2E8B57"/>
            </a:solidFill>
            <a:prstDash val="solid"/>
          </a:ln>
        </p:spPr>
      </p:sp>
      <p:sp>
        <p:nvSpPr>
          <p:cNvPr id="15" name="Text 13"/>
          <p:cNvSpPr/>
          <p:nvPr/>
        </p:nvSpPr>
        <p:spPr>
          <a:xfrm>
            <a:off x="9875520" y="2276856"/>
            <a:ext cx="1143000" cy="137160"/>
          </a:xfrm>
          <a:prstGeom prst="rect">
            <a:avLst/>
          </a:prstGeom>
          <a:noFill/>
          <a:ln/>
        </p:spPr>
        <p:txBody>
          <a:bodyPr wrap="square" lIns="0" tIns="0" rIns="0" bIns="0" rtlCol="0" anchor="ctr"/>
          <a:lstStyle/>
          <a:p>
            <a:pPr algn="ctr" indent="0" marL="0">
              <a:buNone/>
            </a:pPr>
            <a:r>
              <a:rPr lang="en-US" sz="1250" b="1" dirty="0">
                <a:solidFill>
                  <a:srgbClr val="2E8B57"/>
                </a:solidFill>
              </a:rPr>
              <a:t>собрать</a:t>
            </a:r>
            <a:endParaRPr lang="en-US" sz="1250" dirty="0"/>
          </a:p>
        </p:txBody>
      </p:sp>
      <p:sp>
        <p:nvSpPr>
          <p:cNvPr id="16" name="Shape 14"/>
          <p:cNvSpPr/>
          <p:nvPr/>
        </p:nvSpPr>
        <p:spPr>
          <a:xfrm>
            <a:off x="6400800" y="3337560"/>
            <a:ext cx="4983480" cy="1143000"/>
          </a:xfrm>
          <a:prstGeom prst="roundRect">
            <a:avLst>
              <a:gd name="adj" fmla="val 3200"/>
            </a:avLst>
          </a:prstGeom>
          <a:solidFill>
            <a:srgbClr val="F2F4F7"/>
          </a:solidFill>
          <a:ln w="10160">
            <a:solidFill>
              <a:srgbClr val="CAD2E0"/>
            </a:solidFill>
            <a:prstDash val="solid"/>
          </a:ln>
        </p:spPr>
      </p:sp>
      <p:sp>
        <p:nvSpPr>
          <p:cNvPr id="17" name="Text 15"/>
          <p:cNvSpPr/>
          <p:nvPr/>
        </p:nvSpPr>
        <p:spPr>
          <a:xfrm>
            <a:off x="6537960" y="3483864"/>
            <a:ext cx="4709160" cy="868680"/>
          </a:xfrm>
          <a:prstGeom prst="rect">
            <a:avLst/>
          </a:prstGeom>
          <a:noFill/>
          <a:ln/>
        </p:spPr>
        <p:txBody>
          <a:bodyPr wrap="square" lIns="0" tIns="0" rIns="0" bIns="0" rtlCol="0" anchor="ctr">
            <a:normAutofit/>
          </a:bodyPr>
          <a:lstStyle/>
          <a:p>
            <a:pPr indent="0" marL="0">
              <a:buNone/>
            </a:pPr>
            <a:r>
              <a:rPr lang="en-US" sz="1400" dirty="0">
                <a:solidFill>
                  <a:srgbClr val="8292A2"/>
                </a:solidFill>
                <a:latin typeface="Consolas" pitchFamily="34" charset="0"/>
                <a:ea typeface="Consolas" pitchFamily="34" charset="-122"/>
                <a:cs typeface="Consolas" pitchFamily="34" charset="-120"/>
              </a:rPr>
              <a:t>1 </a:t>
            </a:r>
            <a:pPr indent="0" marL="0">
              <a:buNone/>
            </a:pPr>
            <a:r>
              <a:rPr lang="en-US" sz="1400" dirty="0">
                <a:solidFill>
                  <a:srgbClr val="FFFFFF"/>
                </a:solidFill>
                <a:latin typeface="Consolas" pitchFamily="34" charset="0"/>
                <a:ea typeface="Consolas" pitchFamily="34" charset="-122"/>
                <a:cs typeface="Consolas" pitchFamily="34" charset="-120"/>
              </a:rPr>
              <a:t>group_by</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region</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&gt;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2 </a:t>
            </a:r>
            <a:pPr indent="0" marL="0">
              <a:buNone/>
            </a:pPr>
            <a:r>
              <a:rPr lang="en-US" sz="1400" dirty="0">
                <a:solidFill>
                  <a:srgbClr val="FFFFFF"/>
                </a:solidFill>
                <a:latin typeface="Consolas" pitchFamily="34" charset="0"/>
                <a:ea typeface="Consolas" pitchFamily="34" charset="-122"/>
                <a:cs typeface="Consolas" pitchFamily="34" charset="-120"/>
              </a:rPr>
              <a:t>  summarise</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revenue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sum</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revenue</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Аналитические таблицы</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Таблица является основой графика и вывода</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19</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Регионы: выручка и средний заказ</a:t>
            </a:r>
            <a:endParaRPr lang="en-US" sz="1700" dirty="0"/>
          </a:p>
          <a:p>
            <a:r>
              <a:rPr lang="en-US" sz="1700" dirty="0">
                <a:solidFill>
                  <a:srgbClr val="1F2937"/>
                </a:solidFill>
              </a:rPr>
              <a:t>Категории: вклад товарных направлений</a:t>
            </a:r>
            <a:endParaRPr lang="en-US" sz="1700" dirty="0"/>
          </a:p>
          <a:p>
            <a:r>
              <a:rPr lang="en-US" sz="1700" dirty="0">
                <a:solidFill>
                  <a:srgbClr val="1F2937"/>
                </a:solidFill>
              </a:rPr>
              <a:t>Месяцы: динамика продаж</a:t>
            </a:r>
            <a:endParaRPr lang="en-US" sz="1700" dirty="0"/>
          </a:p>
          <a:p>
            <a:r>
              <a:rPr lang="en-US" sz="1700" dirty="0">
                <a:solidFill>
                  <a:srgbClr val="1F2937"/>
                </a:solidFill>
              </a:rPr>
              <a:t>Каналы: самостоятельный мини-кейс</a:t>
            </a:r>
            <a:endParaRPr lang="en-US" sz="1700" dirty="0"/>
          </a:p>
        </p:txBody>
      </p:sp>
      <p:sp>
        <p:nvSpPr>
          <p:cNvPr id="8" name="Shape 6"/>
          <p:cNvSpPr/>
          <p:nvPr/>
        </p:nvSpPr>
        <p:spPr>
          <a:xfrm>
            <a:off x="6400800" y="1463040"/>
            <a:ext cx="1325880" cy="2240280"/>
          </a:xfrm>
          <a:prstGeom prst="roundRect">
            <a:avLst>
              <a:gd name="adj" fmla="val 4828"/>
            </a:avLst>
          </a:prstGeom>
          <a:solidFill>
            <a:srgbClr val="FFFFFF"/>
          </a:solidFill>
          <a:ln w="12700">
            <a:solidFill>
              <a:srgbClr val="2867B2"/>
            </a:solidFill>
            <a:prstDash val="solid"/>
          </a:ln>
          <a:effectLst>
            <a:outerShdw sx="100000" sy="100000" kx="0" ky="0" algn="bl" rotWithShape="0" blurRad="15240" dist="10160" dir="2700000">
              <a:srgbClr val="000000">
                <a:alpha val="8000"/>
              </a:srgbClr>
            </a:outerShdw>
          </a:effectLst>
        </p:spPr>
      </p:sp>
      <p:sp>
        <p:nvSpPr>
          <p:cNvPr id="9" name="Text 7"/>
          <p:cNvSpPr/>
          <p:nvPr/>
        </p:nvSpPr>
        <p:spPr>
          <a:xfrm>
            <a:off x="6492240" y="1783080"/>
            <a:ext cx="1143000" cy="182880"/>
          </a:xfrm>
          <a:prstGeom prst="rect">
            <a:avLst/>
          </a:prstGeom>
          <a:noFill/>
          <a:ln/>
        </p:spPr>
        <p:txBody>
          <a:bodyPr wrap="square" rtlCol="0" anchor="ctr"/>
          <a:lstStyle/>
          <a:p>
            <a:pPr algn="ctr" indent="0" marL="0">
              <a:buNone/>
            </a:pPr>
            <a:r>
              <a:rPr lang="en-US" sz="1250" b="1" dirty="0">
                <a:solidFill>
                  <a:srgbClr val="2867B2"/>
                </a:solidFill>
              </a:rPr>
              <a:t>Регионы</a:t>
            </a:r>
            <a:endParaRPr lang="en-US" sz="1250" dirty="0"/>
          </a:p>
        </p:txBody>
      </p:sp>
      <p:sp>
        <p:nvSpPr>
          <p:cNvPr id="10" name="Text 8"/>
          <p:cNvSpPr/>
          <p:nvPr/>
        </p:nvSpPr>
        <p:spPr>
          <a:xfrm>
            <a:off x="6583680" y="2331720"/>
            <a:ext cx="960120" cy="502920"/>
          </a:xfrm>
          <a:prstGeom prst="rect">
            <a:avLst/>
          </a:prstGeom>
          <a:noFill/>
          <a:ln/>
        </p:spPr>
        <p:txBody>
          <a:bodyPr wrap="square" rtlCol="0" anchor="ctr"/>
          <a:lstStyle/>
          <a:p>
            <a:pPr algn="ctr" indent="0" marL="0">
              <a:buNone/>
            </a:pPr>
            <a:r>
              <a:rPr lang="en-US" sz="1150" dirty="0">
                <a:solidFill>
                  <a:srgbClr val="1F2937"/>
                </a:solidFill>
              </a:rPr>
              <a:t>таблица</a:t>
            </a:r>
            <a:endParaRPr lang="en-US" sz="1150" dirty="0"/>
          </a:p>
          <a:p>
            <a:pPr algn="ctr" indent="0" marL="0">
              <a:buNone/>
            </a:pPr>
            <a:r>
              <a:rPr lang="en-US" sz="1150" dirty="0">
                <a:solidFill>
                  <a:srgbClr val="1F2937"/>
                </a:solidFill>
              </a:rPr>
              <a:t>→</a:t>
            </a:r>
            <a:endParaRPr lang="en-US" sz="1150" dirty="0"/>
          </a:p>
          <a:p>
            <a:pPr algn="ctr" indent="0" marL="0">
              <a:buNone/>
            </a:pPr>
            <a:r>
              <a:rPr lang="en-US" sz="1150" dirty="0">
                <a:solidFill>
                  <a:srgbClr val="1F2937"/>
                </a:solidFill>
              </a:rPr>
              <a:t>график</a:t>
            </a:r>
            <a:endParaRPr lang="en-US" sz="1150" dirty="0"/>
          </a:p>
        </p:txBody>
      </p:sp>
      <p:sp>
        <p:nvSpPr>
          <p:cNvPr id="11" name="Shape 9"/>
          <p:cNvSpPr/>
          <p:nvPr/>
        </p:nvSpPr>
        <p:spPr>
          <a:xfrm>
            <a:off x="8046720" y="1463040"/>
            <a:ext cx="1325880" cy="2240280"/>
          </a:xfrm>
          <a:prstGeom prst="roundRect">
            <a:avLst>
              <a:gd name="adj" fmla="val 4828"/>
            </a:avLst>
          </a:prstGeom>
          <a:solidFill>
            <a:srgbClr val="FFFFFF"/>
          </a:solidFill>
          <a:ln w="12700">
            <a:solidFill>
              <a:srgbClr val="2E8B57"/>
            </a:solidFill>
            <a:prstDash val="solid"/>
          </a:ln>
          <a:effectLst>
            <a:outerShdw sx="100000" sy="100000" kx="0" ky="0" algn="bl" rotWithShape="0" blurRad="15240" dist="10160" dir="2700000">
              <a:srgbClr val="000000">
                <a:alpha val="8000"/>
              </a:srgbClr>
            </a:outerShdw>
          </a:effectLst>
        </p:spPr>
      </p:sp>
      <p:sp>
        <p:nvSpPr>
          <p:cNvPr id="12" name="Text 10"/>
          <p:cNvSpPr/>
          <p:nvPr/>
        </p:nvSpPr>
        <p:spPr>
          <a:xfrm>
            <a:off x="8138160" y="1783080"/>
            <a:ext cx="1143000" cy="182880"/>
          </a:xfrm>
          <a:prstGeom prst="rect">
            <a:avLst/>
          </a:prstGeom>
          <a:noFill/>
          <a:ln/>
        </p:spPr>
        <p:txBody>
          <a:bodyPr wrap="square" rtlCol="0" anchor="ctr"/>
          <a:lstStyle/>
          <a:p>
            <a:pPr algn="ctr" indent="0" marL="0">
              <a:buNone/>
            </a:pPr>
            <a:r>
              <a:rPr lang="en-US" sz="1250" b="1" dirty="0">
                <a:solidFill>
                  <a:srgbClr val="2E8B57"/>
                </a:solidFill>
              </a:rPr>
              <a:t>Категории</a:t>
            </a:r>
            <a:endParaRPr lang="en-US" sz="1250" dirty="0"/>
          </a:p>
        </p:txBody>
      </p:sp>
      <p:sp>
        <p:nvSpPr>
          <p:cNvPr id="13" name="Text 11"/>
          <p:cNvSpPr/>
          <p:nvPr/>
        </p:nvSpPr>
        <p:spPr>
          <a:xfrm>
            <a:off x="8229600" y="2331720"/>
            <a:ext cx="960120" cy="502920"/>
          </a:xfrm>
          <a:prstGeom prst="rect">
            <a:avLst/>
          </a:prstGeom>
          <a:noFill/>
          <a:ln/>
        </p:spPr>
        <p:txBody>
          <a:bodyPr wrap="square" rtlCol="0" anchor="ctr"/>
          <a:lstStyle/>
          <a:p>
            <a:pPr algn="ctr" indent="0" marL="0">
              <a:buNone/>
            </a:pPr>
            <a:r>
              <a:rPr lang="en-US" sz="1150" dirty="0">
                <a:solidFill>
                  <a:srgbClr val="1F2937"/>
                </a:solidFill>
              </a:rPr>
              <a:t>таблица</a:t>
            </a:r>
            <a:endParaRPr lang="en-US" sz="1150" dirty="0"/>
          </a:p>
          <a:p>
            <a:pPr algn="ctr" indent="0" marL="0">
              <a:buNone/>
            </a:pPr>
            <a:r>
              <a:rPr lang="en-US" sz="1150" dirty="0">
                <a:solidFill>
                  <a:srgbClr val="1F2937"/>
                </a:solidFill>
              </a:rPr>
              <a:t>→</a:t>
            </a:r>
            <a:endParaRPr lang="en-US" sz="1150" dirty="0"/>
          </a:p>
          <a:p>
            <a:pPr algn="ctr" indent="0" marL="0">
              <a:buNone/>
            </a:pPr>
            <a:r>
              <a:rPr lang="en-US" sz="1150" dirty="0">
                <a:solidFill>
                  <a:srgbClr val="1F2937"/>
                </a:solidFill>
              </a:rPr>
              <a:t>график</a:t>
            </a:r>
            <a:endParaRPr lang="en-US" sz="1150" dirty="0"/>
          </a:p>
        </p:txBody>
      </p:sp>
      <p:sp>
        <p:nvSpPr>
          <p:cNvPr id="14" name="Shape 12"/>
          <p:cNvSpPr/>
          <p:nvPr/>
        </p:nvSpPr>
        <p:spPr>
          <a:xfrm>
            <a:off x="9692640" y="1463040"/>
            <a:ext cx="1325880" cy="2240280"/>
          </a:xfrm>
          <a:prstGeom prst="roundRect">
            <a:avLst>
              <a:gd name="adj" fmla="val 4828"/>
            </a:avLst>
          </a:prstGeom>
          <a:solidFill>
            <a:srgbClr val="FFFFFF"/>
          </a:solidFill>
          <a:ln w="12700">
            <a:solidFill>
              <a:srgbClr val="E8902E"/>
            </a:solidFill>
            <a:prstDash val="solid"/>
          </a:ln>
          <a:effectLst>
            <a:outerShdw sx="100000" sy="100000" kx="0" ky="0" algn="bl" rotWithShape="0" blurRad="15240" dist="10160" dir="2700000">
              <a:srgbClr val="000000">
                <a:alpha val="8000"/>
              </a:srgbClr>
            </a:outerShdw>
          </a:effectLst>
        </p:spPr>
      </p:sp>
      <p:sp>
        <p:nvSpPr>
          <p:cNvPr id="15" name="Text 13"/>
          <p:cNvSpPr/>
          <p:nvPr/>
        </p:nvSpPr>
        <p:spPr>
          <a:xfrm>
            <a:off x="9784080" y="1783080"/>
            <a:ext cx="1143000" cy="182880"/>
          </a:xfrm>
          <a:prstGeom prst="rect">
            <a:avLst/>
          </a:prstGeom>
          <a:noFill/>
          <a:ln/>
        </p:spPr>
        <p:txBody>
          <a:bodyPr wrap="square" rtlCol="0" anchor="ctr"/>
          <a:lstStyle/>
          <a:p>
            <a:pPr algn="ctr" indent="0" marL="0">
              <a:buNone/>
            </a:pPr>
            <a:r>
              <a:rPr lang="en-US" sz="1250" b="1" dirty="0">
                <a:solidFill>
                  <a:srgbClr val="E8902E"/>
                </a:solidFill>
              </a:rPr>
              <a:t>Месяцы</a:t>
            </a:r>
            <a:endParaRPr lang="en-US" sz="1250" dirty="0"/>
          </a:p>
        </p:txBody>
      </p:sp>
      <p:sp>
        <p:nvSpPr>
          <p:cNvPr id="16" name="Text 14"/>
          <p:cNvSpPr/>
          <p:nvPr/>
        </p:nvSpPr>
        <p:spPr>
          <a:xfrm>
            <a:off x="9875520" y="2331720"/>
            <a:ext cx="960120" cy="502920"/>
          </a:xfrm>
          <a:prstGeom prst="rect">
            <a:avLst/>
          </a:prstGeom>
          <a:noFill/>
          <a:ln/>
        </p:spPr>
        <p:txBody>
          <a:bodyPr wrap="square" rtlCol="0" anchor="ctr"/>
          <a:lstStyle/>
          <a:p>
            <a:pPr algn="ctr" indent="0" marL="0">
              <a:buNone/>
            </a:pPr>
            <a:r>
              <a:rPr lang="en-US" sz="1150" dirty="0">
                <a:solidFill>
                  <a:srgbClr val="1F2937"/>
                </a:solidFill>
              </a:rPr>
              <a:t>таблица</a:t>
            </a:r>
            <a:endParaRPr lang="en-US" sz="1150" dirty="0"/>
          </a:p>
          <a:p>
            <a:pPr algn="ctr" indent="0" marL="0">
              <a:buNone/>
            </a:pPr>
            <a:r>
              <a:rPr lang="en-US" sz="1150" dirty="0">
                <a:solidFill>
                  <a:srgbClr val="1F2937"/>
                </a:solidFill>
              </a:rPr>
              <a:t>→</a:t>
            </a:r>
            <a:endParaRPr lang="en-US" sz="1150" dirty="0"/>
          </a:p>
          <a:p>
            <a:pPr algn="ctr" indent="0" marL="0">
              <a:buNone/>
            </a:pPr>
            <a:r>
              <a:rPr lang="en-US" sz="1150" dirty="0">
                <a:solidFill>
                  <a:srgbClr val="1F2937"/>
                </a:solidFill>
              </a:rPr>
              <a:t>график</a:t>
            </a:r>
            <a:endParaRPr lang="en-US" sz="1150" dirty="0"/>
          </a:p>
        </p:txBody>
      </p:sp>
      <p:sp>
        <p:nvSpPr>
          <p:cNvPr id="17" name="Text 15"/>
          <p:cNvSpPr/>
          <p:nvPr/>
        </p:nvSpPr>
        <p:spPr>
          <a:xfrm>
            <a:off x="6400800" y="4251960"/>
            <a:ext cx="4937760" cy="274320"/>
          </a:xfrm>
          <a:prstGeom prst="rect">
            <a:avLst/>
          </a:prstGeom>
          <a:noFill/>
          <a:ln/>
        </p:spPr>
        <p:txBody>
          <a:bodyPr wrap="square" rtlCol="0" anchor="ctr"/>
          <a:lstStyle/>
          <a:p>
            <a:pPr algn="ctr" indent="0" marL="0">
              <a:buNone/>
            </a:pPr>
            <a:r>
              <a:rPr lang="en-US" sz="1600" b="1" dirty="0">
                <a:solidFill>
                  <a:srgbClr val="2867B2"/>
                </a:solidFill>
              </a:rPr>
              <a:t>лидер: Санкт-Петербург</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Грамматика графика</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График собирается из компонентов</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20</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`ggplot()` получает данные</a:t>
            </a:r>
            <a:endParaRPr lang="en-US" sz="1700" dirty="0"/>
          </a:p>
          <a:p>
            <a:r>
              <a:rPr lang="en-US" sz="1700" dirty="0">
                <a:solidFill>
                  <a:srgbClr val="1F2937"/>
                </a:solidFill>
              </a:rPr>
              <a:t>`aes()` связывает поля с осями</a:t>
            </a:r>
            <a:endParaRPr lang="en-US" sz="1700" dirty="0"/>
          </a:p>
          <a:p>
            <a:r>
              <a:rPr lang="en-US" sz="1700" dirty="0">
                <a:solidFill>
                  <a:srgbClr val="1F2937"/>
                </a:solidFill>
              </a:rPr>
              <a:t>`geom_*()` выбирает тип отображения</a:t>
            </a:r>
            <a:endParaRPr lang="en-US" sz="1700" dirty="0"/>
          </a:p>
          <a:p>
            <a:r>
              <a:rPr lang="en-US" sz="1700" dirty="0">
                <a:solidFill>
                  <a:srgbClr val="1F2937"/>
                </a:solidFill>
              </a:rPr>
              <a:t>`labs()` задаёт подписи</a:t>
            </a:r>
            <a:endParaRPr lang="en-US" sz="1700" dirty="0"/>
          </a:p>
        </p:txBody>
      </p:sp>
      <p:sp>
        <p:nvSpPr>
          <p:cNvPr id="8" name="Shape 6"/>
          <p:cNvSpPr/>
          <p:nvPr/>
        </p:nvSpPr>
        <p:spPr>
          <a:xfrm>
            <a:off x="6400800" y="1554480"/>
            <a:ext cx="4983480" cy="1508760"/>
          </a:xfrm>
          <a:prstGeom prst="roundRect">
            <a:avLst>
              <a:gd name="adj" fmla="val 2424"/>
            </a:avLst>
          </a:prstGeom>
          <a:solidFill>
            <a:srgbClr val="F2F4F7"/>
          </a:solidFill>
          <a:ln w="10160">
            <a:solidFill>
              <a:srgbClr val="CAD2E0"/>
            </a:solidFill>
            <a:prstDash val="solid"/>
          </a:ln>
        </p:spPr>
      </p:sp>
      <p:sp>
        <p:nvSpPr>
          <p:cNvPr id="9" name="Text 7"/>
          <p:cNvSpPr/>
          <p:nvPr/>
        </p:nvSpPr>
        <p:spPr>
          <a:xfrm>
            <a:off x="6537960" y="1700784"/>
            <a:ext cx="4709160" cy="1234440"/>
          </a:xfrm>
          <a:prstGeom prst="rect">
            <a:avLst/>
          </a:prstGeom>
          <a:noFill/>
          <a:ln/>
        </p:spPr>
        <p:txBody>
          <a:bodyPr wrap="square" lIns="0" tIns="0" rIns="0" bIns="0" rtlCol="0" anchor="ctr">
            <a:normAutofit/>
          </a:bodyPr>
          <a:lstStyle/>
          <a:p>
            <a:pPr indent="0" marL="0">
              <a:buNone/>
            </a:pPr>
            <a:r>
              <a:rPr lang="en-US" sz="1400" dirty="0">
                <a:solidFill>
                  <a:srgbClr val="8292A2"/>
                </a:solidFill>
                <a:latin typeface="Consolas" pitchFamily="34" charset="0"/>
                <a:ea typeface="Consolas" pitchFamily="34" charset="-122"/>
                <a:cs typeface="Consolas" pitchFamily="34" charset="-120"/>
              </a:rPr>
              <a:t>1 </a:t>
            </a:r>
            <a:pPr indent="0" marL="0">
              <a:buNone/>
            </a:pPr>
            <a:r>
              <a:rPr lang="en-US" sz="1400" dirty="0">
                <a:solidFill>
                  <a:srgbClr val="FFFFFF"/>
                </a:solidFill>
                <a:latin typeface="Consolas" pitchFamily="34" charset="0"/>
                <a:ea typeface="Consolas" pitchFamily="34" charset="-122"/>
                <a:cs typeface="Consolas" pitchFamily="34" charset="-120"/>
              </a:rPr>
              <a:t>ggplot</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data</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aes</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x</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y</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2 </a:t>
            </a:r>
            <a:pPr indent="0" marL="0">
              <a:buNone/>
            </a:pPr>
            <a:r>
              <a:rPr lang="en-US" sz="1400" dirty="0">
                <a:solidFill>
                  <a:srgbClr val="FFFFFF"/>
                </a:solidFill>
                <a:latin typeface="Consolas" pitchFamily="34" charset="0"/>
                <a:ea typeface="Consolas" pitchFamily="34" charset="-122"/>
                <a:cs typeface="Consolas" pitchFamily="34" charset="-120"/>
              </a:rPr>
              <a:t>  geom_col</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8292A2"/>
                </a:solidFill>
                <a:latin typeface="Consolas" pitchFamily="34" charset="0"/>
                <a:ea typeface="Consolas" pitchFamily="34" charset="-122"/>
                <a:cs typeface="Consolas" pitchFamily="34" charset="-120"/>
              </a:rPr>
              <a:t>3 </a:t>
            </a:r>
            <a:pPr indent="0" marL="0">
              <a:buNone/>
            </a:pPr>
            <a:r>
              <a:rPr lang="en-US" sz="1400" dirty="0">
                <a:solidFill>
                  <a:srgbClr val="FFFFFF"/>
                </a:solidFill>
                <a:latin typeface="Consolas" pitchFamily="34" charset="0"/>
                <a:ea typeface="Consolas" pitchFamily="34" charset="-122"/>
                <a:cs typeface="Consolas" pitchFamily="34" charset="-120"/>
              </a:rPr>
              <a:t>  labs</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title </a:t>
            </a:r>
            <a:pPr indent="0" marL="0">
              <a:buNone/>
            </a:pPr>
            <a:r>
              <a:rPr lang="en-US" sz="1400" dirty="0">
                <a:solidFill>
                  <a:srgbClr val="F8F8F2"/>
                </a:solidFill>
                <a:latin typeface="Consolas" pitchFamily="34" charset="0"/>
                <a:ea typeface="Consolas" pitchFamily="34" charset="-122"/>
                <a:cs typeface="Consolas" pitchFamily="34" charset="-120"/>
              </a:rPr>
              <a:t>=</a:t>
            </a:r>
            <a:pPr indent="0" marL="0">
              <a:buNone/>
            </a:pPr>
            <a:r>
              <a:rPr lang="en-US" sz="1400" dirty="0">
                <a:solidFill>
                  <a:srgbClr val="FFFFFF"/>
                </a:solidFill>
                <a:latin typeface="Consolas" pitchFamily="34" charset="0"/>
                <a:ea typeface="Consolas" pitchFamily="34" charset="-122"/>
                <a:cs typeface="Consolas" pitchFamily="34" charset="-120"/>
              </a:rPr>
              <a:t> </a:t>
            </a:r>
            <a:pPr indent="0" marL="0">
              <a:buNone/>
            </a:pPr>
            <a:r>
              <a:rPr lang="en-US" sz="1400" dirty="0">
                <a:solidFill>
                  <a:srgbClr val="FFFFFF"/>
                </a:solidFill>
                <a:latin typeface="Consolas" pitchFamily="34" charset="0"/>
                <a:ea typeface="Consolas" pitchFamily="34" charset="-122"/>
                <a:cs typeface="Consolas" pitchFamily="34" charset="-120"/>
              </a:rPr>
              <a:t>"..."</a:t>
            </a:r>
            <a:pPr indent="0" marL="0">
              <a:buNone/>
            </a:pPr>
            <a:r>
              <a:rPr lang="en-US" sz="1400" dirty="0">
                <a:solidFill>
                  <a:srgbClr val="F8F8F2"/>
                </a:solidFill>
                <a:latin typeface="Consolas" pitchFamily="34" charset="0"/>
                <a:ea typeface="Consolas" pitchFamily="34" charset="-122"/>
                <a:cs typeface="Consolas" pitchFamily="34" charset="-120"/>
              </a:rPr>
              <a:t>)</a:t>
            </a:r>
            <a:endParaRPr lang="en-US" sz="1400" dirty="0"/>
          </a:p>
        </p:txBody>
      </p:sp>
      <p:sp>
        <p:nvSpPr>
          <p:cNvPr id="10" name="Shape 8"/>
          <p:cNvSpPr/>
          <p:nvPr/>
        </p:nvSpPr>
        <p:spPr>
          <a:xfrm>
            <a:off x="6492240" y="3657600"/>
            <a:ext cx="868680" cy="411480"/>
          </a:xfrm>
          <a:prstGeom prst="roundRect">
            <a:avLst>
              <a:gd name="adj" fmla="val 11111"/>
            </a:avLst>
          </a:prstGeom>
          <a:solidFill>
            <a:srgbClr val="EAF2FF"/>
          </a:solidFill>
          <a:ln w="10160">
            <a:solidFill>
              <a:srgbClr val="2867B2"/>
            </a:solidFill>
            <a:prstDash val="solid"/>
          </a:ln>
        </p:spPr>
      </p:sp>
      <p:sp>
        <p:nvSpPr>
          <p:cNvPr id="11" name="Text 9"/>
          <p:cNvSpPr/>
          <p:nvPr/>
        </p:nvSpPr>
        <p:spPr>
          <a:xfrm>
            <a:off x="6556248" y="3803904"/>
            <a:ext cx="749808" cy="109728"/>
          </a:xfrm>
          <a:prstGeom prst="rect">
            <a:avLst/>
          </a:prstGeom>
          <a:noFill/>
          <a:ln/>
        </p:spPr>
        <p:txBody>
          <a:bodyPr wrap="square" lIns="0" tIns="0" rIns="0" bIns="0" rtlCol="0" anchor="ctr"/>
          <a:lstStyle/>
          <a:p>
            <a:pPr algn="ctr" indent="0" marL="0">
              <a:buNone/>
            </a:pPr>
            <a:r>
              <a:rPr lang="en-US" sz="1050" b="1" dirty="0">
                <a:solidFill>
                  <a:srgbClr val="2867B2"/>
                </a:solidFill>
              </a:rPr>
              <a:t>data</a:t>
            </a:r>
            <a:endParaRPr lang="en-US" sz="1050" dirty="0"/>
          </a:p>
        </p:txBody>
      </p:sp>
      <p:sp>
        <p:nvSpPr>
          <p:cNvPr id="12" name="Shape 10"/>
          <p:cNvSpPr/>
          <p:nvPr/>
        </p:nvSpPr>
        <p:spPr>
          <a:xfrm>
            <a:off x="7635240" y="3657600"/>
            <a:ext cx="868680" cy="411480"/>
          </a:xfrm>
          <a:prstGeom prst="roundRect">
            <a:avLst>
              <a:gd name="adj" fmla="val 11111"/>
            </a:avLst>
          </a:prstGeom>
          <a:solidFill>
            <a:srgbClr val="EAF2FF"/>
          </a:solidFill>
          <a:ln w="10160">
            <a:solidFill>
              <a:srgbClr val="2867B2"/>
            </a:solidFill>
            <a:prstDash val="solid"/>
          </a:ln>
        </p:spPr>
      </p:sp>
      <p:sp>
        <p:nvSpPr>
          <p:cNvPr id="13" name="Text 11"/>
          <p:cNvSpPr/>
          <p:nvPr/>
        </p:nvSpPr>
        <p:spPr>
          <a:xfrm>
            <a:off x="7699248" y="3803904"/>
            <a:ext cx="749808" cy="109728"/>
          </a:xfrm>
          <a:prstGeom prst="rect">
            <a:avLst/>
          </a:prstGeom>
          <a:noFill/>
          <a:ln/>
        </p:spPr>
        <p:txBody>
          <a:bodyPr wrap="square" lIns="0" tIns="0" rIns="0" bIns="0" rtlCol="0" anchor="ctr"/>
          <a:lstStyle/>
          <a:p>
            <a:pPr algn="ctr" indent="0" marL="0">
              <a:buNone/>
            </a:pPr>
            <a:r>
              <a:rPr lang="en-US" sz="1050" b="1" dirty="0">
                <a:solidFill>
                  <a:srgbClr val="2867B2"/>
                </a:solidFill>
              </a:rPr>
              <a:t>aes</a:t>
            </a:r>
            <a:endParaRPr lang="en-US" sz="1050" dirty="0"/>
          </a:p>
        </p:txBody>
      </p:sp>
      <p:sp>
        <p:nvSpPr>
          <p:cNvPr id="14" name="Shape 12"/>
          <p:cNvSpPr/>
          <p:nvPr/>
        </p:nvSpPr>
        <p:spPr>
          <a:xfrm>
            <a:off x="8778240" y="3657600"/>
            <a:ext cx="868680" cy="411480"/>
          </a:xfrm>
          <a:prstGeom prst="roundRect">
            <a:avLst>
              <a:gd name="adj" fmla="val 11111"/>
            </a:avLst>
          </a:prstGeom>
          <a:solidFill>
            <a:srgbClr val="EAF2FF"/>
          </a:solidFill>
          <a:ln w="10160">
            <a:solidFill>
              <a:srgbClr val="2867B2"/>
            </a:solidFill>
            <a:prstDash val="solid"/>
          </a:ln>
        </p:spPr>
      </p:sp>
      <p:sp>
        <p:nvSpPr>
          <p:cNvPr id="15" name="Text 13"/>
          <p:cNvSpPr/>
          <p:nvPr/>
        </p:nvSpPr>
        <p:spPr>
          <a:xfrm>
            <a:off x="8842248" y="3803904"/>
            <a:ext cx="749808" cy="109728"/>
          </a:xfrm>
          <a:prstGeom prst="rect">
            <a:avLst/>
          </a:prstGeom>
          <a:noFill/>
          <a:ln/>
        </p:spPr>
        <p:txBody>
          <a:bodyPr wrap="square" lIns="0" tIns="0" rIns="0" bIns="0" rtlCol="0" anchor="ctr"/>
          <a:lstStyle/>
          <a:p>
            <a:pPr algn="ctr" indent="0" marL="0">
              <a:buNone/>
            </a:pPr>
            <a:r>
              <a:rPr lang="en-US" sz="1050" b="1" dirty="0">
                <a:solidFill>
                  <a:srgbClr val="2867B2"/>
                </a:solidFill>
              </a:rPr>
              <a:t>geom</a:t>
            </a:r>
            <a:endParaRPr lang="en-US" sz="1050" dirty="0"/>
          </a:p>
        </p:txBody>
      </p:sp>
      <p:sp>
        <p:nvSpPr>
          <p:cNvPr id="16" name="Shape 14"/>
          <p:cNvSpPr/>
          <p:nvPr/>
        </p:nvSpPr>
        <p:spPr>
          <a:xfrm>
            <a:off x="9921240" y="3657600"/>
            <a:ext cx="868680" cy="411480"/>
          </a:xfrm>
          <a:prstGeom prst="roundRect">
            <a:avLst>
              <a:gd name="adj" fmla="val 11111"/>
            </a:avLst>
          </a:prstGeom>
          <a:solidFill>
            <a:srgbClr val="EAF2FF"/>
          </a:solidFill>
          <a:ln w="10160">
            <a:solidFill>
              <a:srgbClr val="2867B2"/>
            </a:solidFill>
            <a:prstDash val="solid"/>
          </a:ln>
        </p:spPr>
      </p:sp>
      <p:sp>
        <p:nvSpPr>
          <p:cNvPr id="17" name="Text 15"/>
          <p:cNvSpPr/>
          <p:nvPr/>
        </p:nvSpPr>
        <p:spPr>
          <a:xfrm>
            <a:off x="9985248" y="3803904"/>
            <a:ext cx="749808" cy="109728"/>
          </a:xfrm>
          <a:prstGeom prst="rect">
            <a:avLst/>
          </a:prstGeom>
          <a:noFill/>
          <a:ln/>
        </p:spPr>
        <p:txBody>
          <a:bodyPr wrap="square" lIns="0" tIns="0" rIns="0" bIns="0" rtlCol="0" anchor="ctr"/>
          <a:lstStyle/>
          <a:p>
            <a:pPr algn="ctr" indent="0" marL="0">
              <a:buNone/>
            </a:pPr>
            <a:r>
              <a:rPr lang="en-US" sz="1050" b="1" dirty="0">
                <a:solidFill>
                  <a:srgbClr val="2867B2"/>
                </a:solidFill>
              </a:rPr>
              <a:t>labs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График под вопрос</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Тип графика зависит от аналитической задачи</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21</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Категории сравниваем столбцами</a:t>
            </a:r>
            <a:endParaRPr lang="en-US" sz="1700" dirty="0"/>
          </a:p>
          <a:p>
            <a:r>
              <a:rPr lang="en-US" sz="1700" dirty="0">
                <a:solidFill>
                  <a:srgbClr val="1F2937"/>
                </a:solidFill>
              </a:rPr>
              <a:t>Динамику показываем линией</a:t>
            </a:r>
            <a:endParaRPr lang="en-US" sz="1700" dirty="0"/>
          </a:p>
          <a:p>
            <a:r>
              <a:rPr lang="en-US" sz="1700" dirty="0">
                <a:solidFill>
                  <a:srgbClr val="1F2937"/>
                </a:solidFill>
              </a:rPr>
              <a:t>Оси и заголовок должны быть понятны</a:t>
            </a:r>
            <a:endParaRPr lang="en-US" sz="1700" dirty="0"/>
          </a:p>
          <a:p>
            <a:r>
              <a:rPr lang="en-US" sz="1700" dirty="0">
                <a:solidFill>
                  <a:srgbClr val="1F2937"/>
                </a:solidFill>
              </a:rPr>
              <a:t>График должен подтверждаться таблицей</a:t>
            </a:r>
            <a:endParaRPr lang="en-US" sz="1700" dirty="0"/>
          </a:p>
        </p:txBody>
      </p:sp>
      <p:graphicFrame>
        <p:nvGraphicFramePr>
          <p:cNvPr id="8" name="Chart 0" descr=""/>
          <p:cNvGraphicFramePr/>
          <p:nvPr/>
        </p:nvGraphicFramePr>
        <p:xfrm>
          <a:off x="6263640" y="1234440"/>
          <a:ext cx="2606040" cy="274320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Chart 1" descr=""/>
          <p:cNvGraphicFramePr/>
          <p:nvPr/>
        </p:nvGraphicFramePr>
        <p:xfrm>
          <a:off x="9006840" y="1234440"/>
          <a:ext cx="2560320" cy="274320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p:nvPr/>
        </p:nvSpPr>
        <p:spPr>
          <a:xfrm>
            <a:off x="6629400" y="4160520"/>
            <a:ext cx="1828800" cy="182880"/>
          </a:xfrm>
          <a:prstGeom prst="rect">
            <a:avLst/>
          </a:prstGeom>
          <a:noFill/>
          <a:ln/>
        </p:spPr>
        <p:txBody>
          <a:bodyPr wrap="square" rtlCol="0" anchor="ctr"/>
          <a:lstStyle/>
          <a:p>
            <a:pPr algn="ctr" indent="0" marL="0">
              <a:buNone/>
            </a:pPr>
            <a:r>
              <a:rPr lang="en-US" sz="1300" b="1" dirty="0">
                <a:solidFill>
                  <a:srgbClr val="2867B2"/>
                </a:solidFill>
              </a:rPr>
              <a:t>категории</a:t>
            </a:r>
            <a:endParaRPr lang="en-US" sz="1300" dirty="0"/>
          </a:p>
        </p:txBody>
      </p:sp>
      <p:sp>
        <p:nvSpPr>
          <p:cNvPr id="11" name="Text 7"/>
          <p:cNvSpPr/>
          <p:nvPr/>
        </p:nvSpPr>
        <p:spPr>
          <a:xfrm>
            <a:off x="9372600" y="4160520"/>
            <a:ext cx="1828800" cy="182880"/>
          </a:xfrm>
          <a:prstGeom prst="rect">
            <a:avLst/>
          </a:prstGeom>
          <a:noFill/>
          <a:ln/>
        </p:spPr>
        <p:txBody>
          <a:bodyPr wrap="square" rtlCol="0" anchor="ctr"/>
          <a:lstStyle/>
          <a:p>
            <a:pPr algn="ctr" indent="0" marL="0">
              <a:buNone/>
            </a:pPr>
            <a:r>
              <a:rPr lang="en-US" sz="1300" b="1" dirty="0">
                <a:solidFill>
                  <a:srgbClr val="2E8B57"/>
                </a:solidFill>
              </a:rPr>
              <a:t>динамика</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7498080" cy="411480"/>
          </a:xfrm>
          <a:prstGeom prst="rect">
            <a:avLst/>
          </a:prstGeom>
          <a:noFill/>
          <a:ln/>
        </p:spPr>
        <p:txBody>
          <a:bodyPr wrap="square" lIns="254" tIns="254" rIns="254" bIns="254" rtlCol="0" anchor="ctr">
            <a:normAutofit/>
          </a:bodyPr>
          <a:lstStyle/>
          <a:p>
            <a:pPr indent="0" marL="0">
              <a:buNone/>
            </a:pPr>
            <a:r>
              <a:rPr lang="en-US" sz="2700" b="1" dirty="0">
                <a:solidFill>
                  <a:srgbClr val="102033"/>
                </a:solidFill>
              </a:rPr>
              <a:t>Контроль качества</a:t>
            </a:r>
            <a:endParaRPr lang="en-US" sz="2700" dirty="0"/>
          </a:p>
        </p:txBody>
      </p:sp>
      <p:sp>
        <p:nvSpPr>
          <p:cNvPr id="3" name="Text 1"/>
          <p:cNvSpPr/>
          <p:nvPr/>
        </p:nvSpPr>
        <p:spPr>
          <a:xfrm>
            <a:off x="521208" y="804672"/>
            <a:ext cx="7772400" cy="256032"/>
          </a:xfrm>
          <a:prstGeom prst="rect">
            <a:avLst/>
          </a:prstGeom>
          <a:noFill/>
          <a:ln/>
        </p:spPr>
        <p:txBody>
          <a:bodyPr wrap="square" lIns="0" tIns="0" rIns="0" bIns="0" rtlCol="0" anchor="ctr">
            <a:normAutofit/>
          </a:bodyPr>
          <a:lstStyle/>
          <a:p>
            <a:pPr indent="0" marL="0">
              <a:buNone/>
            </a:pPr>
            <a:r>
              <a:rPr lang="en-US" sz="1150" dirty="0">
                <a:solidFill>
                  <a:srgbClr val="667085"/>
                </a:solidFill>
              </a:rPr>
              <a:t>Результат должен быть воспроизводимым</a:t>
            </a:r>
            <a:endParaRPr lang="en-US" sz="1150" dirty="0"/>
          </a:p>
        </p:txBody>
      </p:sp>
      <p:sp>
        <p:nvSpPr>
          <p:cNvPr id="4" name="Shape 2"/>
          <p:cNvSpPr/>
          <p:nvPr/>
        </p:nvSpPr>
        <p:spPr>
          <a:xfrm>
            <a:off x="502920" y="6446520"/>
            <a:ext cx="11201400" cy="0"/>
          </a:xfrm>
          <a:prstGeom prst="line">
            <a:avLst/>
          </a:prstGeom>
          <a:noFill/>
          <a:ln w="6350">
            <a:solidFill>
              <a:srgbClr val="D8DEE9"/>
            </a:solidFill>
            <a:prstDash val="solid"/>
          </a:ln>
        </p:spPr>
      </p:sp>
      <p:sp>
        <p:nvSpPr>
          <p:cNvPr id="5" name="Text 3"/>
          <p:cNvSpPr/>
          <p:nvPr/>
        </p:nvSpPr>
        <p:spPr>
          <a:xfrm>
            <a:off x="502920" y="6519672"/>
            <a:ext cx="5852160" cy="182880"/>
          </a:xfrm>
          <a:prstGeom prst="rect">
            <a:avLst/>
          </a:prstGeom>
          <a:noFill/>
          <a:ln/>
        </p:spPr>
        <p:txBody>
          <a:bodyPr wrap="square" lIns="0" tIns="0" rIns="0" bIns="0" rtlCol="0" anchor="ctr"/>
          <a:lstStyle/>
          <a:p>
            <a:pPr indent="0" marL="0">
              <a:buNone/>
            </a:pPr>
            <a:r>
              <a:rPr lang="en-US" sz="750" dirty="0">
                <a:solidFill>
                  <a:srgbClr val="667085"/>
                </a:solidFill>
              </a:rPr>
              <a:t>Основы работы с R для обработки данных</a:t>
            </a:r>
            <a:endParaRPr lang="en-US" sz="750" dirty="0"/>
          </a:p>
        </p:txBody>
      </p:sp>
      <p:sp>
        <p:nvSpPr>
          <p:cNvPr id="6" name="Text 4"/>
          <p:cNvSpPr/>
          <p:nvPr/>
        </p:nvSpPr>
        <p:spPr>
          <a:xfrm>
            <a:off x="11201400" y="6492240"/>
            <a:ext cx="502920" cy="228600"/>
          </a:xfrm>
          <a:prstGeom prst="rect">
            <a:avLst/>
          </a:prstGeom>
          <a:noFill/>
          <a:ln/>
        </p:spPr>
        <p:txBody>
          <a:bodyPr wrap="square" lIns="0" tIns="0" rIns="0" bIns="0" rtlCol="0" anchor="ctr"/>
          <a:lstStyle/>
          <a:p>
            <a:pPr algn="r" indent="0" marL="0">
              <a:buNone/>
            </a:pPr>
            <a:r>
              <a:rPr lang="en-US" sz="850" b="1" dirty="0">
                <a:solidFill>
                  <a:srgbClr val="2867B2"/>
                </a:solidFill>
              </a:rPr>
              <a:t>22</a:t>
            </a:r>
            <a:endParaRPr lang="en-US" sz="850" dirty="0"/>
          </a:p>
        </p:txBody>
      </p:sp>
      <p:sp>
        <p:nvSpPr>
          <p:cNvPr id="7" name="Text 5"/>
          <p:cNvSpPr/>
          <p:nvPr/>
        </p:nvSpPr>
        <p:spPr>
          <a:xfrm>
            <a:off x="685800" y="1261872"/>
            <a:ext cx="5212080" cy="4480560"/>
          </a:xfrm>
          <a:prstGeom prst="rect">
            <a:avLst/>
          </a:prstGeom>
          <a:noFill/>
          <a:ln/>
        </p:spPr>
        <p:txBody>
          <a:bodyPr wrap="square" lIns="1016" tIns="1016" rIns="1016" bIns="1016" rtlCol="0" anchor="ctr">
            <a:normAutofit/>
          </a:bodyPr>
          <a:lstStyle/>
          <a:p>
            <a:r>
              <a:rPr lang="en-US" sz="1700" dirty="0">
                <a:solidFill>
                  <a:srgbClr val="1F2937"/>
                </a:solidFill>
              </a:rPr>
              <a:t>Скрипт запускается сверху вниз</a:t>
            </a:r>
            <a:endParaRPr lang="en-US" sz="1700" dirty="0"/>
          </a:p>
          <a:p>
            <a:r>
              <a:rPr lang="en-US" sz="1700" dirty="0">
                <a:solidFill>
                  <a:srgbClr val="1F2937"/>
                </a:solidFill>
              </a:rPr>
              <a:t>Контрольные значения совпадают</a:t>
            </a:r>
            <a:endParaRPr lang="en-US" sz="1700" dirty="0"/>
          </a:p>
          <a:p>
            <a:r>
              <a:rPr lang="en-US" sz="1700" dirty="0">
                <a:solidFill>
                  <a:srgbClr val="1F2937"/>
                </a:solidFill>
              </a:rPr>
              <a:t>CSV и графики сохранены в `outputs/`</a:t>
            </a:r>
            <a:endParaRPr lang="en-US" sz="1700" dirty="0"/>
          </a:p>
          <a:p>
            <a:r>
              <a:rPr lang="en-US" sz="1700" dirty="0">
                <a:solidFill>
                  <a:srgbClr val="1F2937"/>
                </a:solidFill>
              </a:rPr>
              <a:t>Вывод содержит цифры и ограничение анализа</a:t>
            </a:r>
            <a:endParaRPr lang="en-US" sz="1700" dirty="0"/>
          </a:p>
        </p:txBody>
      </p:sp>
      <p:sp>
        <p:nvSpPr>
          <p:cNvPr id="8" name="Text 6"/>
          <p:cNvSpPr/>
          <p:nvPr/>
        </p:nvSpPr>
        <p:spPr>
          <a:xfrm>
            <a:off x="6446520" y="1463040"/>
            <a:ext cx="274320" cy="137160"/>
          </a:xfrm>
          <a:prstGeom prst="rect">
            <a:avLst/>
          </a:prstGeom>
          <a:noFill/>
          <a:ln/>
        </p:spPr>
        <p:txBody>
          <a:bodyPr wrap="square" lIns="0" tIns="0" rIns="0" bIns="0" rtlCol="0" anchor="ctr"/>
          <a:lstStyle/>
          <a:p>
            <a:pPr indent="0" marL="0">
              <a:buNone/>
            </a:pPr>
            <a:r>
              <a:rPr lang="en-US" sz="1300" b="1" dirty="0">
                <a:solidFill>
                  <a:srgbClr val="2E8B57"/>
                </a:solidFill>
              </a:rPr>
              <a:t>✓</a:t>
            </a:r>
            <a:endParaRPr lang="en-US" sz="1300" dirty="0"/>
          </a:p>
        </p:txBody>
      </p:sp>
      <p:sp>
        <p:nvSpPr>
          <p:cNvPr id="9" name="Text 7"/>
          <p:cNvSpPr/>
          <p:nvPr/>
        </p:nvSpPr>
        <p:spPr>
          <a:xfrm>
            <a:off x="6812280" y="1435608"/>
            <a:ext cx="4297680" cy="201168"/>
          </a:xfrm>
          <a:prstGeom prst="rect">
            <a:avLst/>
          </a:prstGeom>
          <a:noFill/>
          <a:ln/>
        </p:spPr>
        <p:txBody>
          <a:bodyPr wrap="square" lIns="0" tIns="0" rIns="0" bIns="0" rtlCol="0" anchor="ctr"/>
          <a:lstStyle/>
          <a:p>
            <a:pPr indent="0" marL="0">
              <a:buNone/>
            </a:pPr>
            <a:r>
              <a:rPr lang="en-US" sz="1400" dirty="0">
                <a:solidFill>
                  <a:srgbClr val="1F2937"/>
                </a:solidFill>
              </a:rPr>
              <a:t>скрипт сверху вниз</a:t>
            </a:r>
            <a:endParaRPr lang="en-US" sz="1400" dirty="0"/>
          </a:p>
        </p:txBody>
      </p:sp>
      <p:sp>
        <p:nvSpPr>
          <p:cNvPr id="10" name="Text 8"/>
          <p:cNvSpPr/>
          <p:nvPr/>
        </p:nvSpPr>
        <p:spPr>
          <a:xfrm>
            <a:off x="6446520" y="2084832"/>
            <a:ext cx="274320" cy="137160"/>
          </a:xfrm>
          <a:prstGeom prst="rect">
            <a:avLst/>
          </a:prstGeom>
          <a:noFill/>
          <a:ln/>
        </p:spPr>
        <p:txBody>
          <a:bodyPr wrap="square" lIns="0" tIns="0" rIns="0" bIns="0" rtlCol="0" anchor="ctr"/>
          <a:lstStyle/>
          <a:p>
            <a:pPr indent="0" marL="0">
              <a:buNone/>
            </a:pPr>
            <a:r>
              <a:rPr lang="en-US" sz="1300" b="1" dirty="0">
                <a:solidFill>
                  <a:srgbClr val="2E8B57"/>
                </a:solidFill>
              </a:rPr>
              <a:t>✓</a:t>
            </a:r>
            <a:endParaRPr lang="en-US" sz="1300" dirty="0"/>
          </a:p>
        </p:txBody>
      </p:sp>
      <p:sp>
        <p:nvSpPr>
          <p:cNvPr id="11" name="Text 9"/>
          <p:cNvSpPr/>
          <p:nvPr/>
        </p:nvSpPr>
        <p:spPr>
          <a:xfrm>
            <a:off x="6812280" y="2057400"/>
            <a:ext cx="4297680" cy="201168"/>
          </a:xfrm>
          <a:prstGeom prst="rect">
            <a:avLst/>
          </a:prstGeom>
          <a:noFill/>
          <a:ln/>
        </p:spPr>
        <p:txBody>
          <a:bodyPr wrap="square" lIns="0" tIns="0" rIns="0" bIns="0" rtlCol="0" anchor="ctr"/>
          <a:lstStyle/>
          <a:p>
            <a:pPr indent="0" marL="0">
              <a:buNone/>
            </a:pPr>
            <a:r>
              <a:rPr lang="en-US" sz="1400" dirty="0">
                <a:solidFill>
                  <a:srgbClr val="1F2937"/>
                </a:solidFill>
              </a:rPr>
              <a:t>контрольные числа</a:t>
            </a:r>
            <a:endParaRPr lang="en-US" sz="1400" dirty="0"/>
          </a:p>
        </p:txBody>
      </p:sp>
      <p:sp>
        <p:nvSpPr>
          <p:cNvPr id="12" name="Text 10"/>
          <p:cNvSpPr/>
          <p:nvPr/>
        </p:nvSpPr>
        <p:spPr>
          <a:xfrm>
            <a:off x="6446520" y="2706624"/>
            <a:ext cx="274320" cy="137160"/>
          </a:xfrm>
          <a:prstGeom prst="rect">
            <a:avLst/>
          </a:prstGeom>
          <a:noFill/>
          <a:ln/>
        </p:spPr>
        <p:txBody>
          <a:bodyPr wrap="square" lIns="0" tIns="0" rIns="0" bIns="0" rtlCol="0" anchor="ctr"/>
          <a:lstStyle/>
          <a:p>
            <a:pPr indent="0" marL="0">
              <a:buNone/>
            </a:pPr>
            <a:r>
              <a:rPr lang="en-US" sz="1300" b="1" dirty="0">
                <a:solidFill>
                  <a:srgbClr val="2E8B57"/>
                </a:solidFill>
              </a:rPr>
              <a:t>✓</a:t>
            </a:r>
            <a:endParaRPr lang="en-US" sz="1300" dirty="0"/>
          </a:p>
        </p:txBody>
      </p:sp>
      <p:sp>
        <p:nvSpPr>
          <p:cNvPr id="13" name="Text 11"/>
          <p:cNvSpPr/>
          <p:nvPr/>
        </p:nvSpPr>
        <p:spPr>
          <a:xfrm>
            <a:off x="6812280" y="2679192"/>
            <a:ext cx="4297680" cy="201168"/>
          </a:xfrm>
          <a:prstGeom prst="rect">
            <a:avLst/>
          </a:prstGeom>
          <a:noFill/>
          <a:ln/>
        </p:spPr>
        <p:txBody>
          <a:bodyPr wrap="square" lIns="0" tIns="0" rIns="0" bIns="0" rtlCol="0" anchor="ctr"/>
          <a:lstStyle/>
          <a:p>
            <a:pPr indent="0" marL="0">
              <a:buNone/>
            </a:pPr>
            <a:r>
              <a:rPr lang="en-US" sz="1400" dirty="0">
                <a:solidFill>
                  <a:srgbClr val="1F2937"/>
                </a:solidFill>
              </a:rPr>
              <a:t>файлы в outputs</a:t>
            </a:r>
            <a:endParaRPr lang="en-US" sz="1400" dirty="0"/>
          </a:p>
        </p:txBody>
      </p:sp>
      <p:sp>
        <p:nvSpPr>
          <p:cNvPr id="14" name="Text 12"/>
          <p:cNvSpPr/>
          <p:nvPr/>
        </p:nvSpPr>
        <p:spPr>
          <a:xfrm>
            <a:off x="6446520" y="3328416"/>
            <a:ext cx="274320" cy="137160"/>
          </a:xfrm>
          <a:prstGeom prst="rect">
            <a:avLst/>
          </a:prstGeom>
          <a:noFill/>
          <a:ln/>
        </p:spPr>
        <p:txBody>
          <a:bodyPr wrap="square" lIns="0" tIns="0" rIns="0" bIns="0" rtlCol="0" anchor="ctr"/>
          <a:lstStyle/>
          <a:p>
            <a:pPr indent="0" marL="0">
              <a:buNone/>
            </a:pPr>
            <a:r>
              <a:rPr lang="en-US" sz="1300" b="1" dirty="0">
                <a:solidFill>
                  <a:srgbClr val="2E8B57"/>
                </a:solidFill>
              </a:rPr>
              <a:t>✓</a:t>
            </a:r>
            <a:endParaRPr lang="en-US" sz="1300" dirty="0"/>
          </a:p>
        </p:txBody>
      </p:sp>
      <p:sp>
        <p:nvSpPr>
          <p:cNvPr id="15" name="Text 13"/>
          <p:cNvSpPr/>
          <p:nvPr/>
        </p:nvSpPr>
        <p:spPr>
          <a:xfrm>
            <a:off x="6812280" y="3300984"/>
            <a:ext cx="4297680" cy="201168"/>
          </a:xfrm>
          <a:prstGeom prst="rect">
            <a:avLst/>
          </a:prstGeom>
          <a:noFill/>
          <a:ln/>
        </p:spPr>
        <p:txBody>
          <a:bodyPr wrap="square" lIns="0" tIns="0" rIns="0" bIns="0" rtlCol="0" anchor="ctr"/>
          <a:lstStyle/>
          <a:p>
            <a:pPr indent="0" marL="0">
              <a:buNone/>
            </a:pPr>
            <a:r>
              <a:rPr lang="en-US" sz="1400" dirty="0">
                <a:solidFill>
                  <a:srgbClr val="1F2937"/>
                </a:solidFill>
              </a:rPr>
              <a:t>вывод с цифрами</a:t>
            </a:r>
            <a:endParaRPr lang="en-US" sz="1400" dirty="0"/>
          </a:p>
        </p:txBody>
      </p:sp>
      <p:sp>
        <p:nvSpPr>
          <p:cNvPr id="16" name="Text 14"/>
          <p:cNvSpPr/>
          <p:nvPr/>
        </p:nvSpPr>
        <p:spPr>
          <a:xfrm>
            <a:off x="6446520" y="3950208"/>
            <a:ext cx="274320" cy="137160"/>
          </a:xfrm>
          <a:prstGeom prst="rect">
            <a:avLst/>
          </a:prstGeom>
          <a:noFill/>
          <a:ln/>
        </p:spPr>
        <p:txBody>
          <a:bodyPr wrap="square" lIns="0" tIns="0" rIns="0" bIns="0" rtlCol="0" anchor="ctr"/>
          <a:lstStyle/>
          <a:p>
            <a:pPr indent="0" marL="0">
              <a:buNone/>
            </a:pPr>
            <a:r>
              <a:rPr lang="en-US" sz="1300" b="1" dirty="0">
                <a:solidFill>
                  <a:srgbClr val="2E8B57"/>
                </a:solidFill>
              </a:rPr>
              <a:t>✓</a:t>
            </a:r>
            <a:endParaRPr lang="en-US" sz="1300" dirty="0"/>
          </a:p>
        </p:txBody>
      </p:sp>
      <p:sp>
        <p:nvSpPr>
          <p:cNvPr id="17" name="Text 15"/>
          <p:cNvSpPr/>
          <p:nvPr/>
        </p:nvSpPr>
        <p:spPr>
          <a:xfrm>
            <a:off x="6812280" y="3922776"/>
            <a:ext cx="4297680" cy="201168"/>
          </a:xfrm>
          <a:prstGeom prst="rect">
            <a:avLst/>
          </a:prstGeom>
          <a:noFill/>
          <a:ln/>
        </p:spPr>
        <p:txBody>
          <a:bodyPr wrap="square" lIns="0" tIns="0" rIns="0" bIns="0" rtlCol="0" anchor="ctr"/>
          <a:lstStyle/>
          <a:p>
            <a:pPr indent="0" marL="0">
              <a:buNone/>
            </a:pPr>
            <a:r>
              <a:rPr lang="en-US" sz="1400" dirty="0">
                <a:solidFill>
                  <a:srgbClr val="1F2937"/>
                </a:solidFill>
              </a:rPr>
              <a:t>ограничение анализа</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Учебный комплект</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Обработка и анализ данных в R</dc:title>
  <dc:subject>Основы работы с R для обработки данных</dc:subject>
  <dc:creator>Чепрасов Глеб Сергеевич</dc:creator>
  <cp:lastModifiedBy>Чепрасов Глеб Сергеевич</cp:lastModifiedBy>
  <cp:revision>1</cp:revision>
  <dcterms:created xsi:type="dcterms:W3CDTF">2026-08-04T16:08:05Z</dcterms:created>
  <dcterms:modified xsi:type="dcterms:W3CDTF">2026-08-04T16:08:05Z</dcterms:modified>
</cp:coreProperties>
</file>
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notesMasterIdLst>
    <p:notesMasterId r:id="rId44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Открыть занятие и обозначить итог: карта источников данных и паспорт одного источника.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Сделать акцент: Python, SQL и графики появляются позже.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Попросить слушателей привести пример процесса, где есть данные.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Представить кейс как производственную задачу.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Попросить слушателей выбрать вопрос, с которого они начали бы работу.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Объяснить, что бизнес-вопрос является исходной управленческой формулировкой.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Показать переход от общего вопроса к измеримым действиям.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Сделать этот слайд основной схемой вебинара.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Привести простой пример: продажи за разные периоды сравнили на одном графике.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Собрать ответы в чат, затем показать, что одного числа выручки недостаточно.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Объяснить через рабочую роль аналитика.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Подчеркнуть, что источник — это происхождение данных, а не обязательно файл.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Развести источник и набор данных на примере CRM и выгрузки заказов.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Показать, что одна строка — наблюдение, а столбцы — характеристики заказа.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Объяснить, почему категория товара не является показателем.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Связать метаданные с паспортом источника.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Пояснить, что внутренние источники находятся внутри организации или под её контролем.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Демонстрационные примеры: официальный портал открытых данных РФ, API Банка России, Data.gov.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Разобрать риск вторичных данных: они уже могли быть отфильтрованы или агрегированы.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Показать, что структурированность облегчает работу, но не гарантирует качество.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Объяснить, что JSON удобно передавать между системами, но перед анализом его часто приводят к таблице.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Связать с отзывами клиентов в интернет-магазине.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Источником может быть CRM, а Excel — выгрузкой из CRM.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Связать с будущими занятиями по SQL.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 демонстрации показать документацию API Банка России как пример официального источника.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Пояснить, что лог — не привычная таблица продаж, но это важный источник поведения.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Сделать мост к оценке качества клиентского сервиса.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Перейти к практической части.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Раздать или открыть шаблон карты источников.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Пояснить, что карта — это рабочий документ, а не упражнение ради таблицы.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Пройти по колонкам шаблона.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Заполнить первую строку вместе со слушателями.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Дать слушателям самостоятельное время и собрать 2–3 примера для разбора.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Попросить слушателей перепроверить риски в своей карте.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Привести примеры плохих и хороших формулировок.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Подготовить переход к итоговой сборке результата.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Разобрать ошибки по работам слушателей.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Пояснить, что критерии пригодности применяются до расчётов.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Показать шаблон паспорта и заполнить пример для таблицы продаж.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Дать слушателям 3–5 минут на самопроверку.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Закрыть занятие, напомнить о связи со следующими темами: сбор, загрузка, SQL, Python.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Этот слайд можно скрыть или оставить в конце как источники для демонстрации.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Аналитика данных в бизнесе и других сферах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097280" y="2542032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Типы и источники данных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91840" y="3246120"/>
            <a:ext cx="256032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011680" y="36576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Вебинар с практикой · 180 минут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11480" y="6428232"/>
            <a:ext cx="832104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492240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Типы и источники данных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это важно аналитику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02920" y="822960"/>
            <a:ext cx="1097280" cy="457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6428232"/>
            <a:ext cx="832104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492240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Типы и источники данных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" y="1143000"/>
            <a:ext cx="7680960" cy="3291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Аналитик отвечает не только за расчёты, но и за понимание происхождения данных.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Ошибки в источнике часто опаснее ошибок в формуле.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Перед анализом нужно понять: что за данные, кто владелец, за какой период и можно ли им доверять.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4892040"/>
            <a:ext cx="7315200" cy="594360"/>
          </a:xfrm>
          <a:prstGeom prst="roundRect">
            <a:avLst>
              <a:gd name="adj" fmla="val 12308"/>
            </a:avLst>
          </a:prstGeom>
          <a:solidFill>
            <a:srgbClr val="DBEAFE"/>
          </a:solidFill>
          <a:ln>
            <a:solidFill>
              <a:srgbClr val="D1D5D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Главная мысль: сначала вопрос и источник, потом инструмент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Где используется аналитика данных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02920" y="822960"/>
            <a:ext cx="1097280" cy="457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6428232"/>
            <a:ext cx="832104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492240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Типы и источники данных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31520" y="1097280"/>
            <a:ext cx="3840480" cy="746760"/>
          </a:xfrm>
          <a:prstGeom prst="rect">
            <a:avLst/>
          </a:prstGeom>
          <a:solidFill>
            <a:srgbClr val="DBEAFE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Сфера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0" y="1097280"/>
            <a:ext cx="3840480" cy="746760"/>
          </a:xfrm>
          <a:prstGeom prst="rect">
            <a:avLst/>
          </a:prstGeom>
          <a:solidFill>
            <a:srgbClr val="DBEAFE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Примеры задач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1844040"/>
            <a:ext cx="3840480" cy="74676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Бизнес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0" y="1844040"/>
            <a:ext cx="3840480" cy="74676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продажи, маркетинг, клиенты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2590800"/>
            <a:ext cx="3840480" cy="74676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Государственный сектор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0" y="2590800"/>
            <a:ext cx="3840480" cy="74676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качество услуг, открытые данные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3337560"/>
            <a:ext cx="3840480" cy="74676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Образование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0" y="3337560"/>
            <a:ext cx="3840480" cy="74676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успеваемость, вовлечённость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4084320"/>
            <a:ext cx="3840480" cy="74676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Медицина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0" y="4084320"/>
            <a:ext cx="3840480" cy="74676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загрузка ресурсов, маршруты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1520" y="4831080"/>
            <a:ext cx="3840480" cy="74676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Цифровые сервисы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0" y="4831080"/>
            <a:ext cx="3840480" cy="74676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поведение пользователей, воронки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Рабочая ситуация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02920" y="822960"/>
            <a:ext cx="1097280" cy="457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6428232"/>
            <a:ext cx="832104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492240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Типы и источники данных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31520" y="1097280"/>
            <a:ext cx="2011680" cy="640080"/>
          </a:xfrm>
          <a:prstGeom prst="roundRect">
            <a:avLst>
              <a:gd name="adj" fmla="val 11429"/>
            </a:avLst>
          </a:prstGeom>
          <a:solidFill>
            <a:srgbClr val="DBEAFE"/>
          </a:solidFill>
          <a:ln>
            <a:solidFill>
              <a:srgbClr val="D1D5D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Интернет-магазин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926080" y="1261872"/>
            <a:ext cx="640080" cy="292608"/>
          </a:xfrm>
          <a:prstGeom prst="rightArrow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0" y="868680"/>
            <a:ext cx="2194560" cy="1143000"/>
          </a:xfrm>
          <a:prstGeom prst="roundRect">
            <a:avLst>
              <a:gd name="adj" fmla="val 6400"/>
            </a:avLst>
          </a:prstGeom>
          <a:solidFill>
            <a:srgbClr val="F3F4F6"/>
          </a:solidFill>
          <a:ln>
            <a:solidFill>
              <a:srgbClr val="D1D5D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Продажи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Клиенты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Каналы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Регионы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Отзывы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035040" y="1261872"/>
            <a:ext cx="640080" cy="292608"/>
          </a:xfrm>
          <a:prstGeom prst="rightArrow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12280" y="1005840"/>
            <a:ext cx="1645920" cy="822960"/>
          </a:xfrm>
          <a:prstGeom prst="roundRect">
            <a:avLst>
              <a:gd name="adj" fmla="val 8889"/>
            </a:avLst>
          </a:prstGeom>
          <a:solidFill>
            <a:srgbClr val="D1FAE5"/>
          </a:solidFill>
          <a:ln>
            <a:solidFill>
              <a:srgbClr val="D1D5D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Управленческие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решения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2926080"/>
            <a:ext cx="7498080" cy="1828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Руководитель хочет понять, почему меняется выручка.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Аналитику нужно определить источники и ограничения.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Практика будет строиться вокруг этого кейса.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хочет руководитель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02920" y="822960"/>
            <a:ext cx="1097280" cy="457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6428232"/>
            <a:ext cx="832104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492240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Типы и источники данных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" y="1188720"/>
            <a:ext cx="7589520" cy="4389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изменилась выручка за последние недели?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Какие категории товаров продаются лучше всего?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 каких каналов приходят клиенты?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каких регионах продажи ниже ожидаемых?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Какие данные нужны для оценки качества сервиса?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Бизнес-вопрос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02920" y="822960"/>
            <a:ext cx="1097280" cy="457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6428232"/>
            <a:ext cx="832104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492240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Типы и источники данных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" y="1188720"/>
            <a:ext cx="2286000" cy="731520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>
            <a:solidFill>
              <a:srgbClr val="D1D5D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Бизнес-вопрос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474720" y="1188720"/>
            <a:ext cx="4480560" cy="73152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>
            <a:solidFill>
              <a:srgbClr val="D1D5D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Вопрос на языке управленческой проблемы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" y="2743200"/>
            <a:ext cx="7315200" cy="2194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всегда содержит данные напрямую.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Может быть широким и неоднозначным.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Требует уточнения периода, объекта анализа и результата.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Аналитическая задача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02920" y="822960"/>
            <a:ext cx="1097280" cy="457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6428232"/>
            <a:ext cx="832104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492240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Типы и источники данных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31520" y="1005840"/>
            <a:ext cx="2560320" cy="731520"/>
          </a:xfrm>
          <a:prstGeom prst="roundRect">
            <a:avLst>
              <a:gd name="adj" fmla="val 10000"/>
            </a:avLst>
          </a:prstGeom>
          <a:solidFill>
            <a:srgbClr val="D1FAE5"/>
          </a:solidFill>
          <a:ln>
            <a:solidFill>
              <a:srgbClr val="D1D5D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Аналитическая задача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57600" y="1005840"/>
            <a:ext cx="4480560" cy="73152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>
            <a:solidFill>
              <a:srgbClr val="D1D5D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Формулировка, которую можно выполнить через данные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31520" y="2377440"/>
            <a:ext cx="3886200" cy="792480"/>
          </a:xfrm>
          <a:prstGeom prst="rect">
            <a:avLst/>
          </a:prstGeom>
          <a:solidFill>
            <a:srgbClr val="DBEAFE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Бизнес-вопрос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617720" y="2377440"/>
            <a:ext cx="3886200" cy="792480"/>
          </a:xfrm>
          <a:prstGeom prst="rect">
            <a:avLst/>
          </a:prstGeom>
          <a:solidFill>
            <a:srgbClr val="DBEAFE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Аналитическая задача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3169920"/>
            <a:ext cx="3886200" cy="79248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снизилась выручка?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17720" y="3169920"/>
            <a:ext cx="3886200" cy="79248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Сравнить выручку по неделям, категориям, каналам и регионам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3962400"/>
            <a:ext cx="3886200" cy="79248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Какие товары продаются лучше?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17720" y="3962400"/>
            <a:ext cx="3886200" cy="79248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Рассчитать продажи по товарам и категориям за период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Путь от вопроса к данным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02920" y="822960"/>
            <a:ext cx="1097280" cy="457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6428232"/>
            <a:ext cx="832104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492240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Типы и источники данных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" y="2103120"/>
            <a:ext cx="1188720" cy="685800"/>
          </a:xfrm>
          <a:prstGeom prst="roundRect">
            <a:avLst>
              <a:gd name="adj" fmla="val 10667"/>
            </a:avLst>
          </a:prstGeom>
          <a:solidFill>
            <a:srgbClr val="DBEAFE"/>
          </a:solidFill>
          <a:ln>
            <a:solidFill>
              <a:srgbClr val="D1D5D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Вопрос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709928" y="2286000"/>
            <a:ext cx="320040" cy="292608"/>
          </a:xfrm>
          <a:prstGeom prst="rightArrow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57400" y="2103120"/>
            <a:ext cx="1188720" cy="685800"/>
          </a:xfrm>
          <a:prstGeom prst="roundRect">
            <a:avLst>
              <a:gd name="adj" fmla="val 10667"/>
            </a:avLst>
          </a:prstGeom>
          <a:solidFill>
            <a:srgbClr val="D1FAE5"/>
          </a:solidFill>
          <a:ln>
            <a:solidFill>
              <a:srgbClr val="D1D5D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Задача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264408" y="2286000"/>
            <a:ext cx="320040" cy="292608"/>
          </a:xfrm>
          <a:prstGeom prst="rightArrow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11880" y="2103120"/>
            <a:ext cx="1188720" cy="685800"/>
          </a:xfrm>
          <a:prstGeom prst="roundRect">
            <a:avLst>
              <a:gd name="adj" fmla="val 10667"/>
            </a:avLst>
          </a:prstGeom>
          <a:solidFill>
            <a:srgbClr val="DBEAFE"/>
          </a:solidFill>
          <a:ln>
            <a:solidFill>
              <a:srgbClr val="D1D5D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Источники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818888" y="2286000"/>
            <a:ext cx="320040" cy="292608"/>
          </a:xfrm>
          <a:prstGeom prst="rightArrow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66360" y="2103120"/>
            <a:ext cx="1188720" cy="685800"/>
          </a:xfrm>
          <a:prstGeom prst="roundRect">
            <a:avLst>
              <a:gd name="adj" fmla="val 10667"/>
            </a:avLst>
          </a:prstGeom>
          <a:solidFill>
            <a:srgbClr val="D1FAE5"/>
          </a:solidFill>
          <a:ln>
            <a:solidFill>
              <a:srgbClr val="D1D5D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Проверки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373368" y="2286000"/>
            <a:ext cx="320040" cy="292608"/>
          </a:xfrm>
          <a:prstGeom prst="rightArrow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20840" y="2103120"/>
            <a:ext cx="1188720" cy="685800"/>
          </a:xfrm>
          <a:prstGeom prst="roundRect">
            <a:avLst>
              <a:gd name="adj" fmla="val 10667"/>
            </a:avLst>
          </a:prstGeom>
          <a:solidFill>
            <a:srgbClr val="DBEAFE"/>
          </a:solidFill>
          <a:ln>
            <a:solidFill>
              <a:srgbClr val="D1D5D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Вывод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14400" y="3931920"/>
            <a:ext cx="7315200" cy="1280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Такой путь снижает риск случайного анализа.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Каждый этап должен быть понятен другому аналитику.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нельзя начинать с графика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02920" y="822960"/>
            <a:ext cx="1097280" cy="457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6428232"/>
            <a:ext cx="832104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492240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Типы и источники данных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" y="1143000"/>
            <a:ext cx="7680960" cy="3291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График может быть красивым, но построенным по неверным данным.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Если период, владелец и правила формирования неизвестны, выводы ненадёжны.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Перед визуализацией нужна проверка источника и качества данных.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88720" y="4754880"/>
            <a:ext cx="6766560" cy="594360"/>
          </a:xfrm>
          <a:prstGeom prst="roundRect">
            <a:avLst>
              <a:gd name="adj" fmla="val 12308"/>
            </a:avLst>
          </a:prstGeom>
          <a:solidFill>
            <a:srgbClr val="FEE2E2"/>
          </a:solidFill>
          <a:ln>
            <a:solidFill>
              <a:srgbClr val="D1D5D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 проверенного источника → нет надёжного вывода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Контрольный вопрос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02920" y="822960"/>
            <a:ext cx="1097280" cy="457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6428232"/>
            <a:ext cx="832104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492240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Типы и источники данных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97280" y="1188720"/>
            <a:ext cx="2011680" cy="640080"/>
          </a:xfrm>
          <a:prstGeom prst="roundRect">
            <a:avLst>
              <a:gd name="adj" fmla="val 11429"/>
            </a:avLst>
          </a:prstGeom>
          <a:solidFill>
            <a:srgbClr val="FEF3C7"/>
          </a:solidFill>
          <a:ln>
            <a:solidFill>
              <a:srgbClr val="D1D5D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Вопрос в чат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97280" y="2194560"/>
            <a:ext cx="694944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Какие данные нужны, чтобы объяснить изменение выручки?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005840" y="3931920"/>
            <a:ext cx="7315200" cy="1280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Ответ должен включать не только продажи.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Нужны период, товары, каналы, клиенты, регионы, скидки или возвраты.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такое данные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02920" y="822960"/>
            <a:ext cx="1097280" cy="457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6428232"/>
            <a:ext cx="832104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492240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Типы и источники данных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" y="1188720"/>
            <a:ext cx="758952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Данные — это зафиксированные сведения, по которым аналитик может проверить гипотезу, рассчитать показатель или подготовить управленческий вывод.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005840" y="3108960"/>
            <a:ext cx="7132320" cy="1920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Данные не равны «истине автоматически».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Данные всегда имеют источник, период, формат и ограничения.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Смысл данных раскрывается через задачу.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такое источник данных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02920" y="822960"/>
            <a:ext cx="1097280" cy="457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6428232"/>
            <a:ext cx="832104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492240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Типы и источники данных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2194560" cy="685800"/>
          </a:xfrm>
          <a:prstGeom prst="roundRect">
            <a:avLst>
              <a:gd name="adj" fmla="val 10667"/>
            </a:avLst>
          </a:prstGeom>
          <a:solidFill>
            <a:srgbClr val="DBEAFE"/>
          </a:solidFill>
          <a:ln>
            <a:solidFill>
              <a:srgbClr val="D1D5D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 данных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383280" y="1097280"/>
            <a:ext cx="4663440" cy="685800"/>
          </a:xfrm>
          <a:prstGeom prst="roundRect">
            <a:avLst>
              <a:gd name="adj" fmla="val 10667"/>
            </a:avLst>
          </a:prstGeom>
          <a:solidFill>
            <a:srgbClr val="F3F4F6"/>
          </a:solidFill>
          <a:ln>
            <a:solidFill>
              <a:srgbClr val="D1D5D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Система, процесс или владелец, откуда аналитик получает данные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2743200"/>
            <a:ext cx="7315200" cy="2194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CRM, ERP, сайт, приложение, база данных.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Рекламный кабинет, служба поддержки, открытый портал.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Отчёт подразделения или партнёрская выгрузка.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такое набор данных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02920" y="822960"/>
            <a:ext cx="1097280" cy="457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6428232"/>
            <a:ext cx="832104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492240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Типы и источники данных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31520" y="1097280"/>
            <a:ext cx="2377440" cy="685800"/>
          </a:xfrm>
          <a:prstGeom prst="roundRect">
            <a:avLst>
              <a:gd name="adj" fmla="val 10667"/>
            </a:avLst>
          </a:prstGeom>
          <a:solidFill>
            <a:srgbClr val="D1FAE5"/>
          </a:solidFill>
          <a:ln>
            <a:solidFill>
              <a:srgbClr val="D1D5D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Набор данных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474720" y="1097280"/>
            <a:ext cx="4846320" cy="685800"/>
          </a:xfrm>
          <a:prstGeom prst="roundRect">
            <a:avLst>
              <a:gd name="adj" fmla="val 10667"/>
            </a:avLst>
          </a:prstGeom>
          <a:solidFill>
            <a:srgbClr val="F3F4F6"/>
          </a:solidFill>
          <a:ln>
            <a:solidFill>
              <a:srgbClr val="D1D5D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Конкретная таблица, выгрузка, лог или файл, с которым работает аналитик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2743200"/>
            <a:ext cx="7315200" cy="2194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Один источник может давать много наборов данных.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Один набор может быть выгрузкой из системы.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Набор должен иметь понятные поля и правила формирования.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Запись и признак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02920" y="822960"/>
            <a:ext cx="1097280" cy="457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6428232"/>
            <a:ext cx="832104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492240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Типы и источники данных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40080" y="1097280"/>
            <a:ext cx="1310640" cy="457200"/>
          </a:xfrm>
          <a:prstGeom prst="rect">
            <a:avLst/>
          </a:prstGeom>
          <a:solidFill>
            <a:srgbClr val="DBEAFE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order_date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950720" y="1097280"/>
            <a:ext cx="1310640" cy="457200"/>
          </a:xfrm>
          <a:prstGeom prst="rect">
            <a:avLst/>
          </a:prstGeom>
          <a:solidFill>
            <a:srgbClr val="DBEAFE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order_id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61360" y="1097280"/>
            <a:ext cx="1310640" cy="457200"/>
          </a:xfrm>
          <a:prstGeom prst="rect">
            <a:avLst/>
          </a:prstGeom>
          <a:solidFill>
            <a:srgbClr val="DBEAFE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0" y="1097280"/>
            <a:ext cx="1310640" cy="457200"/>
          </a:xfrm>
          <a:prstGeom prst="rect">
            <a:avLst/>
          </a:prstGeom>
          <a:solidFill>
            <a:srgbClr val="DBEAFE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882640" y="1097280"/>
            <a:ext cx="1310640" cy="457200"/>
          </a:xfrm>
          <a:prstGeom prst="rect">
            <a:avLst/>
          </a:prstGeom>
          <a:solidFill>
            <a:srgbClr val="DBEAFE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quantity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193280" y="1097280"/>
            <a:ext cx="1310640" cy="457200"/>
          </a:xfrm>
          <a:prstGeom prst="rect">
            <a:avLst/>
          </a:prstGeom>
          <a:solidFill>
            <a:srgbClr val="DBEAFE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1554480"/>
            <a:ext cx="131064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2026-05-01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950720" y="1554480"/>
            <a:ext cx="131064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61360" y="1554480"/>
            <a:ext cx="131064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Наушники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0" y="1554480"/>
            <a:ext cx="131064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Электроника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882640" y="1554480"/>
            <a:ext cx="131064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193280" y="1554480"/>
            <a:ext cx="131064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3500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" y="2011680"/>
            <a:ext cx="131064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2026-05-02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950720" y="2011680"/>
            <a:ext cx="131064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61360" y="2011680"/>
            <a:ext cx="131064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Клавиатура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0" y="2011680"/>
            <a:ext cx="131064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Электроника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882640" y="2011680"/>
            <a:ext cx="131064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193280" y="2011680"/>
            <a:ext cx="131064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5600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0080" y="2468880"/>
            <a:ext cx="131064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2026-05-03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950720" y="2468880"/>
            <a:ext cx="131064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1003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261360" y="2468880"/>
            <a:ext cx="131064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Рюкзак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0" y="2468880"/>
            <a:ext cx="131064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Аксессуары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882640" y="2468880"/>
            <a:ext cx="131064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193280" y="2468880"/>
            <a:ext cx="131064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4200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005840" y="3566160"/>
            <a:ext cx="2286000" cy="594360"/>
          </a:xfrm>
          <a:prstGeom prst="roundRect">
            <a:avLst>
              <a:gd name="adj" fmla="val 12308"/>
            </a:avLst>
          </a:prstGeom>
          <a:solidFill>
            <a:srgbClr val="DBEAFE"/>
          </a:solidFill>
          <a:ln>
            <a:solidFill>
              <a:srgbClr val="D1D5D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Запись = строка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3749040" y="3566160"/>
            <a:ext cx="3383280" cy="594360"/>
          </a:xfrm>
          <a:prstGeom prst="roundRect">
            <a:avLst>
              <a:gd name="adj" fmla="val 12308"/>
            </a:avLst>
          </a:prstGeom>
          <a:solidFill>
            <a:srgbClr val="D1FAE5"/>
          </a:solidFill>
          <a:ln>
            <a:solidFill>
              <a:srgbClr val="D1D5D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Признак = столбец / характеристика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Показатель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02920" y="822960"/>
            <a:ext cx="1097280" cy="457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6428232"/>
            <a:ext cx="832104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492240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Типы и источники данных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31520" y="1097280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Показатель — числовая величина, которую можно считать, сравнивать и использовать для вывода.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88720" y="2377440"/>
            <a:ext cx="3383280" cy="441960"/>
          </a:xfrm>
          <a:prstGeom prst="rect">
            <a:avLst/>
          </a:prstGeom>
          <a:solidFill>
            <a:srgbClr val="DBEAFE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Поле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0" y="2377440"/>
            <a:ext cx="3383280" cy="441960"/>
          </a:xfrm>
          <a:prstGeom prst="rect">
            <a:avLst/>
          </a:prstGeom>
          <a:solidFill>
            <a:srgbClr val="DBEAFE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Роль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88720" y="2819400"/>
            <a:ext cx="3383280" cy="44196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quantity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0" y="2819400"/>
            <a:ext cx="3383280" cy="44196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количество, показатель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88720" y="3261360"/>
            <a:ext cx="3383280" cy="44196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0" y="3261360"/>
            <a:ext cx="3383280" cy="44196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цена, показатель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88720" y="3703320"/>
            <a:ext cx="3383280" cy="44196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0" y="3703320"/>
            <a:ext cx="3383280" cy="44196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выручка, показатель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88720" y="4145280"/>
            <a:ext cx="3383280" cy="44196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0" y="4145280"/>
            <a:ext cx="3383280" cy="44196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категория, не показатель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88720" y="4587240"/>
            <a:ext cx="3383280" cy="44196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0" y="4587240"/>
            <a:ext cx="3383280" cy="44196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канал, не показатель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Метаданные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02920" y="822960"/>
            <a:ext cx="1097280" cy="457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6428232"/>
            <a:ext cx="832104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492240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Типы и источники данных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" y="1143000"/>
            <a:ext cx="7680960" cy="3291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Метаданные описывают сами данные: откуда они взяты и как ими пользоваться.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 метаданных аналитик не понимает период, владельца, обновление и ограничения.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Метаданные помогают передать результат другому специалисту.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4800600"/>
            <a:ext cx="7315200" cy="594360"/>
          </a:xfrm>
          <a:prstGeom prst="roundRect">
            <a:avLst>
              <a:gd name="adj" fmla="val 12308"/>
            </a:avLst>
          </a:prstGeom>
          <a:solidFill>
            <a:srgbClr val="FEF3C7"/>
          </a:solidFill>
          <a:ln>
            <a:solidFill>
              <a:srgbClr val="D1D5D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 · владелец · период · формат · обновление · ключевые поля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Внутренние источники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02920" y="822960"/>
            <a:ext cx="1097280" cy="457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6428232"/>
            <a:ext cx="832104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492240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Типы и источники данных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14400" y="1097280"/>
            <a:ext cx="3657600" cy="731520"/>
          </a:xfrm>
          <a:prstGeom prst="rect">
            <a:avLst/>
          </a:prstGeom>
          <a:solidFill>
            <a:srgbClr val="DBEAFE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0" y="1097280"/>
            <a:ext cx="3657600" cy="731520"/>
          </a:xfrm>
          <a:prstGeom prst="rect">
            <a:avLst/>
          </a:prstGeom>
          <a:solidFill>
            <a:srgbClr val="DBEAFE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Пример использования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1828800"/>
            <a:ext cx="3657600" cy="73152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0" y="1828800"/>
            <a:ext cx="3657600" cy="73152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клиенты, сделки, заказы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2560320"/>
            <a:ext cx="3657600" cy="73152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ERP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0" y="2560320"/>
            <a:ext cx="3657600" cy="73152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закупки, остатки, бухгалтерские данные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3291840"/>
            <a:ext cx="3657600" cy="73152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Сайт / приложение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0" y="3291840"/>
            <a:ext cx="3657600" cy="73152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события пользователей, заявки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4023360"/>
            <a:ext cx="3657600" cy="73152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База данных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0" y="4023360"/>
            <a:ext cx="3657600" cy="73152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регулярные таблицы для анализа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" y="4754880"/>
            <a:ext cx="3657600" cy="73152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Служба поддержки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0" y="4754880"/>
            <a:ext cx="3657600" cy="73152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обращения и отзывы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Внешние источники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02920" y="822960"/>
            <a:ext cx="1097280" cy="457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6428232"/>
            <a:ext cx="832104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492240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Типы и источники данных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" y="1143000"/>
            <a:ext cx="7680960" cy="3291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Открытые данные и государственные порталы.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Сайты, API, маркетплейсы, отраслевые отчёты.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Партнёрские выгрузки и публичные статистические сервисы.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4572000"/>
            <a:ext cx="7498080" cy="731520"/>
          </a:xfrm>
          <a:prstGeom prst="roundRect">
            <a:avLst>
              <a:gd name="adj" fmla="val 10000"/>
            </a:avLst>
          </a:prstGeom>
          <a:solidFill>
            <a:srgbClr val="FEE2E2"/>
          </a:solidFill>
          <a:ln>
            <a:solidFill>
              <a:srgbClr val="D1D5D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Внешний источник всегда требует проверки: дата обновления, поставщик, формат, права использования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Первичные и вторичные данные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02920" y="822960"/>
            <a:ext cx="1097280" cy="457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6428232"/>
            <a:ext cx="832104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492240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Типы и источники данных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14400" y="1371600"/>
            <a:ext cx="3200400" cy="1188720"/>
          </a:xfrm>
          <a:prstGeom prst="roundRect">
            <a:avLst>
              <a:gd name="adj" fmla="val 6154"/>
            </a:avLst>
          </a:prstGeom>
          <a:solidFill>
            <a:srgbClr val="DBEAFE"/>
          </a:solidFill>
          <a:ln>
            <a:solidFill>
              <a:srgbClr val="D1D5D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Первичные данные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51560" y="269748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Собраны напрямую в процессе: заказ, событие, регистрация, обращение.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37760" y="1371600"/>
            <a:ext cx="3200400" cy="1188720"/>
          </a:xfrm>
          <a:prstGeom prst="roundRect">
            <a:avLst>
              <a:gd name="adj" fmla="val 6154"/>
            </a:avLst>
          </a:prstGeom>
          <a:solidFill>
            <a:srgbClr val="D1FAE5"/>
          </a:solidFill>
          <a:ln>
            <a:solidFill>
              <a:srgbClr val="D1D5D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Вторичные данные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074920" y="269748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Уже подготовлены кем-то: отчёт, агрегат, отраслевой обзор.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3931920"/>
            <a:ext cx="7315200" cy="1280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Важно понимать, на каком уровне обработки находятся данные.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Чем больше промежуточной обработки, тем важнее документация.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Структурированные данные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02920" y="822960"/>
            <a:ext cx="1097280" cy="457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6428232"/>
            <a:ext cx="832104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492240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Типы и источники данных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" y="1188720"/>
            <a:ext cx="1920240" cy="731520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>
            <a:solidFill>
              <a:srgbClr val="D1D5D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Таблицы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063240" y="1188720"/>
            <a:ext cx="1920240" cy="731520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>
            <a:solidFill>
              <a:srgbClr val="D1D5D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Базы данных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303520" y="1188720"/>
            <a:ext cx="1920240" cy="731520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>
            <a:solidFill>
              <a:srgbClr val="D1D5D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Справочники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2834640"/>
            <a:ext cx="7315200" cy="2194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Есть строки, столбцы и понятная схема.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Их проще проверять, фильтровать, соединять и агрегировать.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Они не становятся автоматически качественными — проверки всё равно нужны.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Полуструктурированные данные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02920" y="822960"/>
            <a:ext cx="1097280" cy="457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6428232"/>
            <a:ext cx="832104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492240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Типы и источники данных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14400" y="1280160"/>
            <a:ext cx="7315200" cy="640080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"order_id": 1001, "client": { "city": "Москва" }, "items": [...] }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743200"/>
            <a:ext cx="7315200" cy="2194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Есть структура, но она может быть вложенной.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Примеры: JSON, XML, HTML, события API.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Перед анализом часто требуется преобразование в таблицу.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Неструктурированные данные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02920" y="822960"/>
            <a:ext cx="1097280" cy="457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6428232"/>
            <a:ext cx="832104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492240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Типы и источники данных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" y="118872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FEF3C7"/>
          </a:solidFill>
          <a:ln>
            <a:solidFill>
              <a:srgbClr val="D1D5D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Отзывы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743200" y="118872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FEF3C7"/>
          </a:solidFill>
          <a:ln>
            <a:solidFill>
              <a:srgbClr val="D1D5D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Документы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709160" y="1188720"/>
            <a:ext cx="2743200" cy="640080"/>
          </a:xfrm>
          <a:prstGeom prst="roundRect">
            <a:avLst>
              <a:gd name="adj" fmla="val 11429"/>
            </a:avLst>
          </a:prstGeom>
          <a:solidFill>
            <a:srgbClr val="FEF3C7"/>
          </a:solidFill>
          <a:ln>
            <a:solidFill>
              <a:srgbClr val="D1D5D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Изображения / аудио / видео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2743200"/>
            <a:ext cx="7315200" cy="2194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 готовой табличной структуры для расчётов.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Нужно извлекать признаки: тональность, тема, оценка, дата, объект.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Риски качества выше: неоднозначность, шум, дубли.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 и CSV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02920" y="822960"/>
            <a:ext cx="1097280" cy="457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6428232"/>
            <a:ext cx="832104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492240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Типы и источники данных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" y="1097280"/>
            <a:ext cx="2529840" cy="800100"/>
          </a:xfrm>
          <a:prstGeom prst="rect">
            <a:avLst/>
          </a:prstGeom>
          <a:solidFill>
            <a:srgbClr val="DBEAFE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Формат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307080" y="1097280"/>
            <a:ext cx="2529840" cy="800100"/>
          </a:xfrm>
          <a:prstGeom prst="rect">
            <a:avLst/>
          </a:prstGeom>
          <a:solidFill>
            <a:srgbClr val="DBEAFE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Плюсы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836920" y="1097280"/>
            <a:ext cx="2529840" cy="800100"/>
          </a:xfrm>
          <a:prstGeom prst="rect">
            <a:avLst/>
          </a:prstGeom>
          <a:solidFill>
            <a:srgbClr val="DBEAFE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Риски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1897380"/>
            <a:ext cx="2529840" cy="80010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07080" y="1897380"/>
            <a:ext cx="2529840" cy="80010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удобен для просмотра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836920" y="1897380"/>
            <a:ext cx="2529840" cy="80010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ручные правки, скрытые листы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" y="2697480"/>
            <a:ext cx="2529840" cy="80010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07080" y="2697480"/>
            <a:ext cx="2529840" cy="80010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прост для обмена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836920" y="2697480"/>
            <a:ext cx="2529840" cy="80010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кодировка, разделители, типы дат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7240" y="3497580"/>
            <a:ext cx="2529840" cy="80010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Sheets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07080" y="3497580"/>
            <a:ext cx="2529840" cy="80010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совместная работа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836920" y="3497580"/>
            <a:ext cx="2529840" cy="80010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права доступа, версии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194560" y="4663440"/>
            <a:ext cx="4754880" cy="594360"/>
          </a:xfrm>
          <a:prstGeom prst="roundRect">
            <a:avLst>
              <a:gd name="adj" fmla="val 12308"/>
            </a:avLst>
          </a:prstGeom>
          <a:solidFill>
            <a:srgbClr val="FEE2E2"/>
          </a:solidFill>
          <a:ln>
            <a:solidFill>
              <a:srgbClr val="D1D5D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Формат ≠ источник данных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Базы данных и SQL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02920" y="822960"/>
            <a:ext cx="1097280" cy="457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6428232"/>
            <a:ext cx="832104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492240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Типы и источники данных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31520" y="1143000"/>
            <a:ext cx="2194560" cy="685800"/>
          </a:xfrm>
          <a:prstGeom prst="roundRect">
            <a:avLst>
              <a:gd name="adj" fmla="val 10667"/>
            </a:avLst>
          </a:prstGeom>
          <a:solidFill>
            <a:srgbClr val="DBEAFE"/>
          </a:solidFill>
          <a:ln>
            <a:solidFill>
              <a:srgbClr val="D1D5D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База данных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108960" y="1335024"/>
            <a:ext cx="502920" cy="292608"/>
          </a:xfrm>
          <a:prstGeom prst="rightArrow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49040" y="1143000"/>
            <a:ext cx="1828800" cy="685800"/>
          </a:xfrm>
          <a:prstGeom prst="roundRect">
            <a:avLst>
              <a:gd name="adj" fmla="val 10667"/>
            </a:avLst>
          </a:prstGeom>
          <a:solidFill>
            <a:srgbClr val="D1FAE5"/>
          </a:solidFill>
          <a:ln>
            <a:solidFill>
              <a:srgbClr val="D1D5D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SQL-запрос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806440" y="1335024"/>
            <a:ext cx="502920" cy="292608"/>
          </a:xfrm>
          <a:prstGeom prst="rightArrow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143000"/>
            <a:ext cx="1828800" cy="685800"/>
          </a:xfrm>
          <a:prstGeom prst="roundRect">
            <a:avLst>
              <a:gd name="adj" fmla="val 10667"/>
            </a:avLst>
          </a:prstGeom>
          <a:solidFill>
            <a:srgbClr val="F3F4F6"/>
          </a:solidFill>
          <a:ln>
            <a:solidFill>
              <a:srgbClr val="D1D5D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Набор данных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2926080"/>
            <a:ext cx="7315200" cy="2103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помогает получать данные из таблиц базы.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 аналитик всё равно должен понимать источник, поля, связи и ограничения.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Запрос без понимания данных может вернуть технически правильный, но смыслово неверный результат.</a:t>
            </a:r>
            <a:endParaRPr lang="en-US" sz="17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как источник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02920" y="822960"/>
            <a:ext cx="1097280" cy="457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6428232"/>
            <a:ext cx="832104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492240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Типы и источники данных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" y="1143000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позволяет получать данные из системы в структурированном виде по запросу.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2377440"/>
            <a:ext cx="7315200" cy="2011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Важно знать адрес, параметры, формат ответа и ограничения доступа.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Часто ответ приходит в JSON.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может быть источником данных, а не инструментом визуализации.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4846320"/>
            <a:ext cx="7315200" cy="548640"/>
          </a:xfrm>
          <a:prstGeom prst="roundRect">
            <a:avLst>
              <a:gd name="adj" fmla="val 13333"/>
            </a:avLst>
          </a:prstGeom>
          <a:solidFill>
            <a:srgbClr val="DBEAFE"/>
          </a:solidFill>
          <a:ln>
            <a:solidFill>
              <a:srgbClr val="D1D5D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Демонстрация: REST API Банка России со структурированными данными в JSON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Логи и события цифровых систем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02920" y="822960"/>
            <a:ext cx="1097280" cy="457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6428232"/>
            <a:ext cx="832104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492240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Типы и источники данных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" y="1234440"/>
            <a:ext cx="1517904" cy="502920"/>
          </a:xfrm>
          <a:prstGeom prst="rect">
            <a:avLst/>
          </a:prstGeom>
          <a:solidFill>
            <a:srgbClr val="DBEAFE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event_time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295144" y="1234440"/>
            <a:ext cx="1517904" cy="502920"/>
          </a:xfrm>
          <a:prstGeom prst="rect">
            <a:avLst/>
          </a:prstGeom>
          <a:solidFill>
            <a:srgbClr val="DBEAFE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user_id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13048" y="1234440"/>
            <a:ext cx="1517904" cy="502920"/>
          </a:xfrm>
          <a:prstGeom prst="rect">
            <a:avLst/>
          </a:prstGeom>
          <a:solidFill>
            <a:srgbClr val="DBEAFE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330952" y="1234440"/>
            <a:ext cx="1517904" cy="502920"/>
          </a:xfrm>
          <a:prstGeom prst="rect">
            <a:avLst/>
          </a:prstGeom>
          <a:solidFill>
            <a:srgbClr val="DBEAFE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48856" y="1234440"/>
            <a:ext cx="1517904" cy="502920"/>
          </a:xfrm>
          <a:prstGeom prst="rect">
            <a:avLst/>
          </a:prstGeom>
          <a:solidFill>
            <a:srgbClr val="DBEAFE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1737360"/>
            <a:ext cx="1517904" cy="50292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2026-05-01 10:15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295144" y="1737360"/>
            <a:ext cx="1517904" cy="50292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U001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813048" y="1737360"/>
            <a:ext cx="1517904" cy="50292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view_product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30952" y="1737360"/>
            <a:ext cx="1517904" cy="50292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/item/42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48856" y="1737360"/>
            <a:ext cx="1517904" cy="50292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77240" y="2240280"/>
            <a:ext cx="1517904" cy="50292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2026-05-01 10:17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295144" y="2240280"/>
            <a:ext cx="1517904" cy="50292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U001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813048" y="2240280"/>
            <a:ext cx="1517904" cy="50292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add_to_cart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330952" y="2240280"/>
            <a:ext cx="1517904" cy="50292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/cart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48856" y="2240280"/>
            <a:ext cx="1517904" cy="50292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77240" y="2743200"/>
            <a:ext cx="1517904" cy="50292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2026-05-01 10:20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95144" y="2743200"/>
            <a:ext cx="1517904" cy="50292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U001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813048" y="2743200"/>
            <a:ext cx="1517904" cy="50292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purchase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330952" y="2743200"/>
            <a:ext cx="1517904" cy="50292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/checkout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848856" y="2743200"/>
            <a:ext cx="1517904" cy="50292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14400" y="3840480"/>
            <a:ext cx="7315200" cy="1371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Логи показывают поведение пользователя по шагам.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Нужны для анализа воронки, отказов и технических проблем.</a:t>
            </a:r>
            <a:endParaRPr lang="en-US" sz="1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Документы, тексты и отзывы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02920" y="822960"/>
            <a:ext cx="1097280" cy="457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6428232"/>
            <a:ext cx="832104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492240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Типы и источники данных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14400" y="1234440"/>
            <a:ext cx="7315200" cy="731520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«Доставка заняла 5 дней, товар хороший, но поддержка отвечала долго»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2926080"/>
            <a:ext cx="7315200" cy="1920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Текст можно превратить в признаки: тема, оценка, проблема, дата, продукт.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 такие данные требуют предварительной разметки или обработки.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качества сервиса одного текста может быть недостаточно: нужна связь с заказом.</a:t>
            </a:r>
            <a:endParaRPr lang="en-US" sz="1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Практический кейс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02920" y="822960"/>
            <a:ext cx="1097280" cy="457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6428232"/>
            <a:ext cx="832104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492240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Типы и источники данных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" y="1097280"/>
            <a:ext cx="2286000" cy="640080"/>
          </a:xfrm>
          <a:prstGeom prst="roundRect">
            <a:avLst>
              <a:gd name="adj" fmla="val 11429"/>
            </a:avLst>
          </a:prstGeom>
          <a:solidFill>
            <a:srgbClr val="DBEAFE"/>
          </a:solidFill>
          <a:ln>
            <a:solidFill>
              <a:srgbClr val="D1D5D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Роль слушателя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383280" y="1097280"/>
            <a:ext cx="4937760" cy="640080"/>
          </a:xfrm>
          <a:prstGeom prst="roundRect">
            <a:avLst>
              <a:gd name="adj" fmla="val 11429"/>
            </a:avLst>
          </a:prstGeom>
          <a:solidFill>
            <a:srgbClr val="F3F4F6"/>
          </a:solidFill>
          <a:ln>
            <a:solidFill>
              <a:srgbClr val="D1D5D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Начинающий аналитик подключается к проекту интернет-магазина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2743200"/>
            <a:ext cx="7315200" cy="2194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Нужно понять, какие источники доступны.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Нужно классифицировать источники и риски.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Нужно подготовить карту источников и паспорт одного источника.</a:t>
            </a:r>
            <a:endParaRPr lang="en-US" sz="1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Доступные источники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02920" y="822960"/>
            <a:ext cx="1097280" cy="457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6428232"/>
            <a:ext cx="832104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492240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Типы и источники данных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" y="1051560"/>
            <a:ext cx="3794760" cy="685800"/>
          </a:xfrm>
          <a:prstGeom prst="rect">
            <a:avLst/>
          </a:prstGeom>
          <a:solidFill>
            <a:srgbClr val="DBEAFE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0" y="1051560"/>
            <a:ext cx="3794760" cy="685800"/>
          </a:xfrm>
          <a:prstGeom prst="rect">
            <a:avLst/>
          </a:prstGeom>
          <a:solidFill>
            <a:srgbClr val="DBEAFE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Содержит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77240" y="1737360"/>
            <a:ext cx="3794760" cy="68580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Продажи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0" y="1737360"/>
            <a:ext cx="3794760" cy="68580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дата, заказ, товар, количество, сумма, канал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77240" y="2423160"/>
            <a:ext cx="3794760" cy="68580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Товары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0" y="2423160"/>
            <a:ext cx="3794760" cy="68580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артикул, категория, бренд, статус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77240" y="3108960"/>
            <a:ext cx="3794760" cy="68580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Клиенты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0" y="3108960"/>
            <a:ext cx="3794760" cy="68580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ID, город, дата регистрации, сегмент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77240" y="3794760"/>
            <a:ext cx="3794760" cy="68580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Реклама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0" y="3794760"/>
            <a:ext cx="3794760" cy="68580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канал, расходы, переходы, заявки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77240" y="4480560"/>
            <a:ext cx="3794760" cy="68580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Лог сайта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72000" y="4480560"/>
            <a:ext cx="3794760" cy="68580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пользователь, событие, страница, время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77240" y="5166360"/>
            <a:ext cx="3794760" cy="68580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Отзывы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0" y="5166360"/>
            <a:ext cx="3794760" cy="68580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текст, оценка, дата</a:t>
            </a:r>
            <a:endParaRPr lang="en-US" sz="10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Карта источников данных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02920" y="822960"/>
            <a:ext cx="1097280" cy="457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6428232"/>
            <a:ext cx="832104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492240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Типы и источники данных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" y="114300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Карта источников фиксирует, какие данные нужны для ответа на вопрос и какие ограничения нужно проверить до анализа.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14400" y="2926080"/>
            <a:ext cx="7315200" cy="1920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Связывает бизнес-вопрос с источниками.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Показывает владельца, формат, ключевые поля и риски.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Позволяет передать результат другому аналитику.</a:t>
            </a:r>
            <a:endParaRPr lang="en-US" sz="1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Структура карты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02920" y="822960"/>
            <a:ext cx="1097280" cy="457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6428232"/>
            <a:ext cx="832104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492240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Типы и источники данных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14400" y="1143000"/>
            <a:ext cx="3657600" cy="716280"/>
          </a:xfrm>
          <a:prstGeom prst="rect">
            <a:avLst/>
          </a:prstGeom>
          <a:solidFill>
            <a:srgbClr val="DBEAFE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Колонка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0" y="1143000"/>
            <a:ext cx="3657600" cy="716280"/>
          </a:xfrm>
          <a:prstGeom prst="rect">
            <a:avLst/>
          </a:prstGeom>
          <a:solidFill>
            <a:srgbClr val="DBEAFE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указать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1859280"/>
            <a:ext cx="3657600" cy="71628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Бизнес-вопрос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0" y="1859280"/>
            <a:ext cx="3657600" cy="71628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какой вопрос отвечает источник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2575560"/>
            <a:ext cx="3657600" cy="71628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0" y="2575560"/>
            <a:ext cx="3657600" cy="71628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система, процесс или владелец данных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3291840"/>
            <a:ext cx="3657600" cy="71628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 и формат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0" y="3291840"/>
            <a:ext cx="3657600" cy="71628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внутренний/внешний, структура, файл или API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4008120"/>
            <a:ext cx="3657600" cy="71628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Ключевые поля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0" y="4008120"/>
            <a:ext cx="3657600" cy="71628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потребуется для анализа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" y="4724400"/>
            <a:ext cx="3657600" cy="71628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Риски и проверки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0" y="4724400"/>
            <a:ext cx="3657600" cy="71628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может сломать вывод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Пример заполнения строки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02920" y="822960"/>
            <a:ext cx="1097280" cy="457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6428232"/>
            <a:ext cx="832104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492240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Типы и источники данных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85800" y="1280160"/>
            <a:ext cx="1943100" cy="822960"/>
          </a:xfrm>
          <a:prstGeom prst="rect">
            <a:avLst/>
          </a:prstGeom>
          <a:solidFill>
            <a:srgbClr val="DBEAFE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Бизнес-вопрос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628900" y="1280160"/>
            <a:ext cx="1943100" cy="822960"/>
          </a:xfrm>
          <a:prstGeom prst="rect">
            <a:avLst/>
          </a:prstGeom>
          <a:solidFill>
            <a:srgbClr val="DBEAFE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0" y="1280160"/>
            <a:ext cx="1943100" cy="822960"/>
          </a:xfrm>
          <a:prstGeom prst="rect">
            <a:avLst/>
          </a:prstGeom>
          <a:solidFill>
            <a:srgbClr val="DBEAFE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Риски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515100" y="1280160"/>
            <a:ext cx="1943100" cy="822960"/>
          </a:xfrm>
          <a:prstGeom prst="rect">
            <a:avLst/>
          </a:prstGeom>
          <a:solidFill>
            <a:srgbClr val="DBEAFE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Проверки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" y="2103120"/>
            <a:ext cx="1943100" cy="82296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изменилась выручка?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628900" y="2103120"/>
            <a:ext cx="1943100" cy="82296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Таблица продаж из CRM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0" y="2103120"/>
            <a:ext cx="1943100" cy="82296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дубли, пропуски, разные периоды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15100" y="2103120"/>
            <a:ext cx="1943100" cy="82296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период, суммы, валюта, уникальность заказов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3657600"/>
            <a:ext cx="7315200" cy="1645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Важно указать не просто «продажи», а происхождение данных.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Риски должны быть конкретными.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Проверки должны отвечать на эти риски.</a:t>
            </a:r>
            <a:endParaRPr lang="en-US" sz="1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Самостоятельная работа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02920" y="822960"/>
            <a:ext cx="1097280" cy="457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6428232"/>
            <a:ext cx="832104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492240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Типы и источники данных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" y="118872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Задача: заполнить карту источников по 4–5 бизнес-вопросам.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2560320"/>
            <a:ext cx="7315200" cy="1920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каждого вопроса выберите 1–3 источника.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Укажите владельца, тип, формат, ключевые поля.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Зафиксируйте риски качества и необходимые проверки.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200400" y="4846320"/>
            <a:ext cx="2743200" cy="548640"/>
          </a:xfrm>
          <a:prstGeom prst="roundRect">
            <a:avLst>
              <a:gd name="adj" fmla="val 13333"/>
            </a:avLst>
          </a:prstGeom>
          <a:solidFill>
            <a:srgbClr val="FEF3C7"/>
          </a:solidFill>
          <a:ln>
            <a:solidFill>
              <a:srgbClr val="D1D5D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Время: 15 минут</a:t>
            </a:r>
            <a:endParaRPr lang="en-US" sz="1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описывать риски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02920" y="822960"/>
            <a:ext cx="1097280" cy="457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6428232"/>
            <a:ext cx="832104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492240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Типы и источники данных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14400" y="1097280"/>
            <a:ext cx="3657600" cy="731520"/>
          </a:xfrm>
          <a:prstGeom prst="rect">
            <a:avLst/>
          </a:prstGeom>
          <a:solidFill>
            <a:srgbClr val="DBEAFE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Риск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0" y="1097280"/>
            <a:ext cx="3657600" cy="731520"/>
          </a:xfrm>
          <a:prstGeom prst="rect">
            <a:avLst/>
          </a:prstGeom>
          <a:solidFill>
            <a:srgbClr val="DBEAFE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Пример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1828800"/>
            <a:ext cx="3657600" cy="73152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Период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0" y="1828800"/>
            <a:ext cx="3657600" cy="73152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продажи за май, реклама за июнь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2560320"/>
            <a:ext cx="3657600" cy="73152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Пропуски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0" y="2560320"/>
            <a:ext cx="3657600" cy="73152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 канала продажи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3291840"/>
            <a:ext cx="3657600" cy="73152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Дубли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0" y="3291840"/>
            <a:ext cx="3657600" cy="73152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один заказ попал дважды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4023360"/>
            <a:ext cx="3657600" cy="73152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Единицы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0" y="4023360"/>
            <a:ext cx="3657600" cy="73152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рубли и доллары в одном поле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" y="4754880"/>
            <a:ext cx="3657600" cy="73152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Доступ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0" y="4754880"/>
            <a:ext cx="3657600" cy="73152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 права передавать данные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формулировать проверки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02920" y="822960"/>
            <a:ext cx="1097280" cy="457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6428232"/>
            <a:ext cx="832104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492240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Типы и источники данных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" y="1143000"/>
            <a:ext cx="7680960" cy="3291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 должна быть связана с конкретным риском.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Нельзя писать только «проверить данные» — нужно указать что именно.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Хорошая проверка: «проверить уникальность order_id», «сверить период продаж и рекламы», «проверить валюту».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71600" y="4846320"/>
            <a:ext cx="6400800" cy="594360"/>
          </a:xfrm>
          <a:prstGeom prst="roundRect">
            <a:avLst>
              <a:gd name="adj" fmla="val 12308"/>
            </a:avLst>
          </a:prstGeom>
          <a:solidFill>
            <a:srgbClr val="D1FAE5"/>
          </a:solidFill>
          <a:ln>
            <a:solidFill>
              <a:srgbClr val="D1D5D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Риск → проверка → решение о пригодности</a:t>
            </a:r>
            <a:endParaRPr lang="en-US" sz="1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Выбор источника для паспорта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02920" y="822960"/>
            <a:ext cx="1097280" cy="457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6428232"/>
            <a:ext cx="832104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492240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Типы и источники данных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" y="1188720"/>
            <a:ext cx="749808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Паспорт источника нужен, чтобы подробно описать один важный источник и передать его в дальнейшую работу.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14400" y="2926080"/>
            <a:ext cx="7315200" cy="1920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Выберите источник, без которого нельзя ответить на бизнес-вопрос.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Чаще всего удобно начать с таблицы продаж.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паспорте нужно зафиксировать назначение, поля, владельца, риски и проверки.</a:t>
            </a:r>
            <a:endParaRPr lang="en-US" sz="1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Типовые ошибки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02920" y="822960"/>
            <a:ext cx="1097280" cy="457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6428232"/>
            <a:ext cx="832104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492240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Типы и источники данных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31520" y="1097280"/>
            <a:ext cx="3840480" cy="841248"/>
          </a:xfrm>
          <a:prstGeom prst="rect">
            <a:avLst/>
          </a:prstGeom>
          <a:solidFill>
            <a:srgbClr val="DBEAFE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Ошибка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0" y="1097280"/>
            <a:ext cx="3840480" cy="841248"/>
          </a:xfrm>
          <a:prstGeom prst="rect">
            <a:avLst/>
          </a:prstGeom>
          <a:solidFill>
            <a:srgbClr val="DBEAFE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исправить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1938528"/>
            <a:ext cx="3840480" cy="841248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 указан как источник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0" y="1938528"/>
            <a:ext cx="3840480" cy="841248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указать CRM / отдел / систему и формат выгрузки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2779776"/>
            <a:ext cx="3840480" cy="841248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 владельца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0" y="2779776"/>
            <a:ext cx="3840480" cy="841248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указать владельца или вопрос на уточнение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3621024"/>
            <a:ext cx="3840480" cy="841248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 периода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0" y="3621024"/>
            <a:ext cx="3840480" cy="841248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добавить даты и частоту обновления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4462272"/>
            <a:ext cx="3840480" cy="841248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Риски слишком общие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0" y="4462272"/>
            <a:ext cx="3840480" cy="841248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описать конкретные проблемы качества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Критерии пригодности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02920" y="822960"/>
            <a:ext cx="1097280" cy="457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6428232"/>
            <a:ext cx="832104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492240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Типы и источники данных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14400" y="1097280"/>
            <a:ext cx="3657600" cy="640080"/>
          </a:xfrm>
          <a:prstGeom prst="rect">
            <a:avLst/>
          </a:prstGeom>
          <a:solidFill>
            <a:srgbClr val="DBEAFE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Критерий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0" y="1097280"/>
            <a:ext cx="3657600" cy="640080"/>
          </a:xfrm>
          <a:prstGeom prst="rect">
            <a:avLst/>
          </a:prstGeom>
          <a:solidFill>
            <a:srgbClr val="DBEAFE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Вопрос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1737360"/>
            <a:ext cx="3657600" cy="64008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Актуальность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0" y="1737360"/>
            <a:ext cx="3657600" cy="64008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когда обновлялись данные?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2377440"/>
            <a:ext cx="3657600" cy="64008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Полнота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0" y="2377440"/>
            <a:ext cx="3657600" cy="64008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ли нужные поля заполнены?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3017520"/>
            <a:ext cx="3657600" cy="64008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Точность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0" y="3017520"/>
            <a:ext cx="3657600" cy="64008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 ли ошибок в значениях?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3657600"/>
            <a:ext cx="3657600" cy="64008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Владелец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0" y="3657600"/>
            <a:ext cx="3657600" cy="64008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кто отвечает за источник?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" y="4297680"/>
            <a:ext cx="3657600" cy="64008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Доступ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0" y="4297680"/>
            <a:ext cx="3657600" cy="64008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можно ли использовать данные?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" y="4937760"/>
            <a:ext cx="3657600" cy="64008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Связность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0" y="4937760"/>
            <a:ext cx="3657600" cy="64008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можно ли связать с другими таблицами?</a:t>
            </a:r>
            <a:endParaRPr lang="en-US" sz="1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Паспорт источника данных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02920" y="822960"/>
            <a:ext cx="1097280" cy="457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6428232"/>
            <a:ext cx="832104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492240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Типы и источники данных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14400" y="1097280"/>
            <a:ext cx="3657600" cy="746760"/>
          </a:xfrm>
          <a:prstGeom prst="rect">
            <a:avLst/>
          </a:prstGeom>
          <a:solidFill>
            <a:srgbClr val="DBEAFE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Раздел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0" y="1097280"/>
            <a:ext cx="3657600" cy="746760"/>
          </a:xfrm>
          <a:prstGeom prst="rect">
            <a:avLst/>
          </a:prstGeom>
          <a:solidFill>
            <a:srgbClr val="DBEAFE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указать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1844040"/>
            <a:ext cx="3657600" cy="74676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Название и назначение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0" y="1844040"/>
            <a:ext cx="3657600" cy="74676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чего нужен источник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2590800"/>
            <a:ext cx="3657600" cy="74676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Владелец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0" y="2590800"/>
            <a:ext cx="3657600" cy="74676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кто отвечает за данные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3337560"/>
            <a:ext cx="3657600" cy="74676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Формат и обновление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0" y="3337560"/>
            <a:ext cx="3657600" cy="74676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получаем и как часто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4084320"/>
            <a:ext cx="3657600" cy="74676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Ключевые поля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0" y="4084320"/>
            <a:ext cx="3657600" cy="74676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поля для анализа и связей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" y="4831080"/>
            <a:ext cx="3657600" cy="74676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Риски и проверки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0" y="4831080"/>
            <a:ext cx="3657600" cy="746760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нужно проверить перед анализом</a:t>
            </a:r>
            <a:endParaRPr lang="en-US" sz="1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Чек-лист результата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02920" y="822960"/>
            <a:ext cx="1097280" cy="457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6428232"/>
            <a:ext cx="832104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492240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Типы и источники данных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7680960" cy="4480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Выбран понятный бизнес-вопрос.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Источники связаны с вопросом.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Указаны владелец, тип, формат и ключевые поля.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Зафиксированы риски и проверки.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Заполнен паспорт одного источника.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Есть вывод на 5–7 предложений.</a:t>
            </a:r>
            <a:endParaRPr lang="en-US" sz="18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Итоги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02920" y="822960"/>
            <a:ext cx="1097280" cy="457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6428232"/>
            <a:ext cx="832104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492240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Типы и источники данных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" y="12801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DBEAFE"/>
          </a:solidFill>
          <a:ln>
            <a:solidFill>
              <a:srgbClr val="D1D5D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63040" y="1261872"/>
            <a:ext cx="676656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Аналитика начинается с вопроса и источника данных.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22960" y="22860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DBEAFE"/>
          </a:solidFill>
          <a:ln>
            <a:solidFill>
              <a:srgbClr val="D1D5D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63040" y="2267712"/>
            <a:ext cx="676656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Источник, формат и инструмент — разные вещи.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822960" y="32918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DBEAFE"/>
          </a:solidFill>
          <a:ln>
            <a:solidFill>
              <a:srgbClr val="D1D5D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63040" y="3273552"/>
            <a:ext cx="676656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Перед расчётами нужно проверить пригодность данных.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822960" y="42976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DBEAFE"/>
          </a:solidFill>
          <a:ln>
            <a:solidFill>
              <a:srgbClr val="D1D5D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63040" y="4279392"/>
            <a:ext cx="676656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Итог аналитика должен быть передаваемым рабочим артефактом.</a:t>
            </a:r>
            <a:endParaRPr lang="en-US" sz="1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Источники для демонстрации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02920" y="822960"/>
            <a:ext cx="1097280" cy="457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6428232"/>
            <a:ext cx="832104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492240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Типы и источники данных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" y="1143000"/>
            <a:ext cx="7680960" cy="4389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Портал открытых данных РФ: https://data.gov.ru/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Реестр наборов данных: https://data.gov.ru/datasets/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Банка России: https://cbr.ru/statistics/data-service/APIdocumentation/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Каталог Data.gov: https://catalog.data.gov/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Аналитика данных в бизнесе и других сферах. Типы и источники данных</dc:title>
  <dc:subject>Вебинар с практикой на 180 минут</dc:subject>
  <dc:creator>OpenAI</dc:creator>
  <cp:lastModifiedBy>OpenAI</cp:lastModifiedBy>
  <cp:revision>1</cp:revision>
  <dcterms:created xsi:type="dcterms:W3CDTF">2026-06-13T07:56:56Z</dcterms:created>
  <dcterms:modified xsi:type="dcterms:W3CDTF">2026-06-13T07:56:56Z</dcterms:modified>
</cp:coreProperties>
</file>
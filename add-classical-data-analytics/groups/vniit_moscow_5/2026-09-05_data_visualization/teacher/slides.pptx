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занятие с фокуса на практический результат: сегодня не рисуем красивые картинки, а учимся выбирать визуализацию под вопрос, готовить данные, читать оси и формулировать ограниченный вывод.
[Sources]
- Локальный комплект занятия: README.md и instructor_scenario_2026-09-05.md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Пояснить структуру дня и сразу снять риск ожидания отдельного R-практикума: формальное покрытие есть, но все hands-on выполняются в Python.
[Sources]
- Локальный комплект занятия: instructor_scenario_2026-09-05.md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Перевести результаты в действия: слушатель должен не повторять код, а объяснить выбор и интерпретацию. Акцентировать на проверяемости результата.
[Sources]
- Локальный комплект занятия: README.md; instructor_scenario_2026-09-05.md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Сделать паузу: спросить у группы, что в этой цепочке чаще пропускают начинающие аналитики. Дальше занятия построены именно по этой цепочке.
[Sources]
- pandas PyPI description: pandas provides data structures for practical data analysis.
- Локальный комплект занятия: data/dictionary.md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Пройти таблицу на реальных примерах. Спросить: где line chart уместен, а где он создает ложное ощущение тренда.
[Sources]
- EDU-DOM-DA-01: visualization type should be selected from analytical question and data type.
- Matplotlib documentation: plotting methods and plot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 кейс как учебную мини-модель типичного ритейл-анализа. Объяснить, что синтетические данные безопасны и специально спроектированы для визуализаций.
[Sources]
- Локальный комплект занятия: data/dictionary.md; data/raw.csv; data/viz.csv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график не исправляет данные и не проверяет бизнес-смысл автоматически. Перед первым chart нужна хотя бы короткая проверка качества.
[Sources]
- pandas PyPI: pandas supports missing data handling, groupby, CSV/Excel I/O and time series functionality.
- Локальный комплект: Notebook 01 и data/dictionary.md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Отработать понятие точки на графике: сумма за день, месяц или заказ. Если слушатель не может объяснить точку, график еще не готов.
[Sources]
- Matplotlib documentation: comprehensive library for static, animated, and interactive visualizations.
- Локальный комплект: Notebook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связан с прежней проблемой: на графике должны быть видны даты и мелкие деления, чтобы точка имела понятную координату.
[Sources]
- Matplotlib documentation: top-level interfaces include pyplot.subplots and plotting methods.
- Локальный комплект: expected_outputs/06_daily_revenue_ticks.png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отличие category bar от histogram: в bar chart каждая колонка соответствует категории, а высота — агрегированной метрике.
[Sources]
- Локальный комплект: Notebook 01, expected_outputs/02_category_revenue.png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Обратить внимание: если изменить число bins, вид графика меняется, поэтому нельзя делать сильный вывод только по одной настройке.
[Sources]
- Локальный комплект: Notebook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перегружать терминологией. Главное: boxplot помогает сравнить группы по центру и разбросу, но требует аккуратного объяснения выбросов.
[Sources]
- Локальный комплект: Notebook 02, expected_outputs/04_category_boxplot.png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Спросить: что здесь является одной точкой? Затем отдельно подчеркнуть, что scatter показывает совместное изменение, но не причинность.
[Sources]
- EDU-DOM-DA-01: do not infer causality from association alone.
- Локальный комплект: Notebook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пример корреляции срока доставки и оценки клиента. Разрешенная формулировка: в данных наблюдается отрицательная связь; для причинного вывода нужны дополнительные данные и дизайн.
[Sources]
- EDU-DOM-DA-01: distinguish association from causality; statistical claims must respect assumptions.
- Локальный комплект: reference_metrics.md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Возвращаться к этой идее на каждом ноутбуке. Если гранулярность неверная, последующий красивый график только усилит ошибку.
[Sources]
- EDU-DOM-DA-01: aggregation requires analytical grain and metric semantics.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углубляться в архитектуру библиотеки сверх практической пользы. Цель: показать, что объектный подход помогает последовательно управлять графиком.
[Sources]
- Matplotlib docs list top-level interfaces such as pyplot.figure and pyplot.subplots.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с итоговой работой: графики без подписей не должны попадать в отчет и презентацию.
[Sources]
- Matplotlib documentation: plotting methods and API reference for axes/figure customization.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группе 2 минуты на поиск проблемы до объяснения. Обсудить, что не каждая ось обязана начинаться с нуля, но для столбцов это часто критично.
[Sources]
- Локальный комплект: expected_outputs/07_bad_truncated_axis.png и 08_good_zero_baseline.png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Сравнить подписи с управленческим отчетом: руководитель не видит notebook-код, поэтому график должен быть самодостаточным.
[Sources]
- Локальный комплект: visualization_quality_checklist.md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где появляются файлы в папке outputs. В GitHub-комплекте готовые PNG также служат аварийным вариантом при проблемах со средой.
[Sources]
- Matplotlib documentation: installation and usage documentation; локальный комплект: outputs/ и expected_outputs/.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Объяснить, что Seaborn не отменяет Matplotlib, а часто строит поверх него. Слушатель должен понимать оба уровня.
[Sources]
- Seaborn official documentation: high-level interface for statistical graphics (verified in current docs search).
- Локальный комплект: Notebook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Попросить группу сравнить не только медиану, но и разброс. Это переводит график из картинки в аналитический аргумент.
[Sources]
- Локальный комплект: Notebook 03, expected_outputs/10_seaborn_histplot.png, 11_customer_boxplot.png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дополнительный слой всегда должен иметь аналитическую цену: какую новую информацию он дает?
[Sources]
- Локальный комплект: Notebook 03, expected_outputs/12_discount_profit_by_customer.png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Вернуться к формуле корреляция не равна причинность. Попросить слушателей сформулировать два корректных вывода по heatmap.
[Sources]
- EDU-DOM-DA-01: statistical and visualization claims must respect assumptions and causality limits.
- Локальный комплект: Notebook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Закрыть формальную тему R без ухода в установку. Сказать: когда встретите R/ggplot2, принципы выбора графика будут теми же, но сегодня мы закрепляем производственный Python-поток.
[Sources]
- Расписание КАДР: тема включает визуализацию в Python и R.
- pandas PyPI and Matplotlib docs verified current Python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чек-лист можно использовать как оценку мини-кейса. Не надо требовать идеальной эстетики, но базовая читаемость и смысл обязательны.
[Sources]
- Локальный комплект: student/quality_check.md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самостоятельной работой напомнить: преподаватель сначала спрашивает «какой вопрос вы показываете?», а не сразу исправляет код.
[Sources]
- Локальный комплект: student/nb/04_case.ipynb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Сделать акцент: критерии не оценивают художественный вкус, они оценивают способность аналитика построить читаемый аргумент на данных.
[Sources]
- Локальный комплект: student/quality_check.md; instructor_scenario_2026-09-05.md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Закрыть занятие переносом в итоговую работу: визуализации должны помогать защищать выводы, а не просто демонстрировать владение библиотекой.
[Sources]
- Локальный комплект: instructor_scenario_2026-09-05.md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навигации для преподавателя: после него нужно переходить к ноутбукам, а не продолжать лекцию.
[Sources]
- Локальный комплект занятия.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Первичная визуализация данных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5910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EE3DB"/>
                </a:solidFill>
              </a:rPr>
              <a:t>Python · pandas · Matplotlib · Seaborn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21792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</a:rPr>
              <a:t>Практическое занятие · 05.09.2026 · группа ВНИИТ Москва 5</a:t>
            </a:r>
            <a:endParaRPr lang="en-US" sz="1300" dirty="0"/>
          </a:p>
        </p:txBody>
      </p:sp>
      <p:pic>
        <p:nvPicPr>
          <p:cNvPr id="5" name="Image 0" descr="teacher/out/06_daily_revenue_ti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93088"/>
            <a:ext cx="5120640" cy="1934464"/>
          </a:xfrm>
          <a:prstGeom prst="rect">
            <a:avLst/>
          </a:prstGeom>
        </p:spPr>
      </p:pic>
      <p:pic>
        <p:nvPicPr>
          <p:cNvPr id="6" name="Image 1" descr="teacher/out/13_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041" y="3977640"/>
            <a:ext cx="2292639" cy="1691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" y="53949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Результат занятия: график как проверяемый ответ на аналитический вопрос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21792" y="6016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EE9"/>
                </a:solidFill>
              </a:rPr>
              <a:t>Чепрасов Глеб Сергеевич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Маршрут занятия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430 минут практики: от вопроса до самостоятельного кейса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10:00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74520" y="1417320"/>
            <a:ext cx="1920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Диагностика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86200" y="1417320"/>
            <a:ext cx="5943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какой график зачем нужен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67128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10:20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74520" y="2167128"/>
            <a:ext cx="1920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2167128"/>
            <a:ext cx="5943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+ bar + агрегирование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916936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11:40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74520" y="2916936"/>
            <a:ext cx="1920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86200" y="2916936"/>
            <a:ext cx="5943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оси, deltas, scale, экспорт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3666744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14:00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74520" y="3666744"/>
            <a:ext cx="1920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Seaborn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86200" y="3666744"/>
            <a:ext cx="5943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EDA: распределения, связи, heatmap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416552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16:00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874520" y="4416552"/>
            <a:ext cx="1920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Кейс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86200" y="4416552"/>
            <a:ext cx="5943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5+ графиков и выводы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остается как короткий обзор: цель — не второй синтаксис, а переносимый принцип аналитической визуализации.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должен уметь аналитик после занятия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Наблюдаемый результат вместо абстрактного «понять визуализацию»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566928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</a:rPr>
              <a:t>• выбирать тип графика по аналитическому вопросу и типу данных;
</a:t>
            </a:r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</a:rPr>
              <a:t>• готовить данные через groupby, фильтрацию и проверку гранулярности;
</a:t>
            </a:r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</a:rPr>
              <a:t>• настраивать читаемые подписи, даты, major/minor ticks и шкалы;
</a:t>
            </a:r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</a:rPr>
              <a:t>• распознавать и исправлять искажения масштаба;
</a:t>
            </a:r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</a:rPr>
              <a:t>• формулировать выводы с ограничениями, а не только строить chart.</a:t>
            </a:r>
            <a:endParaRPr lang="en-US" sz="1550" dirty="0"/>
          </a:p>
        </p:txBody>
      </p:sp>
      <p:pic>
        <p:nvPicPr>
          <p:cNvPr id="10" name="Image 0" descr="teacher/out/08_good_zero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706165"/>
            <a:ext cx="4526280" cy="24855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55595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</a:rPr>
              <a:t>КРИТЕРИЙ ЗАВЕРШЕНИЯ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26080" y="5541264"/>
            <a:ext cx="6858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минимум 5 графиков + 5 выводов + ограничения по каждому ключевому выводу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График начинается не с plt.show()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Правильная визуализация начинается с вопроса и данных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847088"/>
            <a:ext cx="19202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хотим доказать или проверить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8036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80360" y="1847088"/>
            <a:ext cx="19202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поля, типы, пропуски, период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064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Агрегация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847088"/>
            <a:ext cx="19202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гранулярность и метрика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6092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График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60920" y="1847088"/>
            <a:ext cx="19202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тип, оси, подписи, шкалы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1847088"/>
            <a:ext cx="19202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наблюдение + ограничение</a:t>
            </a:r>
            <a:endParaRPr lang="en-US" sz="1250" dirty="0"/>
          </a:p>
        </p:txBody>
      </p:sp>
      <p:pic>
        <p:nvPicPr>
          <p:cNvPr id="19" name="Image 0" descr="teacher/out/case_05_discount_pro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16472"/>
            <a:ext cx="4892040" cy="2408136"/>
          </a:xfrm>
          <a:prstGeom prst="rect">
            <a:avLst/>
          </a:prstGeom>
        </p:spPr>
      </p:pic>
      <p:pic>
        <p:nvPicPr>
          <p:cNvPr id="20" name="Image 1" descr="teacher/out/case_03_region_pro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13199"/>
            <a:ext cx="4892040" cy="24146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Карта выбора графика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Тип данных и вопрос определяют визуальное решение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298448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Аналитический вопрос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1298448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298448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Тип графика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Изменение во времени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416052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дата + показатель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90372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chart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22960" y="2350008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категорий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4160520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категория + метрика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903720" y="2350008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822960" y="2916936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Распределение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4160520" y="2916936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одно число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6903720" y="2916936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histogram / boxplot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822960" y="3483864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Связь двух чисел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416052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+ y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903720" y="3483864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822960" y="405079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Матрица связей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416052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несколько чисел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6903720" y="405079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heatmap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82296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запрет: не выбирать график по принципу «так красивее».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Бизнес-кейс «РегионМаркет»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Единый датасет для всех ноутбуков и самостоятельной практики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530352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1200 заказов за период 01.01.2026–30.06.2026;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регионы, категории, каналы продаж, типы клиентов;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выручка, прибыль, скидка, доставка, оценка клиента;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raw-версия содержит контролируемые проблемы качества;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prepared-версия используется для основной визуализации.</a:t>
            </a:r>
            <a:endParaRPr lang="en-US" sz="1500" dirty="0"/>
          </a:p>
        </p:txBody>
      </p:sp>
      <p:pic>
        <p:nvPicPr>
          <p:cNvPr id="10" name="Image 0" descr="teacher/out/case_02_category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08023"/>
            <a:ext cx="4754880" cy="260751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5486400"/>
            <a:ext cx="7772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Мы работаем на одном кейсе, чтобы обсуждать не только код, но и аналитический смысл результата.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график требует проверки данных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Визуализация может красиво показать ошибку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548640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пропуски и нераспознанные даты ломают временную динамику;
</a:t>
            </a:r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дубликаты завышают суммы и количество заказов;
</a:t>
            </a:r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неверный тип данных превращает число в категорию;
</a:t>
            </a:r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ошибочная гранулярность меняет смысл метрики;
</a:t>
            </a:r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выбросы могут быть и ошибкой, и важным событием.</a:t>
            </a:r>
            <a:endParaRPr lang="en-US" sz="1520" dirty="0"/>
          </a:p>
        </p:txBody>
      </p:sp>
      <p:pic>
        <p:nvPicPr>
          <p:cNvPr id="10" name="Image 0" descr="teacher/out/03_revenue_hist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94963"/>
            <a:ext cx="4754880" cy="23421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5559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МИНИ-ПРАВИЛО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148840" y="5532120"/>
            <a:ext cx="7223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 графиком: shape → types → missing → duplicates → metric definition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 chart: изменение во времени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Линия работает, когда порядок оси X имеет смысл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01_monthly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69845"/>
            <a:ext cx="5577840" cy="24953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12280" y="1417320"/>
            <a:ext cx="420624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ось X упорядочена: дата, месяц, период;
</a:t>
            </a:r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метрика агрегирована на выбранной гранулярности;
</a:t>
            </a:r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подписи дат не перекрывают друг друга;
</a:t>
            </a:r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вывод говорит о динамике, а не просто о форме линии.</a:t>
            </a:r>
            <a:endParaRPr lang="en-US" sz="1530" dirty="0"/>
          </a:p>
        </p:txBody>
      </p:sp>
      <p:sp>
        <p:nvSpPr>
          <p:cNvPr id="11" name="Text 8"/>
          <p:cNvSpPr/>
          <p:nvPr/>
        </p:nvSpPr>
        <p:spPr>
          <a:xfrm>
            <a:off x="6812280" y="4983480"/>
            <a:ext cx="4114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Проверочный вопрос: «что означает одна точка на линии?»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Читаемые даты и деления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Если точка есть, слушатель должен понять, к какому дню она относится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06_daily_revenue_ti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36572"/>
            <a:ext cx="6766560" cy="25562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18120" y="1417320"/>
            <a:ext cx="329184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7212B"/>
                </a:solidFill>
              </a:rPr>
              <a:t>• major ticks показывают основные даты;
</a:t>
            </a:r>
            <a:pPr indent="0" marL="0">
              <a:buNone/>
            </a:pPr>
            <a:r>
              <a:rPr lang="en-US" sz="1410" dirty="0">
                <a:solidFill>
                  <a:srgbClr val="17212B"/>
                </a:solidFill>
              </a:rPr>
              <a:t>• minor ticks помогают не терять промежуточные дни;
</a:t>
            </a:r>
            <a:pPr indent="0" marL="0">
              <a:buNone/>
            </a:pPr>
            <a:r>
              <a:rPr lang="en-US" sz="1410" dirty="0">
                <a:solidFill>
                  <a:srgbClr val="17212B"/>
                </a:solidFill>
              </a:rPr>
              <a:t>• подписи повернуты и не конфликтуют;
</a:t>
            </a:r>
            <a:pPr indent="0" marL="0">
              <a:buNone/>
            </a:pPr>
            <a:r>
              <a:rPr lang="en-US" sz="1410" dirty="0">
                <a:solidFill>
                  <a:srgbClr val="17212B"/>
                </a:solidFill>
              </a:rPr>
              <a:t>• по Y достаточно делений, чтобы оценить масштаб;
</a:t>
            </a:r>
            <a:pPr indent="0" marL="0">
              <a:buNone/>
            </a:pPr>
            <a:r>
              <a:rPr lang="en-US" sz="1410" dirty="0">
                <a:solidFill>
                  <a:srgbClr val="17212B"/>
                </a:solidFill>
              </a:rPr>
              <a:t>• grid помогает читать значение, но не должен доминировать.</a:t>
            </a:r>
            <a:endParaRPr lang="en-US" sz="14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Bar chart: сравнение категорий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Столбцы сравнивают категории, а не распределение значений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02_category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1923"/>
            <a:ext cx="5257800" cy="28854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92240" y="1353312"/>
            <a:ext cx="429768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категории лучше сортировать по метрике;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единицы измерения должны быть в подписи оси;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для денежных метрик полезен формат чисел;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слишком много категорий снижает читаемость;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для bar chart нулевая база обычно критична.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914400" y="5413248"/>
            <a:ext cx="6858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сравнивайте высоту столбцов без понимания фильтра и знаменателя.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Histogram: распределение числового показателя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Гистограмма показывает форму данных, а не список категорий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03_revenue_hist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31794"/>
            <a:ext cx="5440680" cy="2680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29400" y="1353312"/>
            <a:ext cx="416052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одна числовая переменная;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bins влияют на восприятие формы;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смотреть на асимметрию, хвосты, выбросы;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подходит для «как распределены чеки?»;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не заменяет boxplot при сравнении групп.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Boxplot: сравнение распределений по группам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Медиана, разброс и выбросы в одном представлении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04_category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6927"/>
            <a:ext cx="5852160" cy="31497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95160" y="1371600"/>
            <a:ext cx="361188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линия внутри ящика — медиана;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ящик — межквартильный интервал;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усы и точки помогают увидеть разброс;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лучше сравнивать несколько групп;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выброс не равен ошибке автоматически.</a:t>
            </a:r>
            <a:endParaRPr lang="en-US" sz="14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Scatter: связь двух числовых признаков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Точка — наблюдение, координаты — две метрики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05_discount_profit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55911"/>
            <a:ext cx="5532120" cy="272321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20840" y="1417320"/>
            <a:ext cx="416052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одна точка обычно означает один заказ или объект;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паттерн показывает возможную связь;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цвет можно использовать для сегмента;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аномальные точки требуют проверки;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сам scatter не доказывает причину.</a:t>
            </a:r>
            <a:endParaRPr lang="en-US" sz="14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Корреляция ≠ причинность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Heatmap и scatter дают гипотезу, а не управленческое доказательство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13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153" y="1234440"/>
            <a:ext cx="4895094" cy="3611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55080" y="1371600"/>
            <a:ext cx="452628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корреляция измеряет совместное изменение;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знак показывает направление связи;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высокое значение не объясняет механизм;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третьи факторы могут создавать ложную связь;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вывод должен быть ограниченным: «наблюдается связь». 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4400" y="5440680"/>
            <a:ext cx="8138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Нельзя: «доставка вызывает низкую оценку» без дополнительного дизайна проверки.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Гранулярность: что означает строка и точка?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Ошибочная агрегация создает неправильный график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525780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строка заказа ≠ клиент ≠ день ≠ месяц;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сумма выручки за месяц и средний чек — разные ответы;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count строк не всегда равен числу уникальных клиентов;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после groupby нужно понимать новый уровень данных;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на графике подписываем именно агрегированную метрику.</a:t>
            </a:r>
            <a:endParaRPr lang="en-US" sz="1500" dirty="0"/>
          </a:p>
        </p:txBody>
      </p:sp>
      <p:pic>
        <p:nvPicPr>
          <p:cNvPr id="10" name="Image 0" descr="teacher/out/case_01_monthly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08924"/>
            <a:ext cx="4663440" cy="229715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55080" y="5074920"/>
            <a:ext cx="4663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 преподавателя: «какая единица наблюдения сейчас лежит на оси X?»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Matplotlib: Figure и Axes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Объектный подход лучше подходит для управляемого оформления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4983480" cy="3063240"/>
          </a:xfrm>
          <a:prstGeom prst="rect">
            <a:avLst/>
          </a:prstGeom>
          <a:solidFill>
            <a:srgbClr val="F3F6FA"/>
          </a:solidFill>
          <a:ln>
            <a:solidFill>
              <a:srgbClr val="D8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fig, ax = plt.subplots(figsize=(10, 5))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ax.plot(x, y, marker="o")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ax.set_title("Динамика выручки")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ax.set_xlabel("Дата")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ax.set_ylabel("Выручка, руб.")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ax.grid(True, alpha=0.3)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fig.tight_layout()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20624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Figure — вся область рисунка;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Axes — конкретная область графика;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через ax проще управлять подписями и шкалами;
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</a:rPr>
              <a:t>• это удобнее, когда график нужно довести до отчета.</a:t>
            </a:r>
            <a:endParaRPr lang="en-US" sz="1500" dirty="0"/>
          </a:p>
        </p:txBody>
      </p:sp>
      <p:pic>
        <p:nvPicPr>
          <p:cNvPr id="11" name="Image 0" descr="teacher/out/06_daily_revenue_ti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1336" y="4800600"/>
            <a:ext cx="2299447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Оси: подписи, единицы, формат чисел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Читатель не должен угадывать масштаб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06_daily_revenue_ti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48612"/>
            <a:ext cx="6309360" cy="23835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52360" y="1417320"/>
            <a:ext cx="338328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название графика отвечает на вопрос;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ось X и Y подписаны словами;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денежные метрики имеют единицу измерения;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числа форматируются с разделителями;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шкала не должна скрывать важный диапазон.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5504688"/>
            <a:ext cx="8778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Практический минимум: title + xlabel + ylabel + readable ticks + grid/tight_layout.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испортить график: обрезанная шкала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Визуальное впечатление может стать сильнее фактической разницы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07_bad_truncated_ax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71342"/>
            <a:ext cx="4937760" cy="2709476"/>
          </a:xfrm>
          <a:prstGeom prst="rect">
            <a:avLst/>
          </a:prstGeom>
        </p:spPr>
      </p:pic>
      <p:pic>
        <p:nvPicPr>
          <p:cNvPr id="10" name="Image 1" descr="teacher/out/08_good_zero_bas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70326"/>
            <a:ext cx="4937760" cy="27115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5212080"/>
            <a:ext cx="8686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Слева: эффект преувеличен. Справа: сравнение читается честнее.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Подписи и аннотации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Оформление должно помогать выводу, а не украшать график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09_region_profit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85474"/>
            <a:ext cx="5212080" cy="25726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1371600"/>
            <a:ext cx="429768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12B"/>
                </a:solidFill>
              </a:rPr>
              <a:t>• подпись оси сообщает, что именно измерено;
</a:t>
            </a:r>
            <a:pPr indent="0" marL="0">
              <a:buNone/>
            </a:pPr>
            <a:r>
              <a:rPr lang="en-US" sz="1460" dirty="0">
                <a:solidFill>
                  <a:srgbClr val="17212B"/>
                </a:solidFill>
              </a:rPr>
              <a:t>• заголовок формулирует вопрос или ответ;
</a:t>
            </a:r>
            <a:pPr indent="0" marL="0">
              <a:buNone/>
            </a:pPr>
            <a:r>
              <a:rPr lang="en-US" sz="1460" dirty="0">
                <a:solidFill>
                  <a:srgbClr val="17212B"/>
                </a:solidFill>
              </a:rPr>
              <a:t>• легенда нужна только если есть что различать;
</a:t>
            </a:r>
            <a:pPr indent="0" marL="0">
              <a:buNone/>
            </a:pPr>
            <a:r>
              <a:rPr lang="en-US" sz="1460" dirty="0">
                <a:solidFill>
                  <a:srgbClr val="17212B"/>
                </a:solidFill>
              </a:rPr>
              <a:t>• аннотация выделяет одно важное наблюдение;
</a:t>
            </a:r>
            <a:pPr indent="0" marL="0">
              <a:buNone/>
            </a:pPr>
            <a:r>
              <a:rPr lang="en-US" sz="1460" dirty="0">
                <a:solidFill>
                  <a:srgbClr val="17212B"/>
                </a:solidFill>
              </a:rPr>
              <a:t>• цвет не должен быть единственным носителем смысла.</a:t>
            </a:r>
            <a:endParaRPr lang="en-US" sz="14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Экспорт графиков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График становится артефактом отчета, когда его можно сохранить и передать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19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5212080" cy="2011680"/>
          </a:xfrm>
          <a:prstGeom prst="rect">
            <a:avLst/>
          </a:prstGeom>
          <a:solidFill>
            <a:srgbClr val="F3F6FA"/>
          </a:solidFill>
          <a:ln>
            <a:solidFill>
              <a:srgbClr val="D8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output_dir = Path("outputs")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output_dir.mkdir(exist_ok=True)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fig.savefig(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output_dir / "monthly_revenue.png",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dpi=150,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bbox_inches="tight"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446520" y="1325880"/>
            <a:ext cx="4160520" cy="3200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12B"/>
                </a:solidFill>
              </a:rPr>
              <a:t>• сохраняем графики в отдельную папку;
</a:t>
            </a:r>
            <a:pPr indent="0" marL="0">
              <a:buNone/>
            </a:pPr>
            <a:r>
              <a:rPr lang="en-US" sz="1460" dirty="0">
                <a:solidFill>
                  <a:srgbClr val="17212B"/>
                </a:solidFill>
              </a:rPr>
              <a:t>• используем понятные имена файлов;
</a:t>
            </a:r>
            <a:pPr indent="0" marL="0">
              <a:buNone/>
            </a:pPr>
            <a:r>
              <a:rPr lang="en-US" sz="1460" dirty="0">
                <a:solidFill>
                  <a:srgbClr val="17212B"/>
                </a:solidFill>
              </a:rPr>
              <a:t>• dpi влияет на качество растрового PNG;
</a:t>
            </a:r>
            <a:pPr indent="0" marL="0">
              <a:buNone/>
            </a:pPr>
            <a:r>
              <a:rPr lang="en-US" sz="1460" dirty="0">
                <a:solidFill>
                  <a:srgbClr val="17212B"/>
                </a:solidFill>
              </a:rPr>
              <a:t>• bbox_inches помогает убрать лишние поля;
</a:t>
            </a:r>
            <a:pPr indent="0" marL="0">
              <a:buNone/>
            </a:pPr>
            <a:r>
              <a:rPr lang="en-US" sz="1460" dirty="0">
                <a:solidFill>
                  <a:srgbClr val="17212B"/>
                </a:solidFill>
              </a:rPr>
              <a:t>• экспорт — часть воспроизводимого результата.</a:t>
            </a:r>
            <a:endParaRPr lang="en-US" sz="1460" dirty="0"/>
          </a:p>
        </p:txBody>
      </p:sp>
      <p:pic>
        <p:nvPicPr>
          <p:cNvPr id="11" name="Image 0" descr="teacher/out/case_06_delivery_r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0300" y="3886200"/>
            <a:ext cx="2920201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Seaborn: высокоуровневый слой для EDA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Быстро строим статистические графики, но сохраняем аналитическую дисциплину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10_seaborn_hist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65237"/>
            <a:ext cx="5212080" cy="25674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1417320"/>
            <a:ext cx="420624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меньше кода для типовых EDA-графиков;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удобная работа с DataFrame;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hue помогает сегментировать наблюдения;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после seaborn можно дооформлять через Matplotlib;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выбор графика всё равно начинается с вопроса.</a:t>
            </a:r>
            <a:endParaRPr lang="en-US" sz="14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Распределение и сегменты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Один показатель можно сравнивать между типами клиентов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11_customer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9445"/>
            <a:ext cx="5257800" cy="2878990"/>
          </a:xfrm>
          <a:prstGeom prst="rect">
            <a:avLst/>
          </a:prstGeom>
        </p:spPr>
      </p:pic>
      <p:pic>
        <p:nvPicPr>
          <p:cNvPr id="10" name="Image 1" descr="teacher/out/10_seaborn_histp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00364"/>
            <a:ext cx="4663440" cy="22971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5230368"/>
            <a:ext cx="76809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Вопрос: «какой тип клиента дает более высокий и более стабильный чек?»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Связь и сегментация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Цвет помогает сравнить группы, но может перегрузить график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12_discount_profit_by_custo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67872"/>
            <a:ext cx="5669280" cy="27907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95160" y="1371600"/>
            <a:ext cx="374904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hue добавляет сегмент, но требует легенды;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слишком много цветов мешает читать паттерн;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размер точек и прозрачность помогают при наложении;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сегмент нужен только если он связан с вопросом.</a:t>
            </a:r>
            <a:endParaRPr lang="en-US" sz="14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Heatmap корреляций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Полезна для разведки, опасна для поспешных причинных выводов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pic>
        <p:nvPicPr>
          <p:cNvPr id="9" name="Image 0" descr="teacher/out/13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760" y="1188720"/>
            <a:ext cx="5390800" cy="3977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12280" y="1417320"/>
            <a:ext cx="3886200" cy="3520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выбираем только числовые признаки;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аннотации помогают читать значения;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сильная связь — повод для проверки, не доказательство;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переменные должны быть содержательно совместимы;
</a:t>
            </a:r>
            <a:pPr indent="0" marL="0">
              <a:buNone/>
            </a:pPr>
            <a:r>
              <a:rPr lang="en-US" sz="1470" dirty="0">
                <a:solidFill>
                  <a:srgbClr val="17212B"/>
                </a:solidFill>
              </a:rPr>
              <a:t>• не превращать heatmap в декоративный ковёр.</a:t>
            </a:r>
            <a:endParaRPr lang="en-US" sz="14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и R: два стека визуализации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Практика сегодня — Python; R остается обзорным контекстом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pandas для подготовки данных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Matplotlib для контроля графика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Seaborn для EDA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основной hands-on занятия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329184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статистическая экосистема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ggplot2 как известный подход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полезно знать концептуально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без установки и практики сегодня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8696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Переносимый навык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49640" y="1920240"/>
            <a:ext cx="274320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вопрос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гранулярность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тип графика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читаемость
</a:t>
            </a:r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</a:rPr>
              <a:t>• ограниченный вывод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5840" y="5257800"/>
            <a:ext cx="8869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Главное не синтаксис второго языка, а аналитический выбор и интерпретация.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Чек-лист качества графика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Перед вставкой в отчет или презентацию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1325880"/>
            <a:ext cx="512064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есть аналитический вопрос;
</a:t>
            </a:r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правильно выбрана гранулярность;
</a:t>
            </a:r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подходящий тип графика;
</a:t>
            </a:r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подписаны оси и единицы измерения;
</a:t>
            </a:r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читабельные ticks и масштаб;
</a:t>
            </a:r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есть вывод и ограничение;
</a:t>
            </a:r>
            <a:pPr indent="0" marL="0">
              <a:buNone/>
            </a:pPr>
            <a:r>
              <a:rPr lang="en-US" sz="1530" dirty="0">
                <a:solidFill>
                  <a:srgbClr val="17212B"/>
                </a:solidFill>
              </a:rPr>
              <a:t>• нет искажения шкалы и лишнего декора.</a:t>
            </a:r>
            <a:endParaRPr lang="en-US" sz="1530" dirty="0"/>
          </a:p>
        </p:txBody>
      </p:sp>
      <p:pic>
        <p:nvPicPr>
          <p:cNvPr id="10" name="Image 0" descr="teacher/out/08_good_zero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77066"/>
            <a:ext cx="4663440" cy="256086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09360" y="5074920"/>
            <a:ext cx="47548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График без вывода — это иллюстрация. График с выводом и ограничением — аналитический результат.</a:t>
            </a:r>
            <a:endParaRPr lang="en-US" sz="15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Самостоятельный кейс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Notebook 04: не повторить код, а принять визуальные решения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544068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построить минимум 5 графиков;
</a:t>
            </a:r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использовать минимум 4 разных типа визуализации;
</a:t>
            </a:r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для каждого графика написать вопрос и вывод;
</a:t>
            </a:r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оформить оси, подписи, даты и единицы;
</a:t>
            </a:r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сохранить ключевые графики в outputs;
</a:t>
            </a:r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</a:rPr>
              <a:t>• указать ограничения анализа.</a:t>
            </a:r>
            <a:endParaRPr lang="en-US" sz="1520" dirty="0"/>
          </a:p>
        </p:txBody>
      </p:sp>
      <p:pic>
        <p:nvPicPr>
          <p:cNvPr id="10" name="Image 0" descr="teacher/out/case_04_revenu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85386"/>
            <a:ext cx="4480560" cy="22070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5486400"/>
            <a:ext cx="8595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3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Формула вывода: наблюдение → метрика/график → интерпретация → ограничение.</a:t>
            </a:r>
            <a:endParaRPr lang="en-US" sz="1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проверяем результат кейса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Критерии короткие, но жесткие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Выбор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88920" y="1325880"/>
            <a:ext cx="6126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тип графика соответствует вопросу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91440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88920" y="2039112"/>
            <a:ext cx="6126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агрегация и фильтр объяснимы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914400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Читаемость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88920" y="2752344"/>
            <a:ext cx="6126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оси, ticks, единицы, legend</a:t>
            </a:r>
            <a:endParaRPr lang="en-US" sz="1530" dirty="0"/>
          </a:p>
        </p:txBody>
      </p:sp>
      <p:sp>
        <p:nvSpPr>
          <p:cNvPr id="15" name="Text 13"/>
          <p:cNvSpPr/>
          <p:nvPr/>
        </p:nvSpPr>
        <p:spPr>
          <a:xfrm>
            <a:off x="914400" y="3465576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88920" y="3465576"/>
            <a:ext cx="6126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есть доказательство и ограничение</a:t>
            </a:r>
            <a:endParaRPr lang="en-US" sz="1530" dirty="0"/>
          </a:p>
        </p:txBody>
      </p:sp>
      <p:sp>
        <p:nvSpPr>
          <p:cNvPr id="17" name="Text 15"/>
          <p:cNvSpPr/>
          <p:nvPr/>
        </p:nvSpPr>
        <p:spPr>
          <a:xfrm>
            <a:off x="914400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Аккуратность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88920" y="4178808"/>
            <a:ext cx="6126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искажений масштаба</a:t>
            </a:r>
            <a:endParaRPr lang="en-US" sz="1530" dirty="0"/>
          </a:p>
        </p:txBody>
      </p:sp>
      <p:pic>
        <p:nvPicPr>
          <p:cNvPr id="19" name="Image 0" descr="teacher/out/case_06_delivery_r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2200" y="4709160"/>
            <a:ext cx="1752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Финальный разбор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Что остается после занятия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5760720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17212B"/>
                </a:solidFill>
              </a:rPr>
              <a:t>• график отвечает на вопрос, а не существует сам по себе;
</a:t>
            </a:r>
            <a:pPr indent="0" marL="0">
              <a:buNone/>
            </a:pPr>
            <a:r>
              <a:rPr lang="en-US" sz="1510" dirty="0">
                <a:solidFill>
                  <a:srgbClr val="17212B"/>
                </a:solidFill>
              </a:rPr>
              <a:t>• тип графика выбирается по данным и задаче;
</a:t>
            </a:r>
            <a:pPr indent="0" marL="0">
              <a:buNone/>
            </a:pPr>
            <a:r>
              <a:rPr lang="en-US" sz="1510" dirty="0">
                <a:solidFill>
                  <a:srgbClr val="17212B"/>
                </a:solidFill>
              </a:rPr>
              <a:t>• агрегация важнее визуальной красоты;
</a:t>
            </a:r>
            <a:pPr indent="0" marL="0">
              <a:buNone/>
            </a:pPr>
            <a:r>
              <a:rPr lang="en-US" sz="1510" dirty="0">
                <a:solidFill>
                  <a:srgbClr val="17212B"/>
                </a:solidFill>
              </a:rPr>
              <a:t>• оси и подписи — часть аналитического качества;
</a:t>
            </a:r>
            <a:pPr indent="0" marL="0">
              <a:buNone/>
            </a:pPr>
            <a:r>
              <a:rPr lang="en-US" sz="1510" dirty="0">
                <a:solidFill>
                  <a:srgbClr val="17212B"/>
                </a:solidFill>
              </a:rPr>
              <a:t>• корреляция и связь не равны причинности;
</a:t>
            </a:r>
            <a:pPr indent="0" marL="0">
              <a:buNone/>
            </a:pPr>
            <a:r>
              <a:rPr lang="en-US" sz="1510" dirty="0">
                <a:solidFill>
                  <a:srgbClr val="17212B"/>
                </a:solidFill>
              </a:rPr>
              <a:t>• каждый график в итоговой работе должен иметь вывод.</a:t>
            </a:r>
            <a:endParaRPr lang="en-US" sz="1510" dirty="0"/>
          </a:p>
        </p:txBody>
      </p:sp>
      <p:pic>
        <p:nvPicPr>
          <p:cNvPr id="10" name="Image 0" descr="teacher/out/case_02_category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21296"/>
            <a:ext cx="4206240" cy="23066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5532120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Хороший график — проверяемый ответ на аналитический вопрос.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открыть после презентации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C76"/>
                </a:solidFill>
              </a:rPr>
              <a:t>Основная работа идет в ноутбуках и handouts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09960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</a:rPr>
              <a:t>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20272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0584" y="402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64AA"/>
                </a:solidFill>
              </a:rPr>
              <a:t>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05.09.2026 · Аналитик данных_ВНИИТ_Москва_5 · 29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235440" y="6446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Визуализация данных в Python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608076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01_visualization_fundamentals_student.ipynb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02_matplotlib_for_data_analyst_student.ipynb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03_seaborn_eda_student.ipynb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04_visualization_practical_case_student.ipynb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chart_selection_cheatsheet.md
</a:t>
            </a:r>
            <a:pPr indent="0" marL="0">
              <a:buNone/>
            </a:pPr>
            <a:r>
              <a:rPr lang="en-US" sz="1480" dirty="0">
                <a:solidFill>
                  <a:srgbClr val="17212B"/>
                </a:solidFill>
              </a:rPr>
              <a:t>• visualization_quality_checklist.md</a:t>
            </a:r>
            <a:endParaRPr lang="en-US" sz="1480" dirty="0"/>
          </a:p>
        </p:txBody>
      </p:sp>
      <p:pic>
        <p:nvPicPr>
          <p:cNvPr id="10" name="Image 0" descr="teacher/out/case_01_monthly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592590"/>
            <a:ext cx="4114800" cy="202689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5532120"/>
            <a:ext cx="8961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Репозиторий: groups/VNIIT_MSK5/2026-09-05_viz/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Финансовый университет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Первичная визуализация данных в Python</dc:title>
  <dc:subject>Практическое занятие по визуализации данных</dc:subject>
  <dc:creator>Чепрасов Глеб Сергеевич</dc:creator>
  <cp:lastModifiedBy>Чепрасов Глеб Сергеевич</cp:lastModifiedBy>
  <cp:revision>1</cp:revision>
  <dcterms:created xsi:type="dcterms:W3CDTF">2026-09-03T21:22:49Z</dcterms:created>
  <dcterms:modified xsi:type="dcterms:W3CDTF">2026-09-03T21:22:49Z</dcterms:modified>
</cp:coreProperties>
</file>